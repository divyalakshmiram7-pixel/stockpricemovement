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8" r:id="rId2"/>
    <p:sldId id="259" r:id="rId3"/>
    <p:sldId id="261" r:id="rId4"/>
    <p:sldId id="257"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pitchFamily="34" charset="0"/>
        <a:ea typeface="+mn-ea"/>
        <a:cs typeface="Arial" pitchFamily="34" charset="0"/>
      </a:defRPr>
    </a:lvl2pPr>
    <a:lvl3pPr marL="914400" algn="l" rtl="0" fontAlgn="base">
      <a:spcBef>
        <a:spcPct val="0"/>
      </a:spcBef>
      <a:spcAft>
        <a:spcPct val="0"/>
      </a:spcAft>
      <a:defRPr kern="1200">
        <a:solidFill>
          <a:schemeClr val="tx1"/>
        </a:solidFill>
        <a:latin typeface="Arial" pitchFamily="34" charset="0"/>
        <a:ea typeface="+mn-ea"/>
        <a:cs typeface="Arial" pitchFamily="34" charset="0"/>
      </a:defRPr>
    </a:lvl3pPr>
    <a:lvl4pPr marL="1371600" algn="l" rtl="0" fontAlgn="base">
      <a:spcBef>
        <a:spcPct val="0"/>
      </a:spcBef>
      <a:spcAft>
        <a:spcPct val="0"/>
      </a:spcAft>
      <a:defRPr kern="1200">
        <a:solidFill>
          <a:schemeClr val="tx1"/>
        </a:solidFill>
        <a:latin typeface="Arial" pitchFamily="34" charset="0"/>
        <a:ea typeface="+mn-ea"/>
        <a:cs typeface="Arial" pitchFamily="34" charset="0"/>
      </a:defRPr>
    </a:lvl4pPr>
    <a:lvl5pPr marL="1828800" algn="l" rtl="0" fontAlgn="base">
      <a:spcBef>
        <a:spcPct val="0"/>
      </a:spcBef>
      <a:spcAft>
        <a:spcPct val="0"/>
      </a:spcAft>
      <a:defRPr kern="1200">
        <a:solidFill>
          <a:schemeClr val="tx1"/>
        </a:solidFill>
        <a:latin typeface="Arial" pitchFamily="34" charset="0"/>
        <a:ea typeface="+mn-ea"/>
        <a:cs typeface="Arial" pitchFamily="34" charset="0"/>
      </a:defRPr>
    </a:lvl5pPr>
    <a:lvl6pPr marL="2286000" algn="l" defTabSz="914400" rtl="0" eaLnBrk="1" latinLnBrk="0" hangingPunct="1">
      <a:defRPr kern="1200">
        <a:solidFill>
          <a:schemeClr val="tx1"/>
        </a:solidFill>
        <a:latin typeface="Arial" pitchFamily="34" charset="0"/>
        <a:ea typeface="+mn-ea"/>
        <a:cs typeface="Arial" pitchFamily="34" charset="0"/>
      </a:defRPr>
    </a:lvl6pPr>
    <a:lvl7pPr marL="2743200" algn="l" defTabSz="914400" rtl="0" eaLnBrk="1" latinLnBrk="0" hangingPunct="1">
      <a:defRPr kern="1200">
        <a:solidFill>
          <a:schemeClr val="tx1"/>
        </a:solidFill>
        <a:latin typeface="Arial" pitchFamily="34" charset="0"/>
        <a:ea typeface="+mn-ea"/>
        <a:cs typeface="Arial" pitchFamily="34" charset="0"/>
      </a:defRPr>
    </a:lvl7pPr>
    <a:lvl8pPr marL="3200400" algn="l" defTabSz="914400" rtl="0" eaLnBrk="1" latinLnBrk="0" hangingPunct="1">
      <a:defRPr kern="1200">
        <a:solidFill>
          <a:schemeClr val="tx1"/>
        </a:solidFill>
        <a:latin typeface="Arial" pitchFamily="34" charset="0"/>
        <a:ea typeface="+mn-ea"/>
        <a:cs typeface="Arial" pitchFamily="34" charset="0"/>
      </a:defRPr>
    </a:lvl8pPr>
    <a:lvl9pPr marL="3657600" algn="l" defTabSz="914400" rtl="0" eaLnBrk="1" latinLnBrk="0" hangingPunct="1">
      <a:defRPr kern="1200">
        <a:solidFill>
          <a:schemeClr val="tx1"/>
        </a:solidFill>
        <a:latin typeface="Arial" pitchFamily="34" charset="0"/>
        <a:ea typeface="+mn-ea"/>
        <a:cs typeface="Arial"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79" autoAdjust="0"/>
    <p:restoredTop sz="94660"/>
  </p:normalViewPr>
  <p:slideViewPr>
    <p:cSldViewPr>
      <p:cViewPr varScale="1">
        <p:scale>
          <a:sx n="70" d="100"/>
          <a:sy n="70" d="100"/>
        </p:scale>
        <p:origin x="1180" y="4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AECCAEB-7496-4C12-9A08-526B0D813A46}" type="datetimeFigureOut">
              <a:rPr lang="en-GB" smtClean="0"/>
              <a:pPr/>
              <a:t>24/10/2026</a:t>
            </a:fld>
            <a:endParaRPr lang="en-GB"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EE8D4E6-F64F-4999-AC2A-A008E685C045}" type="slidenum">
              <a:rPr lang="en-GB" smtClean="0"/>
              <a:pPr/>
              <a:t>‹#›</a:t>
            </a:fld>
            <a:endParaRPr lang="en-GB" dirty="0"/>
          </a:p>
        </p:txBody>
      </p:sp>
    </p:spTree>
    <p:extLst>
      <p:ext uri="{BB962C8B-B14F-4D97-AF65-F5344CB8AC3E}">
        <p14:creationId xmlns:p14="http://schemas.microsoft.com/office/powerpoint/2010/main" val="184979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EE8D4E6-F64F-4999-AC2A-A008E685C045}" type="slidenum">
              <a:rPr lang="en-GB" smtClean="0"/>
              <a:pPr/>
              <a:t>5</a:t>
            </a:fld>
            <a:endParaRPr lang="en-GB" dirty="0"/>
          </a:p>
        </p:txBody>
      </p:sp>
    </p:spTree>
    <p:extLst>
      <p:ext uri="{BB962C8B-B14F-4D97-AF65-F5344CB8AC3E}">
        <p14:creationId xmlns:p14="http://schemas.microsoft.com/office/powerpoint/2010/main" val="23261081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67544" y="2130425"/>
            <a:ext cx="7772400" cy="1470025"/>
          </a:xfrm>
        </p:spPr>
        <p:txBody>
          <a:bodyPr/>
          <a:lstStyle>
            <a:lvl1pPr>
              <a:defRPr sz="3200" b="1">
                <a:latin typeface="Arial" pitchFamily="34" charset="0"/>
                <a:cs typeface="Arial" pitchFamily="34" charset="0"/>
              </a:defRPr>
            </a:lvl1pPr>
          </a:lstStyle>
          <a:p>
            <a:r>
              <a:rPr lang="en-US" dirty="0"/>
              <a:t>Click to edit Master title style</a:t>
            </a:r>
            <a:endParaRPr lang="en-GB" dirty="0"/>
          </a:p>
        </p:txBody>
      </p:sp>
      <p:sp>
        <p:nvSpPr>
          <p:cNvPr id="3" name="Subtitle 2"/>
          <p:cNvSpPr>
            <a:spLocks noGrp="1"/>
          </p:cNvSpPr>
          <p:nvPr>
            <p:ph type="subTitle" idx="1"/>
          </p:nvPr>
        </p:nvSpPr>
        <p:spPr>
          <a:xfrm>
            <a:off x="467544" y="3886200"/>
            <a:ext cx="6400800" cy="1752600"/>
          </a:xfrm>
        </p:spPr>
        <p:txBody>
          <a:bodyPr/>
          <a:lstStyle>
            <a:lvl1pPr marL="0" indent="0" algn="l">
              <a:buNone/>
              <a:defRPr sz="2800" baseline="0">
                <a:solidFill>
                  <a:schemeClr val="bg1"/>
                </a:solidFill>
                <a:latin typeface="Arial" pitchFamily="34" charset="0"/>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endParaRPr lang="en-GB" dirty="0"/>
          </a:p>
        </p:txBody>
      </p:sp>
      <p:sp>
        <p:nvSpPr>
          <p:cNvPr id="4" name="Date Placeholder 3"/>
          <p:cNvSpPr>
            <a:spLocks noGrp="1"/>
          </p:cNvSpPr>
          <p:nvPr>
            <p:ph type="dt" sz="half" idx="10"/>
          </p:nvPr>
        </p:nvSpPr>
        <p:spPr/>
        <p:txBody>
          <a:bodyPr/>
          <a:lstStyle>
            <a:lvl1pPr>
              <a:defRPr baseline="0">
                <a:solidFill>
                  <a:schemeClr val="bg1"/>
                </a:solidFill>
                <a:latin typeface="Arial" pitchFamily="34" charset="0"/>
              </a:defRPr>
            </a:lvl1pPr>
          </a:lstStyle>
          <a:p>
            <a:fld id="{EC7AB759-530A-46AC-842F-B07144F002F9}" type="datetimeFigureOut">
              <a:rPr lang="en-GB" smtClean="0"/>
              <a:pPr/>
              <a:t>24/10/2026</a:t>
            </a:fld>
            <a:endParaRPr lang="en-GB" dirty="0"/>
          </a:p>
        </p:txBody>
      </p:sp>
      <p:sp>
        <p:nvSpPr>
          <p:cNvPr id="5" name="Footer Placeholder 4"/>
          <p:cNvSpPr>
            <a:spLocks noGrp="1"/>
          </p:cNvSpPr>
          <p:nvPr>
            <p:ph type="ftr" sz="quarter" idx="11"/>
          </p:nvPr>
        </p:nvSpPr>
        <p:spPr/>
        <p:txBody>
          <a:bodyPr/>
          <a:lstStyle>
            <a:lvl1pPr>
              <a:defRPr baseline="0">
                <a:solidFill>
                  <a:schemeClr val="bg1"/>
                </a:solidFill>
                <a:latin typeface="Arial" pitchFamily="34" charset="0"/>
                <a:cs typeface="Arial" pitchFamily="34" charset="0"/>
              </a:defRPr>
            </a:lvl1pPr>
          </a:lstStyle>
          <a:p>
            <a:endParaRPr lang="en-GB" dirty="0"/>
          </a:p>
        </p:txBody>
      </p:sp>
      <p:sp>
        <p:nvSpPr>
          <p:cNvPr id="6" name="Slide Number Placeholder 5"/>
          <p:cNvSpPr>
            <a:spLocks noGrp="1"/>
          </p:cNvSpPr>
          <p:nvPr>
            <p:ph type="sldNum" sz="quarter" idx="12"/>
          </p:nvPr>
        </p:nvSpPr>
        <p:spPr/>
        <p:txBody>
          <a:bodyPr/>
          <a:lstStyle>
            <a:lvl1pPr>
              <a:defRPr baseline="0">
                <a:solidFill>
                  <a:schemeClr val="bg1"/>
                </a:solidFill>
                <a:latin typeface="Arial" pitchFamily="34" charset="0"/>
                <a:cs typeface="Arial" pitchFamily="34" charset="0"/>
              </a:defRPr>
            </a:lvl1pPr>
          </a:lstStyle>
          <a:p>
            <a:fld id="{10AD8A0A-4898-40BF-9009-4DA7E611EAC1}" type="slidenum">
              <a:rPr lang="en-GB" smtClean="0"/>
              <a:pPr/>
              <a:t>‹#›</a:t>
            </a:fld>
            <a:endParaRPr lang="en-GB"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05880" y="1268760"/>
            <a:ext cx="5842992" cy="1143000"/>
          </a:xfrm>
        </p:spPr>
        <p:txBody>
          <a:bodyPr/>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395536" y="2492896"/>
            <a:ext cx="8229600" cy="3633267"/>
          </a:xfrm>
        </p:spPr>
        <p:txBody>
          <a:bodyPr/>
          <a:lstStyle>
            <a:lvl1pPr>
              <a:defRPr sz="2800"/>
            </a:lvl1pPr>
            <a:lvl2pPr>
              <a:defRPr sz="2400"/>
            </a:lvl2pPr>
            <a:lvl3pPr>
              <a:defRPr sz="2400"/>
            </a:lvl3pPr>
            <a:lvl4pPr>
              <a:defRPr sz="24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p:cNvSpPr>
            <a:spLocks noGrp="1"/>
          </p:cNvSpPr>
          <p:nvPr>
            <p:ph type="dt" sz="half" idx="10"/>
          </p:nvPr>
        </p:nvSpPr>
        <p:spPr/>
        <p:txBody>
          <a:bodyPr/>
          <a:lstStyle>
            <a:lvl1pPr>
              <a:defRPr/>
            </a:lvl1pPr>
          </a:lstStyle>
          <a:p>
            <a:fld id="{222B6232-AB33-4513-9527-F98CEC472D23}" type="datetimeFigureOut">
              <a:rPr lang="en-GB" smtClean="0"/>
              <a:pPr/>
              <a:t>24/10/2026</a:t>
            </a:fld>
            <a:endParaRPr lang="en-GB" dirty="0"/>
          </a:p>
        </p:txBody>
      </p:sp>
      <p:sp>
        <p:nvSpPr>
          <p:cNvPr id="5" name="Footer Placeholder 4"/>
          <p:cNvSpPr>
            <a:spLocks noGrp="1"/>
          </p:cNvSpPr>
          <p:nvPr>
            <p:ph type="ftr" sz="quarter" idx="11"/>
          </p:nvPr>
        </p:nvSpPr>
        <p:spPr/>
        <p:txBody>
          <a:bodyPr/>
          <a:lstStyle>
            <a:lvl1pPr>
              <a:defRPr/>
            </a:lvl1pPr>
          </a:lstStyle>
          <a:p>
            <a:endParaRPr lang="en-GB" dirty="0"/>
          </a:p>
        </p:txBody>
      </p:sp>
      <p:sp>
        <p:nvSpPr>
          <p:cNvPr id="6" name="Slide Number Placeholder 5"/>
          <p:cNvSpPr>
            <a:spLocks noGrp="1"/>
          </p:cNvSpPr>
          <p:nvPr>
            <p:ph type="sldNum" sz="quarter" idx="12"/>
          </p:nvPr>
        </p:nvSpPr>
        <p:spPr/>
        <p:txBody>
          <a:bodyPr/>
          <a:lstStyle>
            <a:lvl1pPr>
              <a:defRPr/>
            </a:lvl1pPr>
          </a:lstStyle>
          <a:p>
            <a:fld id="{F758A139-7ABE-46A1-B082-C2C77667394C}" type="slidenum">
              <a:rPr lang="en-GB"/>
              <a:pPr/>
              <a:t>‹#›</a:t>
            </a:fld>
            <a:endParaRPr lang="en-GB"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95536" y="4406900"/>
            <a:ext cx="7772400" cy="1362075"/>
          </a:xfrm>
          <a:ln>
            <a:noFill/>
          </a:ln>
        </p:spPr>
        <p:txBody>
          <a:bodyPr anchor="t"/>
          <a:lstStyle>
            <a:lvl1pPr algn="l">
              <a:defRPr sz="4000" b="1" cap="all"/>
            </a:lvl1pPr>
          </a:lstStyle>
          <a:p>
            <a:r>
              <a:rPr lang="en-US" dirty="0"/>
              <a:t>Click to edit Master title style</a:t>
            </a:r>
            <a:endParaRPr lang="en-GB" dirty="0"/>
          </a:p>
        </p:txBody>
      </p:sp>
      <p:sp>
        <p:nvSpPr>
          <p:cNvPr id="3" name="Text Placeholder 2"/>
          <p:cNvSpPr>
            <a:spLocks noGrp="1"/>
          </p:cNvSpPr>
          <p:nvPr>
            <p:ph type="body" idx="1"/>
          </p:nvPr>
        </p:nvSpPr>
        <p:spPr>
          <a:xfrm>
            <a:off x="395536" y="2906713"/>
            <a:ext cx="7772400" cy="1500187"/>
          </a:xfrm>
          <a:ln>
            <a:noFill/>
          </a:ln>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445CD916-7149-4247-856D-87DAB39295C7}" type="datetimeFigureOut">
              <a:rPr lang="en-GB"/>
              <a:pPr/>
              <a:t>24/10/2026</a:t>
            </a:fld>
            <a:endParaRPr lang="en-GB" dirty="0"/>
          </a:p>
        </p:txBody>
      </p:sp>
      <p:sp>
        <p:nvSpPr>
          <p:cNvPr id="5" name="Footer Placeholder 4"/>
          <p:cNvSpPr>
            <a:spLocks noGrp="1"/>
          </p:cNvSpPr>
          <p:nvPr>
            <p:ph type="ftr" sz="quarter" idx="11"/>
          </p:nvPr>
        </p:nvSpPr>
        <p:spPr/>
        <p:txBody>
          <a:bodyPr/>
          <a:lstStyle>
            <a:lvl1pPr>
              <a:defRPr/>
            </a:lvl1pPr>
          </a:lstStyle>
          <a:p>
            <a:endParaRPr lang="en-GB" dirty="0"/>
          </a:p>
        </p:txBody>
      </p:sp>
      <p:sp>
        <p:nvSpPr>
          <p:cNvPr id="6" name="Slide Number Placeholder 5"/>
          <p:cNvSpPr>
            <a:spLocks noGrp="1"/>
          </p:cNvSpPr>
          <p:nvPr>
            <p:ph type="sldNum" sz="quarter" idx="12"/>
          </p:nvPr>
        </p:nvSpPr>
        <p:spPr/>
        <p:txBody>
          <a:bodyPr/>
          <a:lstStyle>
            <a:lvl1pPr>
              <a:defRPr/>
            </a:lvl1pPr>
          </a:lstStyle>
          <a:p>
            <a:fld id="{13ACF840-035C-411F-BA81-AF7A8ED78138}" type="slidenum">
              <a:rPr lang="en-GB"/>
              <a:pPr/>
              <a:t>‹#›</a:t>
            </a:fld>
            <a:endParaRPr lang="en-GB" dirty="0"/>
          </a:p>
        </p:txBody>
      </p:sp>
      <p:pic>
        <p:nvPicPr>
          <p:cNvPr id="7" name="Picture 5" descr="TAB_col_white_background.eps"/>
          <p:cNvPicPr>
            <a:picLocks noChangeAspect="1"/>
          </p:cNvPicPr>
          <p:nvPr userDrawn="1"/>
        </p:nvPicPr>
        <p:blipFill>
          <a:blip r:embed="rId2" cstate="print"/>
          <a:srcRect/>
          <a:stretch>
            <a:fillRect/>
          </a:stretch>
        </p:blipFill>
        <p:spPr bwMode="auto">
          <a:xfrm>
            <a:off x="523875" y="509588"/>
            <a:ext cx="1663700" cy="711200"/>
          </a:xfrm>
          <a:prstGeom prst="rect">
            <a:avLst/>
          </a:prstGeom>
          <a:noFill/>
          <a:ln w="9525">
            <a:noFill/>
            <a:miter lim="800000"/>
            <a:headEnd/>
            <a:tailEnd/>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05880" y="1268760"/>
            <a:ext cx="5842992" cy="1143000"/>
          </a:xfrm>
        </p:spPr>
        <p:txBody>
          <a:bodyPr/>
          <a:lstStyle>
            <a:lvl1pPr>
              <a:defRPr sz="3200"/>
            </a:lvl1pPr>
          </a:lstStyle>
          <a:p>
            <a:r>
              <a:rPr lang="en-US" dirty="0"/>
              <a:t>Click to edit Master title style</a:t>
            </a:r>
            <a:endParaRPr lang="en-GB" dirty="0"/>
          </a:p>
        </p:txBody>
      </p:sp>
      <p:sp>
        <p:nvSpPr>
          <p:cNvPr id="3" name="Content Placeholder 2"/>
          <p:cNvSpPr>
            <a:spLocks noGrp="1"/>
          </p:cNvSpPr>
          <p:nvPr>
            <p:ph sz="half" idx="1"/>
          </p:nvPr>
        </p:nvSpPr>
        <p:spPr>
          <a:xfrm>
            <a:off x="395536" y="2492896"/>
            <a:ext cx="4038600" cy="3633267"/>
          </a:xfrm>
        </p:spPr>
        <p:txBody>
          <a:bodyPr/>
          <a:lstStyle>
            <a:lvl1pPr>
              <a:defRPr sz="2800" baseline="0"/>
            </a:lvl1pPr>
            <a:lvl2pPr>
              <a:defRPr sz="2400"/>
            </a:lvl2pPr>
            <a:lvl3pPr>
              <a:defRPr sz="2400"/>
            </a:lvl3pPr>
            <a:lvl4pPr>
              <a:defRPr sz="2400"/>
            </a:lvl4pPr>
            <a:lvl5pPr>
              <a:defRPr sz="24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4586536" y="2492896"/>
            <a:ext cx="4038600" cy="3633267"/>
          </a:xfrm>
        </p:spPr>
        <p:txBody>
          <a:bodyPr/>
          <a:lstStyle>
            <a:lvl1pPr>
              <a:defRPr sz="2800"/>
            </a:lvl1pPr>
            <a:lvl2pPr>
              <a:defRPr sz="2400"/>
            </a:lvl2pPr>
            <a:lvl3pPr>
              <a:defRPr sz="2400"/>
            </a:lvl3pPr>
            <a:lvl4pPr>
              <a:defRPr sz="2400"/>
            </a:lvl4pPr>
            <a:lvl5pPr>
              <a:defRPr sz="24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Date Placeholder 3"/>
          <p:cNvSpPr>
            <a:spLocks noGrp="1"/>
          </p:cNvSpPr>
          <p:nvPr>
            <p:ph type="dt" sz="half" idx="10"/>
          </p:nvPr>
        </p:nvSpPr>
        <p:spPr/>
        <p:txBody>
          <a:bodyPr/>
          <a:lstStyle>
            <a:lvl1pPr>
              <a:defRPr/>
            </a:lvl1pPr>
          </a:lstStyle>
          <a:p>
            <a:fld id="{9FD09641-23CB-4E80-A5B0-5F03D2E94610}" type="datetimeFigureOut">
              <a:rPr lang="en-GB"/>
              <a:pPr/>
              <a:t>24/10/2026</a:t>
            </a:fld>
            <a:endParaRPr lang="en-GB" dirty="0"/>
          </a:p>
        </p:txBody>
      </p:sp>
      <p:sp>
        <p:nvSpPr>
          <p:cNvPr id="6" name="Footer Placeholder 4"/>
          <p:cNvSpPr>
            <a:spLocks noGrp="1"/>
          </p:cNvSpPr>
          <p:nvPr>
            <p:ph type="ftr" sz="quarter" idx="11"/>
          </p:nvPr>
        </p:nvSpPr>
        <p:spPr/>
        <p:txBody>
          <a:bodyPr/>
          <a:lstStyle>
            <a:lvl1pPr>
              <a:defRPr/>
            </a:lvl1pPr>
          </a:lstStyle>
          <a:p>
            <a:endParaRPr lang="en-GB" dirty="0"/>
          </a:p>
        </p:txBody>
      </p:sp>
      <p:sp>
        <p:nvSpPr>
          <p:cNvPr id="7" name="Slide Number Placeholder 5"/>
          <p:cNvSpPr>
            <a:spLocks noGrp="1"/>
          </p:cNvSpPr>
          <p:nvPr>
            <p:ph type="sldNum" sz="quarter" idx="12"/>
          </p:nvPr>
        </p:nvSpPr>
        <p:spPr/>
        <p:txBody>
          <a:bodyPr/>
          <a:lstStyle>
            <a:lvl1pPr>
              <a:defRPr/>
            </a:lvl1pPr>
          </a:lstStyle>
          <a:p>
            <a:fld id="{EF7FA264-F771-4264-8DF0-4BB7F0DA3C69}" type="slidenum">
              <a:rPr lang="en-GB"/>
              <a:pPr/>
              <a:t>‹#›</a:t>
            </a:fld>
            <a:endParaRPr lang="en-GB"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05880" y="1268760"/>
            <a:ext cx="5842992" cy="1143000"/>
          </a:xfrm>
        </p:spPr>
        <p:txBody>
          <a:bodyPr/>
          <a:lstStyle>
            <a:lvl1pPr>
              <a:defRPr sz="2800"/>
            </a:lvl1pPr>
          </a:lstStyle>
          <a:p>
            <a:r>
              <a:rPr lang="en-US" dirty="0"/>
              <a:t>Click to edit Master title style</a:t>
            </a:r>
            <a:endParaRPr lang="en-GB" dirty="0"/>
          </a:p>
        </p:txBody>
      </p:sp>
      <p:sp>
        <p:nvSpPr>
          <p:cNvPr id="3" name="Text Placeholder 2"/>
          <p:cNvSpPr>
            <a:spLocks noGrp="1"/>
          </p:cNvSpPr>
          <p:nvPr>
            <p:ph type="body" idx="1"/>
          </p:nvPr>
        </p:nvSpPr>
        <p:spPr>
          <a:xfrm>
            <a:off x="405880" y="2348880"/>
            <a:ext cx="4040188" cy="639762"/>
          </a:xfrm>
        </p:spPr>
        <p:txBody>
          <a:bodyPr anchor="b"/>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395536" y="3068959"/>
            <a:ext cx="4040188" cy="3057203"/>
          </a:xfrm>
        </p:spPr>
        <p:txBody>
          <a:bodyPr/>
          <a:lstStyle>
            <a:lvl1pPr>
              <a:defRPr sz="2400"/>
            </a:lvl1pPr>
            <a:lvl2pPr>
              <a:defRPr sz="2400"/>
            </a:lvl2pPr>
            <a:lvl3pPr>
              <a:defRPr sz="2400"/>
            </a:lvl3pPr>
            <a:lvl4pPr>
              <a:defRPr sz="2400"/>
            </a:lvl4pPr>
            <a:lvl5pPr>
              <a:defRPr sz="24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4"/>
          <p:cNvSpPr>
            <a:spLocks noGrp="1"/>
          </p:cNvSpPr>
          <p:nvPr>
            <p:ph type="body" sz="quarter" idx="3"/>
          </p:nvPr>
        </p:nvSpPr>
        <p:spPr>
          <a:xfrm>
            <a:off x="4582344" y="2348880"/>
            <a:ext cx="4041775" cy="639762"/>
          </a:xfrm>
        </p:spPr>
        <p:txBody>
          <a:bodyPr anchor="b"/>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583361" y="3068960"/>
            <a:ext cx="4041775" cy="3057202"/>
          </a:xfrm>
        </p:spPr>
        <p:txBody>
          <a:bodyPr/>
          <a:lstStyle>
            <a:lvl1pPr>
              <a:defRPr sz="2400"/>
            </a:lvl1pPr>
            <a:lvl2pPr>
              <a:defRPr sz="2400"/>
            </a:lvl2pPr>
            <a:lvl3pPr>
              <a:defRPr sz="2400"/>
            </a:lvl3pPr>
            <a:lvl4pPr>
              <a:defRPr sz="2400"/>
            </a:lvl4pPr>
            <a:lvl5pPr>
              <a:defRPr sz="24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Date Placeholder 3"/>
          <p:cNvSpPr>
            <a:spLocks noGrp="1"/>
          </p:cNvSpPr>
          <p:nvPr>
            <p:ph type="dt" sz="half" idx="10"/>
          </p:nvPr>
        </p:nvSpPr>
        <p:spPr/>
        <p:txBody>
          <a:bodyPr/>
          <a:lstStyle>
            <a:lvl1pPr>
              <a:defRPr/>
            </a:lvl1pPr>
          </a:lstStyle>
          <a:p>
            <a:fld id="{3A9A4E03-F40B-4399-AC2E-A4C6E9D600B3}" type="datetimeFigureOut">
              <a:rPr lang="en-GB"/>
              <a:pPr/>
              <a:t>24/10/2026</a:t>
            </a:fld>
            <a:endParaRPr lang="en-GB" dirty="0"/>
          </a:p>
        </p:txBody>
      </p:sp>
      <p:sp>
        <p:nvSpPr>
          <p:cNvPr id="8" name="Footer Placeholder 4"/>
          <p:cNvSpPr>
            <a:spLocks noGrp="1"/>
          </p:cNvSpPr>
          <p:nvPr>
            <p:ph type="ftr" sz="quarter" idx="11"/>
          </p:nvPr>
        </p:nvSpPr>
        <p:spPr/>
        <p:txBody>
          <a:bodyPr/>
          <a:lstStyle>
            <a:lvl1pPr>
              <a:defRPr/>
            </a:lvl1pPr>
          </a:lstStyle>
          <a:p>
            <a:endParaRPr lang="en-GB" dirty="0"/>
          </a:p>
        </p:txBody>
      </p:sp>
      <p:sp>
        <p:nvSpPr>
          <p:cNvPr id="9" name="Slide Number Placeholder 5"/>
          <p:cNvSpPr>
            <a:spLocks noGrp="1"/>
          </p:cNvSpPr>
          <p:nvPr>
            <p:ph type="sldNum" sz="quarter" idx="12"/>
          </p:nvPr>
        </p:nvSpPr>
        <p:spPr/>
        <p:txBody>
          <a:bodyPr/>
          <a:lstStyle>
            <a:lvl1pPr>
              <a:defRPr/>
            </a:lvl1pPr>
          </a:lstStyle>
          <a:p>
            <a:fld id="{8692BDDC-0BFC-44A0-A4BA-47C3E99EB1AA}" type="slidenum">
              <a:rPr lang="en-GB"/>
              <a:pPr/>
              <a:t>‹#›</a:t>
            </a:fld>
            <a:endParaRPr lang="en-GB"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endParaRPr lang="en-GB" dirty="0"/>
          </a:p>
        </p:txBody>
      </p:sp>
      <p:sp>
        <p:nvSpPr>
          <p:cNvPr id="3" name="Date Placeholder 3"/>
          <p:cNvSpPr>
            <a:spLocks noGrp="1"/>
          </p:cNvSpPr>
          <p:nvPr>
            <p:ph type="dt" sz="half" idx="10"/>
          </p:nvPr>
        </p:nvSpPr>
        <p:spPr/>
        <p:txBody>
          <a:bodyPr/>
          <a:lstStyle>
            <a:lvl1pPr>
              <a:defRPr/>
            </a:lvl1pPr>
          </a:lstStyle>
          <a:p>
            <a:fld id="{CFE8F7DA-80EC-4CF7-AB7B-078F533B953B}" type="datetimeFigureOut">
              <a:rPr lang="en-GB"/>
              <a:pPr/>
              <a:t>24/10/2026</a:t>
            </a:fld>
            <a:endParaRPr lang="en-GB" dirty="0"/>
          </a:p>
        </p:txBody>
      </p:sp>
      <p:sp>
        <p:nvSpPr>
          <p:cNvPr id="4" name="Footer Placeholder 4"/>
          <p:cNvSpPr>
            <a:spLocks noGrp="1"/>
          </p:cNvSpPr>
          <p:nvPr>
            <p:ph type="ftr" sz="quarter" idx="11"/>
          </p:nvPr>
        </p:nvSpPr>
        <p:spPr/>
        <p:txBody>
          <a:bodyPr/>
          <a:lstStyle>
            <a:lvl1pPr>
              <a:defRPr/>
            </a:lvl1pPr>
          </a:lstStyle>
          <a:p>
            <a:endParaRPr lang="en-GB" dirty="0"/>
          </a:p>
        </p:txBody>
      </p:sp>
      <p:sp>
        <p:nvSpPr>
          <p:cNvPr id="5" name="Slide Number Placeholder 5"/>
          <p:cNvSpPr>
            <a:spLocks noGrp="1"/>
          </p:cNvSpPr>
          <p:nvPr>
            <p:ph type="sldNum" sz="quarter" idx="12"/>
          </p:nvPr>
        </p:nvSpPr>
        <p:spPr/>
        <p:txBody>
          <a:bodyPr/>
          <a:lstStyle>
            <a:lvl1pPr>
              <a:defRPr/>
            </a:lvl1pPr>
          </a:lstStyle>
          <a:p>
            <a:fld id="{F74E6293-7DA2-4D9E-8605-5715E69AF2C7}" type="slidenum">
              <a:rPr lang="en-GB"/>
              <a:pPr/>
              <a:t>‹#›</a:t>
            </a:fld>
            <a:endParaRPr lang="en-GB"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B1AE269B-21F6-4A71-848B-6E891C314B78}" type="datetimeFigureOut">
              <a:rPr lang="en-GB"/>
              <a:pPr/>
              <a:t>24/10/2026</a:t>
            </a:fld>
            <a:endParaRPr lang="en-GB" dirty="0"/>
          </a:p>
        </p:txBody>
      </p:sp>
      <p:sp>
        <p:nvSpPr>
          <p:cNvPr id="3" name="Footer Placeholder 4"/>
          <p:cNvSpPr>
            <a:spLocks noGrp="1"/>
          </p:cNvSpPr>
          <p:nvPr>
            <p:ph type="ftr" sz="quarter" idx="11"/>
          </p:nvPr>
        </p:nvSpPr>
        <p:spPr/>
        <p:txBody>
          <a:bodyPr/>
          <a:lstStyle>
            <a:lvl1pPr>
              <a:defRPr/>
            </a:lvl1pPr>
          </a:lstStyle>
          <a:p>
            <a:endParaRPr lang="en-GB" dirty="0"/>
          </a:p>
        </p:txBody>
      </p:sp>
      <p:sp>
        <p:nvSpPr>
          <p:cNvPr id="4" name="Slide Number Placeholder 5"/>
          <p:cNvSpPr>
            <a:spLocks noGrp="1"/>
          </p:cNvSpPr>
          <p:nvPr>
            <p:ph type="sldNum" sz="quarter" idx="12"/>
          </p:nvPr>
        </p:nvSpPr>
        <p:spPr/>
        <p:txBody>
          <a:bodyPr/>
          <a:lstStyle>
            <a:lvl1pPr>
              <a:defRPr/>
            </a:lvl1pPr>
          </a:lstStyle>
          <a:p>
            <a:fld id="{32789173-A1D5-421E-B384-2A426DF314C2}" type="slidenum">
              <a:rPr lang="en-GB"/>
              <a:pPr/>
              <a:t>‹#›</a:t>
            </a:fld>
            <a:endParaRPr lang="en-GB"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5536" y="1186830"/>
            <a:ext cx="3008313" cy="1162050"/>
          </a:xfrm>
        </p:spPr>
        <p:txBody>
          <a:bodyPr anchor="b"/>
          <a:lstStyle>
            <a:lvl1pPr algn="l">
              <a:defRPr sz="3200" b="1"/>
            </a:lvl1pPr>
          </a:lstStyle>
          <a:p>
            <a:r>
              <a:rPr lang="en-US" dirty="0"/>
              <a:t>Click to edit Master title style</a:t>
            </a:r>
            <a:endParaRPr lang="en-GB" dirty="0"/>
          </a:p>
        </p:txBody>
      </p:sp>
      <p:sp>
        <p:nvSpPr>
          <p:cNvPr id="3" name="Content Placeholder 2"/>
          <p:cNvSpPr>
            <a:spLocks noGrp="1"/>
          </p:cNvSpPr>
          <p:nvPr>
            <p:ph idx="1"/>
          </p:nvPr>
        </p:nvSpPr>
        <p:spPr>
          <a:xfrm>
            <a:off x="3575050" y="1196752"/>
            <a:ext cx="5111750" cy="492941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2420888"/>
            <a:ext cx="3008313" cy="3705275"/>
          </a:xfrm>
        </p:spPr>
        <p:txBody>
          <a:bodyPr/>
          <a:lstStyle>
            <a:lvl1pPr marL="0" indent="0">
              <a:buNone/>
              <a:defRPr sz="2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3"/>
          <p:cNvSpPr>
            <a:spLocks noGrp="1"/>
          </p:cNvSpPr>
          <p:nvPr>
            <p:ph type="dt" sz="half" idx="10"/>
          </p:nvPr>
        </p:nvSpPr>
        <p:spPr/>
        <p:txBody>
          <a:bodyPr/>
          <a:lstStyle>
            <a:lvl1pPr>
              <a:defRPr/>
            </a:lvl1pPr>
          </a:lstStyle>
          <a:p>
            <a:fld id="{B89648B1-3911-4AC2-8E3A-DF4A70CC86E7}" type="datetimeFigureOut">
              <a:rPr lang="en-GB"/>
              <a:pPr/>
              <a:t>24/10/2026</a:t>
            </a:fld>
            <a:endParaRPr lang="en-GB" dirty="0"/>
          </a:p>
        </p:txBody>
      </p:sp>
      <p:sp>
        <p:nvSpPr>
          <p:cNvPr id="6" name="Footer Placeholder 4"/>
          <p:cNvSpPr>
            <a:spLocks noGrp="1"/>
          </p:cNvSpPr>
          <p:nvPr>
            <p:ph type="ftr" sz="quarter" idx="11"/>
          </p:nvPr>
        </p:nvSpPr>
        <p:spPr/>
        <p:txBody>
          <a:bodyPr/>
          <a:lstStyle>
            <a:lvl1pPr>
              <a:defRPr/>
            </a:lvl1pPr>
          </a:lstStyle>
          <a:p>
            <a:endParaRPr lang="en-GB" dirty="0"/>
          </a:p>
        </p:txBody>
      </p:sp>
      <p:sp>
        <p:nvSpPr>
          <p:cNvPr id="7" name="Slide Number Placeholder 5"/>
          <p:cNvSpPr>
            <a:spLocks noGrp="1"/>
          </p:cNvSpPr>
          <p:nvPr>
            <p:ph type="sldNum" sz="quarter" idx="12"/>
          </p:nvPr>
        </p:nvSpPr>
        <p:spPr/>
        <p:txBody>
          <a:bodyPr/>
          <a:lstStyle>
            <a:lvl1pPr>
              <a:defRPr/>
            </a:lvl1pPr>
          </a:lstStyle>
          <a:p>
            <a:fld id="{C853D388-5704-4C64-A883-D899E8570667}" type="slidenum">
              <a:rPr lang="en-GB"/>
              <a:pPr/>
              <a:t>‹#›</a:t>
            </a:fld>
            <a:endParaRPr lang="en-GB"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62AAA9A3-945F-42AF-BCAE-8459AEA58868}" type="datetimeFigureOut">
              <a:rPr lang="en-GB"/>
              <a:pPr/>
              <a:t>24/10/2026</a:t>
            </a:fld>
            <a:endParaRPr lang="en-GB" dirty="0"/>
          </a:p>
        </p:txBody>
      </p:sp>
      <p:sp>
        <p:nvSpPr>
          <p:cNvPr id="6" name="Footer Placeholder 4"/>
          <p:cNvSpPr>
            <a:spLocks noGrp="1"/>
          </p:cNvSpPr>
          <p:nvPr>
            <p:ph type="ftr" sz="quarter" idx="11"/>
          </p:nvPr>
        </p:nvSpPr>
        <p:spPr/>
        <p:txBody>
          <a:bodyPr/>
          <a:lstStyle>
            <a:lvl1pPr>
              <a:defRPr/>
            </a:lvl1pPr>
          </a:lstStyle>
          <a:p>
            <a:endParaRPr lang="en-GB" dirty="0"/>
          </a:p>
        </p:txBody>
      </p:sp>
      <p:sp>
        <p:nvSpPr>
          <p:cNvPr id="7" name="Slide Number Placeholder 5"/>
          <p:cNvSpPr>
            <a:spLocks noGrp="1"/>
          </p:cNvSpPr>
          <p:nvPr>
            <p:ph type="sldNum" sz="quarter" idx="12"/>
          </p:nvPr>
        </p:nvSpPr>
        <p:spPr/>
        <p:txBody>
          <a:bodyPr/>
          <a:lstStyle>
            <a:lvl1pPr>
              <a:defRPr/>
            </a:lvl1pPr>
          </a:lstStyle>
          <a:p>
            <a:fld id="{5E74E2F5-7E8D-47B8-82FB-3832A72B6BDB}" type="slidenum">
              <a:rPr lang="en-GB"/>
              <a:pPr/>
              <a:t>‹#›</a:t>
            </a:fld>
            <a:endParaRPr lang="en-GB"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endParaRPr lang="en-GB" dirty="0"/>
          </a:p>
        </p:txBody>
      </p:sp>
      <p:sp>
        <p:nvSpPr>
          <p:cNvPr id="3" name="Vertical Text Placeholder 2"/>
          <p:cNvSpPr>
            <a:spLocks noGrp="1"/>
          </p:cNvSpPr>
          <p:nvPr>
            <p:ph type="body" orient="vert" idx="1"/>
          </p:nvPr>
        </p:nvSpPr>
        <p:spPr/>
        <p:txBody>
          <a:bodyPr vert="eaVert"/>
          <a:lstStyle>
            <a:lvl1pPr>
              <a:defRPr sz="3200"/>
            </a:lvl1pPr>
            <a:lvl2pPr>
              <a:defRPr sz="2800"/>
            </a:lvl2pPr>
            <a:lvl3pPr>
              <a:defRPr sz="2800"/>
            </a:lvl3pPr>
            <a:lvl4pPr>
              <a:defRPr sz="2800"/>
            </a:lvl4pPr>
            <a:lvl5pPr>
              <a:defRPr sz="2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p:cNvSpPr>
            <a:spLocks noGrp="1"/>
          </p:cNvSpPr>
          <p:nvPr>
            <p:ph type="dt" sz="half" idx="10"/>
          </p:nvPr>
        </p:nvSpPr>
        <p:spPr/>
        <p:txBody>
          <a:bodyPr/>
          <a:lstStyle>
            <a:lvl1pPr>
              <a:defRPr/>
            </a:lvl1pPr>
          </a:lstStyle>
          <a:p>
            <a:fld id="{98FF8105-8845-4543-9ED8-9E57E8E42CB7}" type="datetimeFigureOut">
              <a:rPr lang="en-GB"/>
              <a:pPr/>
              <a:t>24/10/2026</a:t>
            </a:fld>
            <a:endParaRPr lang="en-GB" dirty="0"/>
          </a:p>
        </p:txBody>
      </p:sp>
      <p:sp>
        <p:nvSpPr>
          <p:cNvPr id="5" name="Footer Placeholder 4"/>
          <p:cNvSpPr>
            <a:spLocks noGrp="1"/>
          </p:cNvSpPr>
          <p:nvPr>
            <p:ph type="ftr" sz="quarter" idx="11"/>
          </p:nvPr>
        </p:nvSpPr>
        <p:spPr/>
        <p:txBody>
          <a:bodyPr/>
          <a:lstStyle>
            <a:lvl1pPr>
              <a:defRPr/>
            </a:lvl1pPr>
          </a:lstStyle>
          <a:p>
            <a:endParaRPr lang="en-GB" dirty="0"/>
          </a:p>
        </p:txBody>
      </p:sp>
      <p:sp>
        <p:nvSpPr>
          <p:cNvPr id="6" name="Slide Number Placeholder 5"/>
          <p:cNvSpPr>
            <a:spLocks noGrp="1"/>
          </p:cNvSpPr>
          <p:nvPr>
            <p:ph type="sldNum" sz="quarter" idx="12"/>
          </p:nvPr>
        </p:nvSpPr>
        <p:spPr/>
        <p:txBody>
          <a:bodyPr/>
          <a:lstStyle>
            <a:lvl1pPr>
              <a:defRPr/>
            </a:lvl1pPr>
          </a:lstStyle>
          <a:p>
            <a:fld id="{58FF8E4D-CDF4-4B1F-BD52-35BFB528DB87}" type="slidenum">
              <a:rPr lang="en-GB"/>
              <a:pPr/>
              <a:t>‹#›</a:t>
            </a:fld>
            <a:endParaRPr lang="en-GB"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556792"/>
            <a:ext cx="2057400" cy="4569371"/>
          </a:xfrm>
        </p:spPr>
        <p:txBody>
          <a:bodyPr vert="eaVert"/>
          <a:lstStyle>
            <a:lvl1pPr>
              <a:defRPr sz="3200"/>
            </a:lvl1pPr>
          </a:lstStyle>
          <a:p>
            <a:r>
              <a:rPr lang="en-US" dirty="0"/>
              <a:t>Click to edit Master title style</a:t>
            </a:r>
            <a:endParaRPr lang="en-GB" dirty="0"/>
          </a:p>
        </p:txBody>
      </p:sp>
      <p:sp>
        <p:nvSpPr>
          <p:cNvPr id="3" name="Vertical Text Placeholder 2"/>
          <p:cNvSpPr>
            <a:spLocks noGrp="1"/>
          </p:cNvSpPr>
          <p:nvPr>
            <p:ph type="body" orient="vert" idx="1"/>
          </p:nvPr>
        </p:nvSpPr>
        <p:spPr>
          <a:xfrm>
            <a:off x="457200" y="1556792"/>
            <a:ext cx="6019800" cy="4569371"/>
          </a:xfrm>
        </p:spPr>
        <p:txBody>
          <a:bodyPr vert="eaVert"/>
          <a:lstStyle>
            <a:lvl1pPr>
              <a:defRPr sz="2800"/>
            </a:lvl1pPr>
            <a:lvl2pPr>
              <a:defRPr sz="2400"/>
            </a:lvl2pPr>
            <a:lvl3pPr>
              <a:defRPr sz="2400"/>
            </a:lvl3pPr>
            <a:lvl4pPr>
              <a:defRPr sz="24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p:cNvSpPr>
            <a:spLocks noGrp="1"/>
          </p:cNvSpPr>
          <p:nvPr>
            <p:ph type="dt" sz="half" idx="10"/>
          </p:nvPr>
        </p:nvSpPr>
        <p:spPr/>
        <p:txBody>
          <a:bodyPr/>
          <a:lstStyle>
            <a:lvl1pPr>
              <a:defRPr/>
            </a:lvl1pPr>
          </a:lstStyle>
          <a:p>
            <a:fld id="{08976883-B614-42E6-9595-363FA777B038}" type="datetimeFigureOut">
              <a:rPr lang="en-GB"/>
              <a:pPr/>
              <a:t>24/10/2026</a:t>
            </a:fld>
            <a:endParaRPr lang="en-GB" dirty="0"/>
          </a:p>
        </p:txBody>
      </p:sp>
      <p:sp>
        <p:nvSpPr>
          <p:cNvPr id="5" name="Footer Placeholder 4"/>
          <p:cNvSpPr>
            <a:spLocks noGrp="1"/>
          </p:cNvSpPr>
          <p:nvPr>
            <p:ph type="ftr" sz="quarter" idx="11"/>
          </p:nvPr>
        </p:nvSpPr>
        <p:spPr/>
        <p:txBody>
          <a:bodyPr/>
          <a:lstStyle>
            <a:lvl1pPr>
              <a:defRPr/>
            </a:lvl1pPr>
          </a:lstStyle>
          <a:p>
            <a:endParaRPr lang="en-GB" dirty="0"/>
          </a:p>
        </p:txBody>
      </p:sp>
      <p:sp>
        <p:nvSpPr>
          <p:cNvPr id="6" name="Slide Number Placeholder 5"/>
          <p:cNvSpPr>
            <a:spLocks noGrp="1"/>
          </p:cNvSpPr>
          <p:nvPr>
            <p:ph type="sldNum" sz="quarter" idx="12"/>
          </p:nvPr>
        </p:nvSpPr>
        <p:spPr/>
        <p:txBody>
          <a:bodyPr/>
          <a:lstStyle>
            <a:lvl1pPr>
              <a:defRPr/>
            </a:lvl1pPr>
          </a:lstStyle>
          <a:p>
            <a:fld id="{86915344-E335-44E9-ACDC-CB4826450486}" type="slidenum">
              <a:rPr lang="en-GB"/>
              <a:pPr/>
              <a:t>‹#›</a:t>
            </a:fld>
            <a:endParaRPr lang="en-GB"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0" name="Picture 3" descr="brand_ppt_back.jpg"/>
          <p:cNvPicPr>
            <a:picLocks noChangeAspect="1"/>
          </p:cNvPicPr>
          <p:nvPr userDrawn="1"/>
        </p:nvPicPr>
        <p:blipFill>
          <a:blip r:embed="rId13" cstate="print"/>
          <a:srcRect/>
          <a:stretch>
            <a:fillRect/>
          </a:stretch>
        </p:blipFill>
        <p:spPr bwMode="auto">
          <a:xfrm>
            <a:off x="0" y="0"/>
            <a:ext cx="9229725" cy="6923088"/>
          </a:xfrm>
          <a:prstGeom prst="rect">
            <a:avLst/>
          </a:prstGeom>
          <a:noFill/>
          <a:ln w="9525">
            <a:noFill/>
            <a:miter lim="800000"/>
            <a:headEnd/>
            <a:tailEnd/>
          </a:ln>
        </p:spPr>
      </p:pic>
      <p:sp>
        <p:nvSpPr>
          <p:cNvPr id="1026" name="Title Placeholder 1"/>
          <p:cNvSpPr>
            <a:spLocks noGrp="1"/>
          </p:cNvSpPr>
          <p:nvPr>
            <p:ph type="title"/>
          </p:nvPr>
        </p:nvSpPr>
        <p:spPr bwMode="auto">
          <a:xfrm>
            <a:off x="467544" y="1268760"/>
            <a:ext cx="5842992"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style</a:t>
            </a:r>
            <a:endParaRPr lang="en-GB" dirty="0"/>
          </a:p>
        </p:txBody>
      </p:sp>
      <p:sp>
        <p:nvSpPr>
          <p:cNvPr id="1027" name="Text Placeholder 2"/>
          <p:cNvSpPr>
            <a:spLocks noGrp="1"/>
          </p:cNvSpPr>
          <p:nvPr>
            <p:ph type="body" idx="1"/>
          </p:nvPr>
        </p:nvSpPr>
        <p:spPr bwMode="auto">
          <a:xfrm>
            <a:off x="457200" y="2492896"/>
            <a:ext cx="8229600" cy="363326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baseline="0">
                <a:solidFill>
                  <a:schemeClr val="bg1"/>
                </a:solidFill>
                <a:latin typeface="Arial" pitchFamily="34" charset="0"/>
                <a:cs typeface="Arial" pitchFamily="34" charset="0"/>
              </a:defRPr>
            </a:lvl1pPr>
          </a:lstStyle>
          <a:p>
            <a:fld id="{456A7D1D-6254-4063-974C-6A2AE04E4B91}" type="datetimeFigureOut">
              <a:rPr lang="en-GB" smtClean="0"/>
              <a:pPr/>
              <a:t>24/10/2026</a:t>
            </a:fld>
            <a:endParaRPr lang="en-GB"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a:defRPr sz="1200" baseline="0">
                <a:solidFill>
                  <a:schemeClr val="bg1"/>
                </a:solidFill>
                <a:latin typeface="Arial" pitchFamily="34" charset="0"/>
              </a:defRPr>
            </a:lvl1pPr>
          </a:lstStyle>
          <a:p>
            <a:endParaRPr lang="en-GB"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baseline="0">
                <a:solidFill>
                  <a:schemeClr val="bg1"/>
                </a:solidFill>
                <a:latin typeface="Arial" pitchFamily="34" charset="0"/>
              </a:defRPr>
            </a:lvl1pPr>
          </a:lstStyle>
          <a:p>
            <a:fld id="{26878614-5F41-4702-8E44-D9C8B2874F5D}" type="slidenum">
              <a:rPr lang="en-GB" smtClean="0"/>
              <a:pPr/>
              <a:t>‹#›</a:t>
            </a:fld>
            <a:endParaRPr lang="en-GB" dirty="0"/>
          </a:p>
        </p:txBody>
      </p:sp>
      <p:pic>
        <p:nvPicPr>
          <p:cNvPr id="11" name="Picture 1" descr="TAB_allwhite.eps"/>
          <p:cNvPicPr>
            <a:picLocks noChangeAspect="1"/>
          </p:cNvPicPr>
          <p:nvPr userDrawn="1"/>
        </p:nvPicPr>
        <p:blipFill>
          <a:blip r:embed="rId14" cstate="print"/>
          <a:srcRect/>
          <a:stretch>
            <a:fillRect/>
          </a:stretch>
        </p:blipFill>
        <p:spPr bwMode="auto">
          <a:xfrm>
            <a:off x="522288" y="509588"/>
            <a:ext cx="1663700" cy="711200"/>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fontAlgn="base">
        <a:spcBef>
          <a:spcPct val="0"/>
        </a:spcBef>
        <a:spcAft>
          <a:spcPct val="0"/>
        </a:spcAft>
        <a:defRPr sz="3200" b="1" kern="1200">
          <a:solidFill>
            <a:schemeClr val="bg1"/>
          </a:solidFill>
          <a:latin typeface="Arial" pitchFamily="34" charset="0"/>
          <a:ea typeface="+mj-ea"/>
          <a:cs typeface="Arial" pitchFamily="34" charset="0"/>
        </a:defRPr>
      </a:lvl1pPr>
      <a:lvl2pPr algn="ctr" rtl="0" fontAlgn="base">
        <a:spcBef>
          <a:spcPct val="0"/>
        </a:spcBef>
        <a:spcAft>
          <a:spcPct val="0"/>
        </a:spcAft>
        <a:defRPr sz="4400">
          <a:solidFill>
            <a:schemeClr val="tx1"/>
          </a:solidFill>
          <a:latin typeface="Calibri" pitchFamily="34" charset="0"/>
        </a:defRPr>
      </a:lvl2pPr>
      <a:lvl3pPr algn="ctr" rtl="0" fontAlgn="base">
        <a:spcBef>
          <a:spcPct val="0"/>
        </a:spcBef>
        <a:spcAft>
          <a:spcPct val="0"/>
        </a:spcAft>
        <a:defRPr sz="4400">
          <a:solidFill>
            <a:schemeClr val="tx1"/>
          </a:solidFill>
          <a:latin typeface="Calibri" pitchFamily="34" charset="0"/>
        </a:defRPr>
      </a:lvl3pPr>
      <a:lvl4pPr algn="ctr" rtl="0" fontAlgn="base">
        <a:spcBef>
          <a:spcPct val="0"/>
        </a:spcBef>
        <a:spcAft>
          <a:spcPct val="0"/>
        </a:spcAft>
        <a:defRPr sz="4400">
          <a:solidFill>
            <a:schemeClr val="tx1"/>
          </a:solidFill>
          <a:latin typeface="Calibri" pitchFamily="34" charset="0"/>
        </a:defRPr>
      </a:lvl4pPr>
      <a:lvl5pPr algn="ctr" rtl="0" fontAlgn="base">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fontAlgn="base">
        <a:spcBef>
          <a:spcPct val="20000"/>
        </a:spcBef>
        <a:spcAft>
          <a:spcPct val="0"/>
        </a:spcAft>
        <a:buFont typeface="Arial" pitchFamily="34" charset="0"/>
        <a:buChar char="•"/>
        <a:defRPr sz="2800" kern="1200" baseline="0">
          <a:solidFill>
            <a:schemeClr val="bg1"/>
          </a:solidFill>
          <a:latin typeface="Arial" pitchFamily="34" charset="0"/>
          <a:ea typeface="+mn-ea"/>
          <a:cs typeface="Arial" pitchFamily="34" charset="0"/>
        </a:defRPr>
      </a:lvl1pPr>
      <a:lvl2pPr marL="742950" indent="-285750" algn="l" rtl="0" fontAlgn="base">
        <a:spcBef>
          <a:spcPct val="20000"/>
        </a:spcBef>
        <a:spcAft>
          <a:spcPct val="0"/>
        </a:spcAft>
        <a:buFont typeface="Arial" pitchFamily="34" charset="0"/>
        <a:buChar char="–"/>
        <a:defRPr sz="2800" kern="1200" baseline="0">
          <a:solidFill>
            <a:schemeClr val="bg1"/>
          </a:solidFill>
          <a:latin typeface="Arial" pitchFamily="34" charset="0"/>
          <a:ea typeface="+mn-ea"/>
          <a:cs typeface="Arial" pitchFamily="34" charset="0"/>
        </a:defRPr>
      </a:lvl2pPr>
      <a:lvl3pPr marL="1143000" indent="-228600" algn="l" rtl="0" fontAlgn="base">
        <a:spcBef>
          <a:spcPct val="20000"/>
        </a:spcBef>
        <a:spcAft>
          <a:spcPct val="0"/>
        </a:spcAft>
        <a:buFont typeface="Arial" pitchFamily="34" charset="0"/>
        <a:buChar char="•"/>
        <a:defRPr sz="2800" kern="1200" baseline="0">
          <a:solidFill>
            <a:schemeClr val="bg1"/>
          </a:solidFill>
          <a:latin typeface="Arial" pitchFamily="34" charset="0"/>
          <a:ea typeface="+mn-ea"/>
          <a:cs typeface="Arial" pitchFamily="34" charset="0"/>
        </a:defRPr>
      </a:lvl3pPr>
      <a:lvl4pPr marL="1600200" indent="-228600" algn="l" rtl="0" fontAlgn="base">
        <a:spcBef>
          <a:spcPct val="20000"/>
        </a:spcBef>
        <a:spcAft>
          <a:spcPct val="0"/>
        </a:spcAft>
        <a:buFont typeface="Arial" pitchFamily="34" charset="0"/>
        <a:buChar char="–"/>
        <a:defRPr sz="2800" kern="1200" baseline="0">
          <a:solidFill>
            <a:schemeClr val="bg1"/>
          </a:solidFill>
          <a:latin typeface="Arial" pitchFamily="34" charset="0"/>
          <a:ea typeface="+mn-ea"/>
          <a:cs typeface="Arial" pitchFamily="34" charset="0"/>
        </a:defRPr>
      </a:lvl4pPr>
      <a:lvl5pPr marL="2057400" indent="-228600" algn="l" rtl="0" fontAlgn="base">
        <a:spcBef>
          <a:spcPct val="20000"/>
        </a:spcBef>
        <a:spcAft>
          <a:spcPct val="0"/>
        </a:spcAft>
        <a:buFont typeface="Arial" pitchFamily="34" charset="0"/>
        <a:buChar char="»"/>
        <a:defRPr sz="2800" kern="1200" baseline="0">
          <a:solidFill>
            <a:schemeClr val="bg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7" name="Picture 3" descr="brand_ppt_back.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229725" cy="692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38" name="Rectangle 6"/>
          <p:cNvSpPr>
            <a:spLocks noChangeArrowheads="1"/>
          </p:cNvSpPr>
          <p:nvPr/>
        </p:nvSpPr>
        <p:spPr bwMode="auto">
          <a:xfrm>
            <a:off x="404813" y="1625600"/>
            <a:ext cx="7254875"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3000" b="1" dirty="0">
                <a:solidFill>
                  <a:schemeClr val="bg1"/>
                </a:solidFill>
              </a:rPr>
              <a:t>Pattern Classification of Stock Price Moving</a:t>
            </a:r>
            <a:endParaRPr lang="en-US" sz="3000" dirty="0">
              <a:solidFill>
                <a:schemeClr val="bg1"/>
              </a:solidFill>
            </a:endParaRPr>
          </a:p>
        </p:txBody>
      </p:sp>
      <p:sp>
        <p:nvSpPr>
          <p:cNvPr id="14339" name="Rectangle 7"/>
          <p:cNvSpPr>
            <a:spLocks noChangeArrowheads="1"/>
          </p:cNvSpPr>
          <p:nvPr/>
        </p:nvSpPr>
        <p:spPr bwMode="auto">
          <a:xfrm>
            <a:off x="404813" y="4295775"/>
            <a:ext cx="8487667"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indent="0">
              <a:buNone/>
            </a:pPr>
            <a:r>
              <a:rPr lang="en-US" sz="2400" dirty="0">
                <a:solidFill>
                  <a:schemeClr val="bg1"/>
                </a:solidFill>
              </a:rPr>
              <a:t>MSc Data Science, The University of Manchester, 2026</a:t>
            </a:r>
          </a:p>
          <a:p>
            <a:pPr marL="0" indent="0">
              <a:buNone/>
            </a:pPr>
            <a:r>
              <a:rPr lang="en-US" sz="2400" dirty="0">
                <a:solidFill>
                  <a:schemeClr val="bg1"/>
                </a:solidFill>
              </a:rPr>
              <a:t>Student ID : 14261808</a:t>
            </a:r>
          </a:p>
          <a:p>
            <a:pPr marL="0" indent="0">
              <a:buNone/>
            </a:pPr>
            <a:r>
              <a:rPr lang="en-US" sz="2400" dirty="0">
                <a:solidFill>
                  <a:schemeClr val="bg1"/>
                </a:solidFill>
              </a:rPr>
              <a:t>Name: Divyalakshmi Rama</a:t>
            </a:r>
          </a:p>
        </p:txBody>
      </p:sp>
      <p:cxnSp>
        <p:nvCxnSpPr>
          <p:cNvPr id="10" name="Straight Connector 9"/>
          <p:cNvCxnSpPr>
            <a:cxnSpLocks noChangeShapeType="1"/>
          </p:cNvCxnSpPr>
          <p:nvPr/>
        </p:nvCxnSpPr>
        <p:spPr bwMode="auto">
          <a:xfrm>
            <a:off x="517525" y="2809875"/>
            <a:ext cx="7013575" cy="0"/>
          </a:xfrm>
          <a:prstGeom prst="line">
            <a:avLst/>
          </a:prstGeom>
          <a:noFill/>
          <a:ln w="25400">
            <a:solidFill>
              <a:schemeClr val="bg1"/>
            </a:solidFill>
            <a:prstDash val="dot"/>
            <a:round/>
            <a:headEnd/>
            <a:tailEnd/>
          </a:ln>
          <a:effectLst>
            <a:outerShdw blurRad="63500" dist="20000" dir="5400000" rotWithShape="0">
              <a:srgbClr val="000000">
                <a:alpha val="37999"/>
              </a:srgbClr>
            </a:outerShdw>
          </a:effectLst>
          <a:extLst>
            <a:ext uri="{909E8E84-426E-40DD-AFC4-6F175D3DCCD1}">
              <a14:hiddenFill xmlns:a14="http://schemas.microsoft.com/office/drawing/2010/main">
                <a:noFill/>
              </a14:hiddenFill>
            </a:ext>
          </a:extLst>
        </p:spPr>
      </p:cxnSp>
      <p:pic>
        <p:nvPicPr>
          <p:cNvPr id="14341" name="Picture 1" descr="TAB_allwhite.eps"/>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22288" y="509588"/>
            <a:ext cx="1663700" cy="71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8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1052736"/>
            <a:ext cx="8846640" cy="1080120"/>
          </a:xfrm>
        </p:spPr>
        <p:txBody>
          <a:bodyPr/>
          <a:lstStyle/>
          <a:p>
            <a:r>
              <a:rPr lang="en-IN" sz="2400" dirty="0"/>
              <a:t>Can we find hidden groups in noisy stock prices?</a:t>
            </a:r>
            <a:endParaRPr lang="en-GB" sz="2800" dirty="0">
              <a:solidFill>
                <a:schemeClr val="bg1">
                  <a:lumMod val="95000"/>
                </a:schemeClr>
              </a:solidFill>
            </a:endParaRPr>
          </a:p>
        </p:txBody>
      </p:sp>
      <p:pic>
        <p:nvPicPr>
          <p:cNvPr id="11" name="Picture 6" descr="438,000+ Stock Market Data Stock Photos and Royalty-Free Pictures - iStock">
            <a:extLst>
              <a:ext uri="{FF2B5EF4-FFF2-40B4-BE49-F238E27FC236}">
                <a16:creationId xmlns:a16="http://schemas.microsoft.com/office/drawing/2014/main" id="{563488FB-A671-2A16-2F4F-B66040AF7D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92080" y="2132856"/>
            <a:ext cx="3703966" cy="3511129"/>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3B78220D-87EB-AFF0-EF82-0E5F4B308F7C}"/>
              </a:ext>
            </a:extLst>
          </p:cNvPr>
          <p:cNvSpPr txBox="1"/>
          <p:nvPr/>
        </p:nvSpPr>
        <p:spPr>
          <a:xfrm>
            <a:off x="539552" y="2132856"/>
            <a:ext cx="4608512" cy="3693319"/>
          </a:xfrm>
          <a:prstGeom prst="rect">
            <a:avLst/>
          </a:prstGeom>
          <a:noFill/>
        </p:spPr>
        <p:txBody>
          <a:bodyPr wrap="square">
            <a:spAutoFit/>
          </a:bodyPr>
          <a:lstStyle/>
          <a:p>
            <a:r>
              <a:rPr lang="en-US" b="1" dirty="0">
                <a:solidFill>
                  <a:schemeClr val="bg1">
                    <a:lumMod val="95000"/>
                  </a:schemeClr>
                </a:solidFill>
              </a:rPr>
              <a:t>The Problem and Approach</a:t>
            </a:r>
            <a:r>
              <a:rPr lang="en-US" dirty="0">
                <a:solidFill>
                  <a:schemeClr val="bg1">
                    <a:lumMod val="95000"/>
                  </a:schemeClr>
                </a:solidFill>
              </a:rPr>
              <a:t>: Stock prices are noisy time series with no predefined labels, so this study compares three unsupervised clustering algorithms to identify stocks that move in similar ways and assess the meaningfulness and stability of the resulting clusters.</a:t>
            </a:r>
          </a:p>
          <a:p>
            <a:endParaRPr lang="en-US" dirty="0">
              <a:solidFill>
                <a:schemeClr val="bg1">
                  <a:lumMod val="95000"/>
                </a:schemeClr>
              </a:solidFill>
            </a:endParaRPr>
          </a:p>
          <a:p>
            <a:r>
              <a:rPr lang="en-US" b="1" dirty="0">
                <a:solidFill>
                  <a:schemeClr val="bg1">
                    <a:lumMod val="95000"/>
                  </a:schemeClr>
                </a:solidFill>
              </a:rPr>
              <a:t>Why It Matters</a:t>
            </a:r>
            <a:r>
              <a:rPr lang="en-US" dirty="0">
                <a:solidFill>
                  <a:schemeClr val="bg1">
                    <a:lumMod val="95000"/>
                  </a:schemeClr>
                </a:solidFill>
              </a:rPr>
              <a:t>: Identifying natural groups of stock can be used to build portfolios, finding stocks to invest or trade and describing market conditions.</a:t>
            </a:r>
          </a:p>
          <a:p>
            <a:endParaRPr lang="en-IN" dirty="0"/>
          </a:p>
        </p:txBody>
      </p:sp>
    </p:spTree>
    <p:extLst>
      <p:ext uri="{BB962C8B-B14F-4D97-AF65-F5344CB8AC3E}">
        <p14:creationId xmlns:p14="http://schemas.microsoft.com/office/powerpoint/2010/main" val="15903021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C00AA-97FF-1962-F1F4-A9D527926338}"/>
              </a:ext>
            </a:extLst>
          </p:cNvPr>
          <p:cNvSpPr>
            <a:spLocks noGrp="1"/>
          </p:cNvSpPr>
          <p:nvPr>
            <p:ph type="title"/>
          </p:nvPr>
        </p:nvSpPr>
        <p:spPr>
          <a:xfrm>
            <a:off x="413683" y="1273324"/>
            <a:ext cx="9062664" cy="1143000"/>
          </a:xfrm>
        </p:spPr>
        <p:txBody>
          <a:bodyPr/>
          <a:lstStyle/>
          <a:p>
            <a:r>
              <a:rPr lang="en-IN" sz="2800" dirty="0"/>
              <a:t>To study this, we apply three clustering algorithms to the FTSE data.</a:t>
            </a:r>
          </a:p>
        </p:txBody>
      </p:sp>
      <p:sp>
        <p:nvSpPr>
          <p:cNvPr id="3" name="Content Placeholder 2">
            <a:extLst>
              <a:ext uri="{FF2B5EF4-FFF2-40B4-BE49-F238E27FC236}">
                <a16:creationId xmlns:a16="http://schemas.microsoft.com/office/drawing/2014/main" id="{68B1397B-9936-9ACB-E640-CEDE52919C4A}"/>
              </a:ext>
            </a:extLst>
          </p:cNvPr>
          <p:cNvSpPr>
            <a:spLocks noGrp="1"/>
          </p:cNvSpPr>
          <p:nvPr>
            <p:ph idx="1"/>
          </p:nvPr>
        </p:nvSpPr>
        <p:spPr>
          <a:xfrm>
            <a:off x="413683" y="2636912"/>
            <a:ext cx="3959279" cy="1224136"/>
          </a:xfrm>
        </p:spPr>
        <p:txBody>
          <a:bodyPr/>
          <a:lstStyle/>
          <a:p>
            <a:pPr lvl="0"/>
            <a:r>
              <a:rPr lang="en-IN" sz="2400" dirty="0"/>
              <a:t>K-Means Clustering</a:t>
            </a:r>
          </a:p>
          <a:p>
            <a:pPr lvl="0"/>
            <a:r>
              <a:rPr lang="en-IN" sz="2400" dirty="0"/>
              <a:t>K-Medoids Clustering with Dynamic Time Warping</a:t>
            </a:r>
          </a:p>
          <a:p>
            <a:pPr lvl="0"/>
            <a:r>
              <a:rPr lang="en-IN" sz="2400" dirty="0"/>
              <a:t>Gaussian Mixture Model with Expectation-Maximisation</a:t>
            </a:r>
          </a:p>
          <a:p>
            <a:pPr marL="0" indent="0">
              <a:buNone/>
            </a:pPr>
            <a:endParaRPr lang="en-IN" sz="1600" i="1" dirty="0"/>
          </a:p>
        </p:txBody>
      </p:sp>
      <p:graphicFrame>
        <p:nvGraphicFramePr>
          <p:cNvPr id="7" name="Table 6">
            <a:extLst>
              <a:ext uri="{FF2B5EF4-FFF2-40B4-BE49-F238E27FC236}">
                <a16:creationId xmlns:a16="http://schemas.microsoft.com/office/drawing/2014/main" id="{2ACA8727-16D5-CE33-2E1B-9A62BB544817}"/>
              </a:ext>
            </a:extLst>
          </p:cNvPr>
          <p:cNvGraphicFramePr>
            <a:graphicFrameLocks noGrp="1"/>
          </p:cNvGraphicFramePr>
          <p:nvPr>
            <p:extLst>
              <p:ext uri="{D42A27DB-BD31-4B8C-83A1-F6EECF244321}">
                <p14:modId xmlns:p14="http://schemas.microsoft.com/office/powerpoint/2010/main" val="1485974679"/>
              </p:ext>
            </p:extLst>
          </p:nvPr>
        </p:nvGraphicFramePr>
        <p:xfrm>
          <a:off x="5004048" y="3129528"/>
          <a:ext cx="3668239" cy="2027664"/>
        </p:xfrm>
        <a:graphic>
          <a:graphicData uri="http://schemas.openxmlformats.org/drawingml/2006/table">
            <a:tbl>
              <a:tblPr>
                <a:tableStyleId>{00A15C55-8517-42AA-B614-E9B94910E393}</a:tableStyleId>
              </a:tblPr>
              <a:tblGrid>
                <a:gridCol w="1219967">
                  <a:extLst>
                    <a:ext uri="{9D8B030D-6E8A-4147-A177-3AD203B41FA5}">
                      <a16:colId xmlns:a16="http://schemas.microsoft.com/office/drawing/2014/main" val="3061890258"/>
                    </a:ext>
                  </a:extLst>
                </a:gridCol>
                <a:gridCol w="1224136">
                  <a:extLst>
                    <a:ext uri="{9D8B030D-6E8A-4147-A177-3AD203B41FA5}">
                      <a16:colId xmlns:a16="http://schemas.microsoft.com/office/drawing/2014/main" val="3459287382"/>
                    </a:ext>
                  </a:extLst>
                </a:gridCol>
                <a:gridCol w="1224136">
                  <a:extLst>
                    <a:ext uri="{9D8B030D-6E8A-4147-A177-3AD203B41FA5}">
                      <a16:colId xmlns:a16="http://schemas.microsoft.com/office/drawing/2014/main" val="3609285168"/>
                    </a:ext>
                  </a:extLst>
                </a:gridCol>
              </a:tblGrid>
              <a:tr h="506916">
                <a:tc>
                  <a:txBody>
                    <a:bodyPr/>
                    <a:lstStyle/>
                    <a:p>
                      <a:pPr>
                        <a:buNone/>
                      </a:pPr>
                      <a:r>
                        <a:rPr lang="en-IN" dirty="0"/>
                        <a:t>Period</a:t>
                      </a:r>
                    </a:p>
                  </a:txBody>
                  <a:tcPr anchor="ctr"/>
                </a:tc>
                <a:tc>
                  <a:txBody>
                    <a:bodyPr/>
                    <a:lstStyle/>
                    <a:p>
                      <a:pPr>
                        <a:buNone/>
                      </a:pPr>
                      <a:r>
                        <a:rPr lang="en-IN"/>
                        <a:t>Stocks</a:t>
                      </a:r>
                    </a:p>
                  </a:txBody>
                  <a:tcPr anchor="ctr"/>
                </a:tc>
                <a:tc>
                  <a:txBody>
                    <a:bodyPr/>
                    <a:lstStyle/>
                    <a:p>
                      <a:pPr>
                        <a:buNone/>
                      </a:pPr>
                      <a:r>
                        <a:rPr lang="en-IN"/>
                        <a:t>Days</a:t>
                      </a:r>
                    </a:p>
                  </a:txBody>
                  <a:tcPr anchor="ctr"/>
                </a:tc>
                <a:extLst>
                  <a:ext uri="{0D108BD9-81ED-4DB2-BD59-A6C34878D82A}">
                    <a16:rowId xmlns:a16="http://schemas.microsoft.com/office/drawing/2014/main" val="1368524552"/>
                  </a:ext>
                </a:extLst>
              </a:tr>
              <a:tr h="506916">
                <a:tc>
                  <a:txBody>
                    <a:bodyPr/>
                    <a:lstStyle/>
                    <a:p>
                      <a:pPr>
                        <a:buNone/>
                      </a:pPr>
                      <a:r>
                        <a:rPr lang="en-IN" dirty="0"/>
                        <a:t>11 years</a:t>
                      </a:r>
                    </a:p>
                  </a:txBody>
                  <a:tcPr anchor="ctr"/>
                </a:tc>
                <a:tc>
                  <a:txBody>
                    <a:bodyPr/>
                    <a:lstStyle/>
                    <a:p>
                      <a:pPr>
                        <a:buNone/>
                      </a:pPr>
                      <a:r>
                        <a:rPr lang="en-IN"/>
                        <a:t>103</a:t>
                      </a:r>
                    </a:p>
                  </a:txBody>
                  <a:tcPr anchor="ctr"/>
                </a:tc>
                <a:tc>
                  <a:txBody>
                    <a:bodyPr/>
                    <a:lstStyle/>
                    <a:p>
                      <a:pPr>
                        <a:buNone/>
                      </a:pPr>
                      <a:r>
                        <a:rPr lang="en-IN"/>
                        <a:t>2,779</a:t>
                      </a:r>
                    </a:p>
                  </a:txBody>
                  <a:tcPr anchor="ctr"/>
                </a:tc>
                <a:extLst>
                  <a:ext uri="{0D108BD9-81ED-4DB2-BD59-A6C34878D82A}">
                    <a16:rowId xmlns:a16="http://schemas.microsoft.com/office/drawing/2014/main" val="3279836652"/>
                  </a:ext>
                </a:extLst>
              </a:tr>
              <a:tr h="506916">
                <a:tc>
                  <a:txBody>
                    <a:bodyPr/>
                    <a:lstStyle/>
                    <a:p>
                      <a:pPr>
                        <a:buNone/>
                      </a:pPr>
                      <a:r>
                        <a:rPr lang="en-IN"/>
                        <a:t>4.5 years</a:t>
                      </a:r>
                    </a:p>
                  </a:txBody>
                  <a:tcPr anchor="ctr"/>
                </a:tc>
                <a:tc>
                  <a:txBody>
                    <a:bodyPr/>
                    <a:lstStyle/>
                    <a:p>
                      <a:pPr>
                        <a:buNone/>
                      </a:pPr>
                      <a:r>
                        <a:rPr lang="en-IN"/>
                        <a:t>241</a:t>
                      </a:r>
                    </a:p>
                  </a:txBody>
                  <a:tcPr anchor="ctr"/>
                </a:tc>
                <a:tc>
                  <a:txBody>
                    <a:bodyPr/>
                    <a:lstStyle/>
                    <a:p>
                      <a:pPr>
                        <a:buNone/>
                      </a:pPr>
                      <a:r>
                        <a:rPr lang="en-IN" dirty="0"/>
                        <a:t>1,153</a:t>
                      </a:r>
                    </a:p>
                  </a:txBody>
                  <a:tcPr anchor="ctr"/>
                </a:tc>
                <a:extLst>
                  <a:ext uri="{0D108BD9-81ED-4DB2-BD59-A6C34878D82A}">
                    <a16:rowId xmlns:a16="http://schemas.microsoft.com/office/drawing/2014/main" val="1043211382"/>
                  </a:ext>
                </a:extLst>
              </a:tr>
              <a:tr h="506916">
                <a:tc>
                  <a:txBody>
                    <a:bodyPr/>
                    <a:lstStyle/>
                    <a:p>
                      <a:pPr>
                        <a:buNone/>
                      </a:pPr>
                      <a:r>
                        <a:rPr lang="en-IN"/>
                        <a:t>1 year</a:t>
                      </a:r>
                    </a:p>
                  </a:txBody>
                  <a:tcPr anchor="ctr"/>
                </a:tc>
                <a:tc>
                  <a:txBody>
                    <a:bodyPr/>
                    <a:lstStyle/>
                    <a:p>
                      <a:pPr>
                        <a:buNone/>
                      </a:pPr>
                      <a:r>
                        <a:rPr lang="en-IN"/>
                        <a:t>248</a:t>
                      </a:r>
                    </a:p>
                  </a:txBody>
                  <a:tcPr anchor="ctr"/>
                </a:tc>
                <a:tc>
                  <a:txBody>
                    <a:bodyPr/>
                    <a:lstStyle/>
                    <a:p>
                      <a:pPr>
                        <a:buNone/>
                      </a:pPr>
                      <a:r>
                        <a:rPr lang="en-IN" dirty="0"/>
                        <a:t>273</a:t>
                      </a:r>
                    </a:p>
                  </a:txBody>
                  <a:tcPr anchor="ctr"/>
                </a:tc>
                <a:extLst>
                  <a:ext uri="{0D108BD9-81ED-4DB2-BD59-A6C34878D82A}">
                    <a16:rowId xmlns:a16="http://schemas.microsoft.com/office/drawing/2014/main" val="1515745889"/>
                  </a:ext>
                </a:extLst>
              </a:tr>
            </a:tbl>
          </a:graphicData>
        </a:graphic>
      </p:graphicFrame>
      <p:sp>
        <p:nvSpPr>
          <p:cNvPr id="11" name="TextBox 10">
            <a:extLst>
              <a:ext uri="{FF2B5EF4-FFF2-40B4-BE49-F238E27FC236}">
                <a16:creationId xmlns:a16="http://schemas.microsoft.com/office/drawing/2014/main" id="{8BA1F7AB-07F1-2D94-77F1-8D3E9D5ACA55}"/>
              </a:ext>
            </a:extLst>
          </p:cNvPr>
          <p:cNvSpPr txBox="1"/>
          <p:nvPr/>
        </p:nvSpPr>
        <p:spPr>
          <a:xfrm>
            <a:off x="4860032" y="2486192"/>
            <a:ext cx="4104456" cy="523220"/>
          </a:xfrm>
          <a:prstGeom prst="rect">
            <a:avLst/>
          </a:prstGeom>
          <a:noFill/>
        </p:spPr>
        <p:txBody>
          <a:bodyPr wrap="square">
            <a:spAutoFit/>
          </a:bodyPr>
          <a:lstStyle/>
          <a:p>
            <a:pPr>
              <a:buNone/>
            </a:pPr>
            <a:r>
              <a:rPr lang="en-IN" sz="1400" b="1" dirty="0">
                <a:solidFill>
                  <a:schemeClr val="bg1"/>
                </a:solidFill>
              </a:rPr>
              <a:t>FTSE 100 &amp; FTSE 250 - Daily Adjusted Closing Prices, Z-score Standardised</a:t>
            </a:r>
          </a:p>
        </p:txBody>
      </p:sp>
    </p:spTree>
    <p:extLst>
      <p:ext uri="{BB962C8B-B14F-4D97-AF65-F5344CB8AC3E}">
        <p14:creationId xmlns:p14="http://schemas.microsoft.com/office/powerpoint/2010/main" val="15814128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5880" y="1268760"/>
            <a:ext cx="8738120" cy="576064"/>
          </a:xfrm>
        </p:spPr>
        <p:txBody>
          <a:bodyPr/>
          <a:lstStyle/>
          <a:p>
            <a:r>
              <a:rPr lang="en-US" sz="2800" dirty="0">
                <a:solidFill>
                  <a:schemeClr val="bg1">
                    <a:lumMod val="95000"/>
                  </a:schemeClr>
                </a:solidFill>
              </a:rPr>
              <a:t>K-Means</a:t>
            </a:r>
            <a:endParaRPr lang="en-GB" sz="2800" dirty="0">
              <a:solidFill>
                <a:schemeClr val="bg1">
                  <a:lumMod val="95000"/>
                </a:schemeClr>
              </a:solidFill>
            </a:endParaRPr>
          </a:p>
        </p:txBody>
      </p:sp>
      <p:sp>
        <p:nvSpPr>
          <p:cNvPr id="16" name="Text 2">
            <a:extLst>
              <a:ext uri="{FF2B5EF4-FFF2-40B4-BE49-F238E27FC236}">
                <a16:creationId xmlns:a16="http://schemas.microsoft.com/office/drawing/2014/main" id="{30EDB651-3D21-AD34-0AED-343B7CA9A987}"/>
              </a:ext>
            </a:extLst>
          </p:cNvPr>
          <p:cNvSpPr txBox="1"/>
          <p:nvPr/>
        </p:nvSpPr>
        <p:spPr>
          <a:xfrm>
            <a:off x="3779912" y="2276872"/>
            <a:ext cx="5364088" cy="3474720"/>
          </a:xfrm>
          <a:prstGeom prst="rect">
            <a:avLst/>
          </a:prstGeom>
          <a:noFill/>
          <a:ln/>
        </p:spPr>
        <p:txBody>
          <a:bodyPr wrap="square" lIns="0" tIns="0" rIns="0" bIns="0" rtlCol="0" anchor="t"/>
          <a:lstStyle/>
          <a:p>
            <a:pPr>
              <a:spcAft>
                <a:spcPts val="900"/>
              </a:spcAft>
            </a:pPr>
            <a:r>
              <a:rPr lang="en-US" sz="1600" b="1" dirty="0">
                <a:solidFill>
                  <a:schemeClr val="bg1">
                    <a:lumMod val="95000"/>
                  </a:schemeClr>
                </a:solidFill>
              </a:rPr>
              <a:t>1. Reduce the data: </a:t>
            </a:r>
            <a:r>
              <a:rPr lang="en-IN" sz="1600" dirty="0">
                <a:solidFill>
                  <a:schemeClr val="bg1"/>
                </a:solidFill>
              </a:rPr>
              <a:t>PCA was used to reduce the dimensionality of the price series</a:t>
            </a:r>
            <a:r>
              <a:rPr lang="en-IN" sz="1600" dirty="0"/>
              <a:t>.</a:t>
            </a:r>
            <a:r>
              <a:rPr lang="en-US" sz="1600" dirty="0">
                <a:solidFill>
                  <a:schemeClr val="bg1">
                    <a:lumMod val="95000"/>
                  </a:schemeClr>
                </a:solidFill>
              </a:rPr>
              <a:t>.</a:t>
            </a:r>
          </a:p>
          <a:p>
            <a:pPr marL="0" indent="0">
              <a:spcAft>
                <a:spcPts val="900"/>
              </a:spcAft>
              <a:buNone/>
            </a:pPr>
            <a:r>
              <a:rPr lang="en-US" sz="1600" b="1" dirty="0">
                <a:solidFill>
                  <a:schemeClr val="bg1">
                    <a:lumMod val="95000"/>
                  </a:schemeClr>
                </a:solidFill>
              </a:rPr>
              <a:t>2. Assign: </a:t>
            </a:r>
            <a:r>
              <a:rPr lang="en-US" sz="1600" dirty="0">
                <a:solidFill>
                  <a:schemeClr val="bg1">
                    <a:lumMod val="95000"/>
                  </a:schemeClr>
                </a:solidFill>
              </a:rPr>
              <a:t>Every stock joins the cluster with the nearest centre.</a:t>
            </a:r>
          </a:p>
          <a:p>
            <a:pPr marL="0" indent="0">
              <a:spcAft>
                <a:spcPts val="900"/>
              </a:spcAft>
              <a:buNone/>
            </a:pPr>
            <a:r>
              <a:rPr lang="en-US" sz="1600" b="1" dirty="0">
                <a:solidFill>
                  <a:schemeClr val="bg1">
                    <a:lumMod val="95000"/>
                  </a:schemeClr>
                </a:solidFill>
              </a:rPr>
              <a:t>3. Update: </a:t>
            </a:r>
            <a:r>
              <a:rPr lang="en-US" sz="1600" dirty="0">
                <a:solidFill>
                  <a:schemeClr val="bg1">
                    <a:lumMod val="95000"/>
                  </a:schemeClr>
                </a:solidFill>
              </a:rPr>
              <a:t>Each centre moves to the mean of the stocks in its cluster.</a:t>
            </a:r>
          </a:p>
          <a:p>
            <a:pPr marL="0" indent="0">
              <a:spcAft>
                <a:spcPts val="900"/>
              </a:spcAft>
              <a:buNone/>
            </a:pPr>
            <a:r>
              <a:rPr lang="en-US" sz="1600" b="1" dirty="0">
                <a:solidFill>
                  <a:schemeClr val="bg1">
                    <a:lumMod val="95000"/>
                  </a:schemeClr>
                </a:solidFill>
              </a:rPr>
              <a:t>4. Repeat: </a:t>
            </a:r>
            <a:r>
              <a:rPr lang="en-US" sz="1600" dirty="0">
                <a:solidFill>
                  <a:schemeClr val="bg1">
                    <a:lumMod val="95000"/>
                  </a:schemeClr>
                </a:solidFill>
              </a:rPr>
              <a:t>Steps 2 and 3 repeat until no stock changes cluster.</a:t>
            </a:r>
          </a:p>
          <a:p>
            <a:pPr marL="0" indent="0">
              <a:spcAft>
                <a:spcPts val="900"/>
              </a:spcAft>
              <a:buNone/>
            </a:pPr>
            <a:r>
              <a:rPr lang="en-US" sz="1600" b="1" dirty="0">
                <a:solidFill>
                  <a:schemeClr val="bg1">
                    <a:lumMod val="95000"/>
                  </a:schemeClr>
                </a:solidFill>
              </a:rPr>
              <a:t>5. Choose k: </a:t>
            </a:r>
            <a:r>
              <a:rPr lang="en-US" sz="1600" dirty="0">
                <a:solidFill>
                  <a:schemeClr val="bg1">
                    <a:lumMod val="95000"/>
                  </a:schemeClr>
                </a:solidFill>
              </a:rPr>
              <a:t>I tried k from 2 to 10 and judged each value with four validity indices: Silhouette, Calinski-Harabasz, Davies-Bouldin and Dunn.</a:t>
            </a:r>
          </a:p>
        </p:txBody>
      </p:sp>
      <p:pic>
        <p:nvPicPr>
          <p:cNvPr id="18" name="Image 0" descr="K-Means clusters on the first two principal components">
            <a:extLst>
              <a:ext uri="{FF2B5EF4-FFF2-40B4-BE49-F238E27FC236}">
                <a16:creationId xmlns:a16="http://schemas.microsoft.com/office/drawing/2014/main" id="{CEFCFC03-2427-C8FF-B96A-4AA64158CAEA}"/>
              </a:ext>
            </a:extLst>
          </p:cNvPr>
          <p:cNvPicPr>
            <a:picLocks noChangeAspect="1"/>
          </p:cNvPicPr>
          <p:nvPr/>
        </p:nvPicPr>
        <p:blipFill>
          <a:blip r:embed="rId2"/>
          <a:stretch>
            <a:fillRect/>
          </a:stretch>
        </p:blipFill>
        <p:spPr>
          <a:xfrm>
            <a:off x="405880" y="2279050"/>
            <a:ext cx="3086000" cy="2757458"/>
          </a:xfrm>
          <a:prstGeom prst="rect">
            <a:avLst/>
          </a:prstGeom>
        </p:spPr>
      </p:pic>
      <p:sp>
        <p:nvSpPr>
          <p:cNvPr id="22" name="TextBox 21">
            <a:extLst>
              <a:ext uri="{FF2B5EF4-FFF2-40B4-BE49-F238E27FC236}">
                <a16:creationId xmlns:a16="http://schemas.microsoft.com/office/drawing/2014/main" id="{F50D3D85-052A-1F3D-3CE1-9B8AAD761EA6}"/>
              </a:ext>
            </a:extLst>
          </p:cNvPr>
          <p:cNvSpPr txBox="1"/>
          <p:nvPr/>
        </p:nvSpPr>
        <p:spPr>
          <a:xfrm>
            <a:off x="405880" y="5058423"/>
            <a:ext cx="3086000" cy="430887"/>
          </a:xfrm>
          <a:prstGeom prst="rect">
            <a:avLst/>
          </a:prstGeom>
          <a:noFill/>
        </p:spPr>
        <p:txBody>
          <a:bodyPr wrap="square">
            <a:spAutoFit/>
          </a:bodyPr>
          <a:lstStyle/>
          <a:p>
            <a:pPr marL="0" indent="0">
              <a:buNone/>
            </a:pPr>
            <a:r>
              <a:rPr lang="en-US" sz="1100" dirty="0">
                <a:solidFill>
                  <a:schemeClr val="bg1">
                    <a:lumMod val="95000"/>
                  </a:schemeClr>
                </a:solidFill>
              </a:rPr>
              <a:t>PCA view of the 241 stocks, split into two </a:t>
            </a:r>
          </a:p>
          <a:p>
            <a:pPr marL="0" indent="0">
              <a:buNone/>
            </a:pPr>
            <a:r>
              <a:rPr lang="en-US" sz="1100" dirty="0">
                <a:solidFill>
                  <a:schemeClr val="bg1">
                    <a:lumMod val="95000"/>
                  </a:schemeClr>
                </a:solidFill>
              </a:rPr>
              <a:t>K-Means groups (k = 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5CE23-45E9-E49B-43F3-1AD5CD129C91}"/>
              </a:ext>
            </a:extLst>
          </p:cNvPr>
          <p:cNvSpPr>
            <a:spLocks noGrp="1"/>
          </p:cNvSpPr>
          <p:nvPr>
            <p:ph type="title"/>
          </p:nvPr>
        </p:nvSpPr>
        <p:spPr>
          <a:xfrm>
            <a:off x="405880" y="1268760"/>
            <a:ext cx="8738120" cy="1143000"/>
          </a:xfrm>
        </p:spPr>
        <p:txBody>
          <a:bodyPr/>
          <a:lstStyle/>
          <a:p>
            <a:r>
              <a:rPr lang="en-US" sz="2800" dirty="0">
                <a:solidFill>
                  <a:schemeClr val="bg1">
                    <a:lumMod val="95000"/>
                  </a:schemeClr>
                </a:solidFill>
              </a:rPr>
              <a:t>K-Medoids with Dynamic time </a:t>
            </a:r>
            <a:r>
              <a:rPr lang="en-US" sz="2800" dirty="0" err="1">
                <a:solidFill>
                  <a:schemeClr val="bg1">
                    <a:lumMod val="95000"/>
                  </a:schemeClr>
                </a:solidFill>
              </a:rPr>
              <a:t>wraping</a:t>
            </a:r>
            <a:endParaRPr lang="en-IN" sz="2800" dirty="0">
              <a:solidFill>
                <a:schemeClr val="bg1">
                  <a:lumMod val="95000"/>
                </a:schemeClr>
              </a:solidFill>
            </a:endParaRPr>
          </a:p>
        </p:txBody>
      </p:sp>
      <p:sp>
        <p:nvSpPr>
          <p:cNvPr id="4" name="Text 0">
            <a:extLst>
              <a:ext uri="{FF2B5EF4-FFF2-40B4-BE49-F238E27FC236}">
                <a16:creationId xmlns:a16="http://schemas.microsoft.com/office/drawing/2014/main" id="{67C43D37-8AFF-BD6F-35D3-8F6BE6628F75}"/>
              </a:ext>
            </a:extLst>
          </p:cNvPr>
          <p:cNvSpPr txBox="1">
            <a:spLocks/>
          </p:cNvSpPr>
          <p:nvPr/>
        </p:nvSpPr>
        <p:spPr>
          <a:xfrm>
            <a:off x="457200" y="274320"/>
            <a:ext cx="8229600" cy="685800"/>
          </a:xfrm>
          <a:prstGeom prst="rect">
            <a:avLst/>
          </a:prstGeom>
          <a:noFill/>
          <a:ln/>
        </p:spPr>
        <p:txBody>
          <a:bodyPr wrap="square" lIns="0" tIns="0" rIns="0" bIns="0" rtlCol="0" anchor="ctr"/>
          <a:lstStyle>
            <a:lvl1pPr algn="l" rtl="0" fontAlgn="base">
              <a:spcBef>
                <a:spcPct val="0"/>
              </a:spcBef>
              <a:spcAft>
                <a:spcPct val="0"/>
              </a:spcAft>
              <a:defRPr sz="3200" b="1" kern="1200">
                <a:solidFill>
                  <a:schemeClr val="bg1"/>
                </a:solidFill>
                <a:latin typeface="Arial" pitchFamily="34" charset="0"/>
                <a:ea typeface="+mj-ea"/>
                <a:cs typeface="Arial" pitchFamily="34" charset="0"/>
              </a:defRPr>
            </a:lvl1pPr>
            <a:lvl2pPr algn="ctr" rtl="0" fontAlgn="base">
              <a:spcBef>
                <a:spcPct val="0"/>
              </a:spcBef>
              <a:spcAft>
                <a:spcPct val="0"/>
              </a:spcAft>
              <a:defRPr sz="4400">
                <a:solidFill>
                  <a:schemeClr val="tx1"/>
                </a:solidFill>
                <a:latin typeface="Calibri" pitchFamily="34" charset="0"/>
              </a:defRPr>
            </a:lvl2pPr>
            <a:lvl3pPr algn="ctr" rtl="0" fontAlgn="base">
              <a:spcBef>
                <a:spcPct val="0"/>
              </a:spcBef>
              <a:spcAft>
                <a:spcPct val="0"/>
              </a:spcAft>
              <a:defRPr sz="4400">
                <a:solidFill>
                  <a:schemeClr val="tx1"/>
                </a:solidFill>
                <a:latin typeface="Calibri" pitchFamily="34" charset="0"/>
              </a:defRPr>
            </a:lvl3pPr>
            <a:lvl4pPr algn="ctr" rtl="0" fontAlgn="base">
              <a:spcBef>
                <a:spcPct val="0"/>
              </a:spcBef>
              <a:spcAft>
                <a:spcPct val="0"/>
              </a:spcAft>
              <a:defRPr sz="4400">
                <a:solidFill>
                  <a:schemeClr val="tx1"/>
                </a:solidFill>
                <a:latin typeface="Calibri" pitchFamily="34" charset="0"/>
              </a:defRPr>
            </a:lvl4pPr>
            <a:lvl5pPr algn="ctr" rtl="0" fontAlgn="base">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endParaRPr lang="en-US" sz="2800" dirty="0"/>
          </a:p>
        </p:txBody>
      </p:sp>
      <p:pic>
        <p:nvPicPr>
          <p:cNvPr id="5" name="Picture 2" descr="Dynamic time warping - Wikipedia">
            <a:extLst>
              <a:ext uri="{FF2B5EF4-FFF2-40B4-BE49-F238E27FC236}">
                <a16:creationId xmlns:a16="http://schemas.microsoft.com/office/drawing/2014/main" id="{7562361F-39C1-3A0E-8293-6D3728CAB8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5880" y="2411759"/>
            <a:ext cx="3446040" cy="203448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A866C59D-AE45-8DF1-8455-6CB7583CDE5F}"/>
              </a:ext>
            </a:extLst>
          </p:cNvPr>
          <p:cNvSpPr txBox="1"/>
          <p:nvPr/>
        </p:nvSpPr>
        <p:spPr>
          <a:xfrm>
            <a:off x="405880" y="4581128"/>
            <a:ext cx="4310136" cy="430887"/>
          </a:xfrm>
          <a:prstGeom prst="rect">
            <a:avLst/>
          </a:prstGeom>
          <a:noFill/>
        </p:spPr>
        <p:txBody>
          <a:bodyPr wrap="square">
            <a:spAutoFit/>
          </a:bodyPr>
          <a:lstStyle/>
          <a:p>
            <a:pPr marL="0" indent="0">
              <a:buNone/>
            </a:pPr>
            <a:r>
              <a:rPr lang="en-US" sz="1100" i="1" dirty="0">
                <a:solidFill>
                  <a:schemeClr val="bg1">
                    <a:lumMod val="95000"/>
                  </a:schemeClr>
                </a:solidFill>
              </a:rPr>
              <a:t>DTW stretches the time axis so that similar shapes</a:t>
            </a:r>
          </a:p>
          <a:p>
            <a:pPr marL="0" indent="0">
              <a:buNone/>
            </a:pPr>
            <a:r>
              <a:rPr lang="en-US" sz="1100" i="1" dirty="0">
                <a:solidFill>
                  <a:schemeClr val="bg1">
                    <a:lumMod val="95000"/>
                  </a:schemeClr>
                </a:solidFill>
              </a:rPr>
              <a:t>still match.</a:t>
            </a:r>
            <a:endParaRPr lang="en-US" sz="1100" dirty="0">
              <a:solidFill>
                <a:schemeClr val="bg1">
                  <a:lumMod val="95000"/>
                </a:schemeClr>
              </a:solidFill>
            </a:endParaRPr>
          </a:p>
        </p:txBody>
      </p:sp>
      <p:sp>
        <p:nvSpPr>
          <p:cNvPr id="11" name="TextBox 10">
            <a:extLst>
              <a:ext uri="{FF2B5EF4-FFF2-40B4-BE49-F238E27FC236}">
                <a16:creationId xmlns:a16="http://schemas.microsoft.com/office/drawing/2014/main" id="{05D46441-270D-C5B4-F090-9358FEEFFE2A}"/>
              </a:ext>
            </a:extLst>
          </p:cNvPr>
          <p:cNvSpPr txBox="1"/>
          <p:nvPr/>
        </p:nvSpPr>
        <p:spPr>
          <a:xfrm>
            <a:off x="3967660" y="2357044"/>
            <a:ext cx="5004851" cy="3988271"/>
          </a:xfrm>
          <a:prstGeom prst="rect">
            <a:avLst/>
          </a:prstGeom>
          <a:noFill/>
        </p:spPr>
        <p:txBody>
          <a:bodyPr wrap="square">
            <a:spAutoFit/>
          </a:bodyPr>
          <a:lstStyle/>
          <a:p>
            <a:pPr marL="0" indent="0">
              <a:spcAft>
                <a:spcPts val="700"/>
              </a:spcAft>
              <a:buNone/>
            </a:pPr>
            <a:r>
              <a:rPr lang="en-US" sz="1400" b="1" dirty="0">
                <a:solidFill>
                  <a:schemeClr val="bg1">
                    <a:lumMod val="95000"/>
                  </a:schemeClr>
                </a:solidFill>
              </a:rPr>
              <a:t>1. Measure similarity: </a:t>
            </a:r>
            <a:r>
              <a:rPr lang="en-US" sz="1400" dirty="0">
                <a:solidFill>
                  <a:schemeClr val="bg1">
                    <a:lumMod val="95000"/>
                  </a:schemeClr>
                </a:solidFill>
              </a:rPr>
              <a:t>Dynamic Time Warping  compares the full price series of every pair of stocks. It stretches or squeezes the time axis, so the same shape still matches if it happens a few days earlier or later. This gives a table of distances between all stocks.</a:t>
            </a:r>
          </a:p>
          <a:p>
            <a:pPr marL="0" indent="0">
              <a:spcAft>
                <a:spcPts val="700"/>
              </a:spcAft>
              <a:buNone/>
            </a:pPr>
            <a:r>
              <a:rPr lang="en-US" sz="1400" b="1" dirty="0">
                <a:solidFill>
                  <a:schemeClr val="bg1">
                    <a:lumMod val="95000"/>
                  </a:schemeClr>
                </a:solidFill>
              </a:rPr>
              <a:t>2. BUILD: </a:t>
            </a:r>
            <a:r>
              <a:rPr lang="en-US" sz="1400" dirty="0">
                <a:solidFill>
                  <a:schemeClr val="bg1">
                    <a:lumMod val="95000"/>
                  </a:schemeClr>
                </a:solidFill>
              </a:rPr>
              <a:t>Choose k real stocks as the starting medoids: first the stock closest to all the others, then each stock that reduces the total distance the most.</a:t>
            </a:r>
          </a:p>
          <a:p>
            <a:pPr marL="0" indent="0">
              <a:spcAft>
                <a:spcPts val="700"/>
              </a:spcAft>
              <a:buNone/>
            </a:pPr>
            <a:r>
              <a:rPr lang="en-US" sz="1400" b="1" dirty="0">
                <a:solidFill>
                  <a:schemeClr val="bg1">
                    <a:lumMod val="95000"/>
                  </a:schemeClr>
                </a:solidFill>
              </a:rPr>
              <a:t>3. Assign: </a:t>
            </a:r>
            <a:r>
              <a:rPr lang="en-US" sz="1400" dirty="0">
                <a:solidFill>
                  <a:schemeClr val="bg1">
                    <a:lumMod val="95000"/>
                  </a:schemeClr>
                </a:solidFill>
              </a:rPr>
              <a:t>Every stock joins the medoid that is closest to it by DTW distance.</a:t>
            </a:r>
          </a:p>
          <a:p>
            <a:pPr marL="0" indent="0">
              <a:spcAft>
                <a:spcPts val="700"/>
              </a:spcAft>
              <a:buNone/>
            </a:pPr>
            <a:r>
              <a:rPr lang="en-US" sz="1400" b="1" dirty="0">
                <a:solidFill>
                  <a:schemeClr val="bg1">
                    <a:lumMod val="95000"/>
                  </a:schemeClr>
                </a:solidFill>
              </a:rPr>
              <a:t>4. SWAP: </a:t>
            </a:r>
            <a:r>
              <a:rPr lang="en-US" sz="1400" dirty="0">
                <a:solidFill>
                  <a:schemeClr val="bg1">
                    <a:lumMod val="95000"/>
                  </a:schemeClr>
                </a:solidFill>
              </a:rPr>
              <a:t>Try replacing a medoid with another stock, and keep the swap that lowers the total distance the most.</a:t>
            </a:r>
          </a:p>
          <a:p>
            <a:pPr marL="0" indent="0">
              <a:spcAft>
                <a:spcPts val="700"/>
              </a:spcAft>
              <a:buNone/>
            </a:pPr>
            <a:r>
              <a:rPr lang="en-US" sz="1400" b="1" dirty="0">
                <a:solidFill>
                  <a:schemeClr val="bg1">
                    <a:lumMod val="95000"/>
                  </a:schemeClr>
                </a:solidFill>
              </a:rPr>
              <a:t>5. Repeat: </a:t>
            </a:r>
            <a:r>
              <a:rPr lang="en-US" sz="1400" dirty="0">
                <a:solidFill>
                  <a:schemeClr val="bg1">
                    <a:lumMod val="95000"/>
                  </a:schemeClr>
                </a:solidFill>
              </a:rPr>
              <a:t>Assigning and swapping repeat until no swap lowers the total distance.</a:t>
            </a:r>
          </a:p>
          <a:p>
            <a:pPr marL="0" indent="0">
              <a:spcAft>
                <a:spcPts val="700"/>
              </a:spcAft>
              <a:buNone/>
            </a:pPr>
            <a:r>
              <a:rPr lang="en-US" sz="1400" b="1" dirty="0">
                <a:solidFill>
                  <a:schemeClr val="bg1">
                    <a:lumMod val="95000"/>
                  </a:schemeClr>
                </a:solidFill>
              </a:rPr>
              <a:t>6. Result: </a:t>
            </a:r>
            <a:r>
              <a:rPr lang="en-US" sz="1400" dirty="0">
                <a:solidFill>
                  <a:schemeClr val="bg1">
                    <a:lumMod val="95000"/>
                  </a:schemeClr>
                </a:solidFill>
              </a:rPr>
              <a:t>Each cluster is led by a real stock, called its medoid whereas a K-Means </a:t>
            </a:r>
            <a:r>
              <a:rPr lang="en-US" sz="1400" dirty="0" err="1">
                <a:solidFill>
                  <a:schemeClr val="bg1">
                    <a:lumMod val="95000"/>
                  </a:schemeClr>
                </a:solidFill>
              </a:rPr>
              <a:t>centre</a:t>
            </a:r>
            <a:r>
              <a:rPr lang="en-US" sz="1400" dirty="0">
                <a:solidFill>
                  <a:schemeClr val="bg1">
                    <a:lumMod val="95000"/>
                  </a:schemeClr>
                </a:solidFill>
              </a:rPr>
              <a:t> is only an average.</a:t>
            </a:r>
          </a:p>
        </p:txBody>
      </p:sp>
    </p:spTree>
    <p:extLst>
      <p:ext uri="{BB962C8B-B14F-4D97-AF65-F5344CB8AC3E}">
        <p14:creationId xmlns:p14="http://schemas.microsoft.com/office/powerpoint/2010/main" val="32967219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75335-7529-C0D7-635E-6C6C5B755E90}"/>
              </a:ext>
            </a:extLst>
          </p:cNvPr>
          <p:cNvSpPr>
            <a:spLocks noGrp="1"/>
          </p:cNvSpPr>
          <p:nvPr>
            <p:ph type="title"/>
          </p:nvPr>
        </p:nvSpPr>
        <p:spPr>
          <a:xfrm>
            <a:off x="485256" y="1371200"/>
            <a:ext cx="8918648" cy="648072"/>
          </a:xfrm>
        </p:spPr>
        <p:txBody>
          <a:bodyPr/>
          <a:lstStyle/>
          <a:p>
            <a:pPr marL="0" indent="0">
              <a:buNone/>
            </a:pPr>
            <a:r>
              <a:rPr lang="en-US" sz="2800" dirty="0">
                <a:solidFill>
                  <a:schemeClr val="bg1">
                    <a:lumMod val="95000"/>
                  </a:schemeClr>
                </a:solidFill>
              </a:rPr>
              <a:t>Gaussian mixture model with Expectation </a:t>
            </a:r>
            <a:r>
              <a:rPr lang="en-US" sz="2800" dirty="0" err="1">
                <a:solidFill>
                  <a:schemeClr val="bg1">
                    <a:lumMod val="95000"/>
                  </a:schemeClr>
                </a:solidFill>
              </a:rPr>
              <a:t>Maximisation</a:t>
            </a:r>
            <a:r>
              <a:rPr lang="en-US" sz="2800" dirty="0">
                <a:solidFill>
                  <a:schemeClr val="bg1">
                    <a:lumMod val="95000"/>
                  </a:schemeClr>
                </a:solidFill>
              </a:rPr>
              <a:t> </a:t>
            </a:r>
          </a:p>
        </p:txBody>
      </p:sp>
      <p:sp>
        <p:nvSpPr>
          <p:cNvPr id="5" name="TextBox 4">
            <a:extLst>
              <a:ext uri="{FF2B5EF4-FFF2-40B4-BE49-F238E27FC236}">
                <a16:creationId xmlns:a16="http://schemas.microsoft.com/office/drawing/2014/main" id="{EAE6F5D0-5571-6B0E-4E9D-89E87D7A16F1}"/>
              </a:ext>
            </a:extLst>
          </p:cNvPr>
          <p:cNvSpPr txBox="1"/>
          <p:nvPr/>
        </p:nvSpPr>
        <p:spPr>
          <a:xfrm>
            <a:off x="505508" y="3573016"/>
            <a:ext cx="8676456" cy="3139321"/>
          </a:xfrm>
          <a:prstGeom prst="rect">
            <a:avLst/>
          </a:prstGeom>
          <a:noFill/>
        </p:spPr>
        <p:txBody>
          <a:bodyPr wrap="square">
            <a:spAutoFit/>
          </a:bodyPr>
          <a:lstStyle/>
          <a:p>
            <a:pPr lvl="0"/>
            <a:r>
              <a:rPr lang="en-IN" b="1" dirty="0">
                <a:solidFill>
                  <a:schemeClr val="bg1">
                    <a:lumMod val="95000"/>
                  </a:schemeClr>
                </a:solidFill>
              </a:rPr>
              <a:t>Start: </a:t>
            </a:r>
            <a:r>
              <a:rPr lang="en-IN" dirty="0">
                <a:solidFill>
                  <a:schemeClr val="bg1">
                    <a:lumMod val="95000"/>
                  </a:schemeClr>
                </a:solidFill>
              </a:rPr>
              <a:t>Use K-Means to choose initial centres, repeating 20 times to find a good starting point.</a:t>
            </a:r>
          </a:p>
          <a:p>
            <a:pPr lvl="0"/>
            <a:r>
              <a:rPr lang="en-IN" b="1" dirty="0">
                <a:solidFill>
                  <a:schemeClr val="bg1">
                    <a:lumMod val="95000"/>
                  </a:schemeClr>
                </a:solidFill>
              </a:rPr>
              <a:t>E-step: </a:t>
            </a:r>
            <a:r>
              <a:rPr lang="en-IN" dirty="0">
                <a:solidFill>
                  <a:schemeClr val="bg1">
                    <a:lumMod val="95000"/>
                  </a:schemeClr>
                </a:solidFill>
              </a:rPr>
              <a:t>Calculate each stock’s probability of belonging to each cluster.</a:t>
            </a:r>
          </a:p>
          <a:p>
            <a:pPr lvl="0"/>
            <a:r>
              <a:rPr lang="en-IN" b="1" dirty="0">
                <a:solidFill>
                  <a:schemeClr val="bg1">
                    <a:lumMod val="95000"/>
                  </a:schemeClr>
                </a:solidFill>
              </a:rPr>
              <a:t>M-step: </a:t>
            </a:r>
            <a:r>
              <a:rPr lang="en-IN" dirty="0">
                <a:solidFill>
                  <a:schemeClr val="bg1">
                    <a:lumMod val="95000"/>
                  </a:schemeClr>
                </a:solidFill>
              </a:rPr>
              <a:t>Update each cluster’s centre, spread and size, weighting stocks by their membership probabilities.</a:t>
            </a:r>
          </a:p>
          <a:p>
            <a:pPr lvl="0"/>
            <a:r>
              <a:rPr lang="en-IN" b="1" dirty="0">
                <a:solidFill>
                  <a:schemeClr val="bg1">
                    <a:lumMod val="95000"/>
                  </a:schemeClr>
                </a:solidFill>
              </a:rPr>
              <a:t>Repeat</a:t>
            </a:r>
            <a:r>
              <a:rPr lang="en-IN" dirty="0">
                <a:solidFill>
                  <a:schemeClr val="bg1">
                    <a:lumMod val="95000"/>
                  </a:schemeClr>
                </a:solidFill>
              </a:rPr>
              <a:t>: Alternate between the E-step and M-step until the likelihood stops improving, up to 500 iterations.</a:t>
            </a:r>
          </a:p>
          <a:p>
            <a:pPr lvl="0"/>
            <a:r>
              <a:rPr lang="en-IN" b="1" dirty="0">
                <a:solidFill>
                  <a:schemeClr val="bg1">
                    <a:lumMod val="95000"/>
                  </a:schemeClr>
                </a:solidFill>
              </a:rPr>
              <a:t>Choose the model</a:t>
            </a:r>
            <a:r>
              <a:rPr lang="en-IN" dirty="0">
                <a:solidFill>
                  <a:schemeClr val="bg1">
                    <a:lumMod val="95000"/>
                  </a:schemeClr>
                </a:solidFill>
              </a:rPr>
              <a:t>: Compare models with different cluster numbers and covariance shapes, selecting the one with the lowest BIC.</a:t>
            </a:r>
          </a:p>
          <a:p>
            <a:pPr lvl="0"/>
            <a:r>
              <a:rPr lang="en-IN" b="1" dirty="0">
                <a:solidFill>
                  <a:schemeClr val="bg1">
                    <a:lumMod val="95000"/>
                  </a:schemeClr>
                </a:solidFill>
              </a:rPr>
              <a:t>Assign clusters</a:t>
            </a:r>
            <a:r>
              <a:rPr lang="en-IN" dirty="0">
                <a:solidFill>
                  <a:schemeClr val="bg1">
                    <a:lumMod val="95000"/>
                  </a:schemeClr>
                </a:solidFill>
              </a:rPr>
              <a:t>: Assign each stock to its most probable cluster and flag stocks with a maximum probability below 70% as uncertain.</a:t>
            </a:r>
          </a:p>
        </p:txBody>
      </p:sp>
      <p:sp>
        <p:nvSpPr>
          <p:cNvPr id="6" name="TextBox 5">
            <a:extLst>
              <a:ext uri="{FF2B5EF4-FFF2-40B4-BE49-F238E27FC236}">
                <a16:creationId xmlns:a16="http://schemas.microsoft.com/office/drawing/2014/main" id="{3A0CDE30-3CD9-F168-D304-47C2B007F625}"/>
              </a:ext>
            </a:extLst>
          </p:cNvPr>
          <p:cNvSpPr txBox="1"/>
          <p:nvPr/>
        </p:nvSpPr>
        <p:spPr>
          <a:xfrm>
            <a:off x="505508" y="3054151"/>
            <a:ext cx="3464410" cy="461665"/>
          </a:xfrm>
          <a:prstGeom prst="rect">
            <a:avLst/>
          </a:prstGeom>
          <a:noFill/>
        </p:spPr>
        <p:txBody>
          <a:bodyPr wrap="none" rtlCol="0">
            <a:spAutoFit/>
          </a:bodyPr>
          <a:lstStyle/>
          <a:p>
            <a:pPr marL="0" indent="0">
              <a:buNone/>
            </a:pPr>
            <a:r>
              <a:rPr lang="en-US" sz="2400" b="1" dirty="0">
                <a:solidFill>
                  <a:schemeClr val="bg1">
                    <a:lumMod val="95000"/>
                  </a:schemeClr>
                </a:solidFill>
              </a:rPr>
              <a:t>How EM fits the model</a:t>
            </a:r>
            <a:endParaRPr lang="en-US" sz="2400" dirty="0">
              <a:solidFill>
                <a:schemeClr val="bg1">
                  <a:lumMod val="95000"/>
                </a:schemeClr>
              </a:solidFill>
            </a:endParaRPr>
          </a:p>
        </p:txBody>
      </p:sp>
      <p:sp>
        <p:nvSpPr>
          <p:cNvPr id="8" name="TextBox 7">
            <a:extLst>
              <a:ext uri="{FF2B5EF4-FFF2-40B4-BE49-F238E27FC236}">
                <a16:creationId xmlns:a16="http://schemas.microsoft.com/office/drawing/2014/main" id="{30C4F5A6-4E3B-BE7A-FA75-F5DECA7EE31C}"/>
              </a:ext>
            </a:extLst>
          </p:cNvPr>
          <p:cNvSpPr txBox="1"/>
          <p:nvPr/>
        </p:nvSpPr>
        <p:spPr>
          <a:xfrm>
            <a:off x="466274" y="2253932"/>
            <a:ext cx="8375847" cy="800219"/>
          </a:xfrm>
          <a:prstGeom prst="rect">
            <a:avLst/>
          </a:prstGeom>
          <a:noFill/>
        </p:spPr>
        <p:txBody>
          <a:bodyPr wrap="square">
            <a:spAutoFit/>
          </a:bodyPr>
          <a:lstStyle/>
          <a:p>
            <a:r>
              <a:rPr lang="en-IN" sz="1600" dirty="0">
                <a:solidFill>
                  <a:schemeClr val="bg1">
                    <a:lumMod val="95000"/>
                  </a:schemeClr>
                </a:solidFill>
              </a:rPr>
              <a:t>GMM groups stocks into overlapping clusters, assigning each a membership probability. EM fits the clusters to the data.</a:t>
            </a:r>
          </a:p>
          <a:p>
            <a:endParaRPr lang="en-IN" sz="1400" dirty="0">
              <a:solidFill>
                <a:schemeClr val="bg1">
                  <a:lumMod val="95000"/>
                </a:schemeClr>
              </a:solidFill>
            </a:endParaRPr>
          </a:p>
        </p:txBody>
      </p:sp>
    </p:spTree>
    <p:extLst>
      <p:ext uri="{BB962C8B-B14F-4D97-AF65-F5344CB8AC3E}">
        <p14:creationId xmlns:p14="http://schemas.microsoft.com/office/powerpoint/2010/main" val="1341808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EFCAB-C63B-07AC-20B9-CE6766BCDC40}"/>
              </a:ext>
            </a:extLst>
          </p:cNvPr>
          <p:cNvSpPr>
            <a:spLocks noGrp="1"/>
          </p:cNvSpPr>
          <p:nvPr>
            <p:ph type="title"/>
          </p:nvPr>
        </p:nvSpPr>
        <p:spPr>
          <a:xfrm>
            <a:off x="405880" y="1268760"/>
            <a:ext cx="8918648" cy="1143000"/>
          </a:xfrm>
        </p:spPr>
        <p:txBody>
          <a:bodyPr/>
          <a:lstStyle/>
          <a:p>
            <a:r>
              <a:rPr lang="en-US" sz="2800" dirty="0">
                <a:solidFill>
                  <a:schemeClr val="bg1">
                    <a:lumMod val="95000"/>
                  </a:schemeClr>
                </a:solidFill>
              </a:rPr>
              <a:t>Consensus clustering: are the groups stable?</a:t>
            </a:r>
            <a:endParaRPr lang="en-IN" sz="2800" dirty="0">
              <a:solidFill>
                <a:schemeClr val="bg1">
                  <a:lumMod val="95000"/>
                </a:schemeClr>
              </a:solidFill>
            </a:endParaRPr>
          </a:p>
        </p:txBody>
      </p:sp>
      <p:sp>
        <p:nvSpPr>
          <p:cNvPr id="5" name="TextBox 4">
            <a:extLst>
              <a:ext uri="{FF2B5EF4-FFF2-40B4-BE49-F238E27FC236}">
                <a16:creationId xmlns:a16="http://schemas.microsoft.com/office/drawing/2014/main" id="{778D8149-154C-2AC7-3237-9908201A8C5F}"/>
              </a:ext>
            </a:extLst>
          </p:cNvPr>
          <p:cNvSpPr txBox="1"/>
          <p:nvPr/>
        </p:nvSpPr>
        <p:spPr>
          <a:xfrm>
            <a:off x="467544" y="2439271"/>
            <a:ext cx="4662236" cy="3254737"/>
          </a:xfrm>
          <a:prstGeom prst="rect">
            <a:avLst/>
          </a:prstGeom>
          <a:noFill/>
        </p:spPr>
        <p:txBody>
          <a:bodyPr wrap="square">
            <a:spAutoFit/>
          </a:bodyPr>
          <a:lstStyle/>
          <a:p>
            <a:pPr marL="0" indent="0">
              <a:spcAft>
                <a:spcPts val="900"/>
              </a:spcAft>
              <a:buNone/>
            </a:pPr>
            <a:r>
              <a:rPr lang="en-US" sz="1400" b="1" dirty="0">
                <a:solidFill>
                  <a:schemeClr val="bg1">
                    <a:lumMod val="95000"/>
                  </a:schemeClr>
                </a:solidFill>
              </a:rPr>
              <a:t>What it tests. </a:t>
            </a:r>
            <a:r>
              <a:rPr lang="en-US" sz="1400" dirty="0">
                <a:solidFill>
                  <a:schemeClr val="bg1">
                    <a:lumMod val="95000"/>
                  </a:schemeClr>
                </a:solidFill>
              </a:rPr>
              <a:t>Consensus clustering checks whether the groups stay the same when the data changes slightly.</a:t>
            </a:r>
          </a:p>
          <a:p>
            <a:pPr marL="0" indent="0">
              <a:spcAft>
                <a:spcPts val="900"/>
              </a:spcAft>
              <a:buNone/>
            </a:pPr>
            <a:r>
              <a:rPr lang="en-US" sz="1400" b="1" dirty="0">
                <a:solidFill>
                  <a:schemeClr val="bg1">
                    <a:lumMod val="95000"/>
                  </a:schemeClr>
                </a:solidFill>
              </a:rPr>
              <a:t>1. Subsample. </a:t>
            </a:r>
            <a:r>
              <a:rPr lang="en-US" sz="1400" dirty="0">
                <a:solidFill>
                  <a:schemeClr val="bg1">
                    <a:lumMod val="95000"/>
                  </a:schemeClr>
                </a:solidFill>
              </a:rPr>
              <a:t>Draw 100 random samples, each containing 80% of the stocks.</a:t>
            </a:r>
          </a:p>
          <a:p>
            <a:pPr marL="0" indent="0">
              <a:spcAft>
                <a:spcPts val="900"/>
              </a:spcAft>
              <a:buNone/>
            </a:pPr>
            <a:r>
              <a:rPr lang="en-US" sz="1400" b="1" dirty="0">
                <a:solidFill>
                  <a:schemeClr val="bg1">
                    <a:lumMod val="95000"/>
                  </a:schemeClr>
                </a:solidFill>
              </a:rPr>
              <a:t>2. Cluster. </a:t>
            </a:r>
            <a:r>
              <a:rPr lang="en-US" sz="1400" dirty="0">
                <a:solidFill>
                  <a:schemeClr val="bg1">
                    <a:lumMod val="95000"/>
                  </a:schemeClr>
                </a:solidFill>
              </a:rPr>
              <a:t>Run the same algorithm on every sample.</a:t>
            </a:r>
          </a:p>
          <a:p>
            <a:pPr marL="0" indent="0">
              <a:spcAft>
                <a:spcPts val="900"/>
              </a:spcAft>
              <a:buNone/>
            </a:pPr>
            <a:r>
              <a:rPr lang="en-US" sz="1400" b="1" dirty="0">
                <a:solidFill>
                  <a:schemeClr val="bg1">
                    <a:lumMod val="95000"/>
                  </a:schemeClr>
                </a:solidFill>
              </a:rPr>
              <a:t>3. Count. </a:t>
            </a:r>
            <a:r>
              <a:rPr lang="en-US" sz="1400" dirty="0">
                <a:solidFill>
                  <a:schemeClr val="bg1">
                    <a:lumMod val="95000"/>
                  </a:schemeClr>
                </a:solidFill>
              </a:rPr>
              <a:t>Record how often each pair of stocks ends up in the same cluster.</a:t>
            </a:r>
          </a:p>
          <a:p>
            <a:pPr marL="0" indent="0">
              <a:spcAft>
                <a:spcPts val="900"/>
              </a:spcAft>
              <a:buNone/>
            </a:pPr>
            <a:r>
              <a:rPr lang="en-US" sz="1400" b="1" dirty="0">
                <a:solidFill>
                  <a:schemeClr val="bg1">
                    <a:lumMod val="95000"/>
                  </a:schemeClr>
                </a:solidFill>
              </a:rPr>
              <a:t>4. Read the matrix. </a:t>
            </a:r>
            <a:r>
              <a:rPr lang="en-US" sz="1400" dirty="0">
                <a:solidFill>
                  <a:schemeClr val="bg1">
                    <a:lumMod val="95000"/>
                  </a:schemeClr>
                </a:solidFill>
              </a:rPr>
              <a:t>A value of 1 (dark red) means a pair is always together, and 0 (white) means it is never together.</a:t>
            </a:r>
          </a:p>
          <a:p>
            <a:pPr marL="0" indent="0">
              <a:spcAft>
                <a:spcPts val="900"/>
              </a:spcAft>
              <a:buNone/>
            </a:pPr>
            <a:r>
              <a:rPr lang="en-US" sz="1400" b="1" dirty="0">
                <a:solidFill>
                  <a:schemeClr val="bg1">
                    <a:lumMod val="95000"/>
                  </a:schemeClr>
                </a:solidFill>
              </a:rPr>
              <a:t>Result. </a:t>
            </a:r>
            <a:r>
              <a:rPr lang="en-US" sz="1400" dirty="0">
                <a:solidFill>
                  <a:schemeClr val="bg1">
                    <a:lumMod val="95000"/>
                  </a:schemeClr>
                </a:solidFill>
              </a:rPr>
              <a:t>Dark blocks along the diagonal mean stable groups. I use this to test stability, not to choose k.</a:t>
            </a:r>
          </a:p>
        </p:txBody>
      </p:sp>
      <p:sp>
        <p:nvSpPr>
          <p:cNvPr id="7" name="Text 1">
            <a:extLst>
              <a:ext uri="{FF2B5EF4-FFF2-40B4-BE49-F238E27FC236}">
                <a16:creationId xmlns:a16="http://schemas.microsoft.com/office/drawing/2014/main" id="{E9C9F4BA-282A-B090-0AFC-8283EA992E65}"/>
              </a:ext>
            </a:extLst>
          </p:cNvPr>
          <p:cNvSpPr txBox="1"/>
          <p:nvPr/>
        </p:nvSpPr>
        <p:spPr>
          <a:xfrm>
            <a:off x="812616" y="2048051"/>
            <a:ext cx="4297680" cy="3566160"/>
          </a:xfrm>
          <a:prstGeom prst="rect">
            <a:avLst/>
          </a:prstGeom>
          <a:noFill/>
          <a:ln/>
        </p:spPr>
        <p:txBody>
          <a:bodyPr wrap="square" lIns="0" tIns="0" rIns="0" bIns="0" rtlCol="0" anchor="t"/>
          <a:lstStyle/>
          <a:p>
            <a:pPr marL="0" indent="0">
              <a:spcAft>
                <a:spcPts val="900"/>
              </a:spcAft>
              <a:buNone/>
            </a:pPr>
            <a:endParaRPr lang="en-US" sz="1300" dirty="0"/>
          </a:p>
        </p:txBody>
      </p:sp>
      <p:pic>
        <p:nvPicPr>
          <p:cNvPr id="4" name="Image 1" descr="Consensus matrix at the chosen k">
            <a:extLst>
              <a:ext uri="{FF2B5EF4-FFF2-40B4-BE49-F238E27FC236}">
                <a16:creationId xmlns:a16="http://schemas.microsoft.com/office/drawing/2014/main" id="{F2ED6225-B197-DCF3-833F-485E010EF81F}"/>
              </a:ext>
            </a:extLst>
          </p:cNvPr>
          <p:cNvPicPr>
            <a:picLocks noChangeAspect="1"/>
          </p:cNvPicPr>
          <p:nvPr/>
        </p:nvPicPr>
        <p:blipFill>
          <a:blip r:embed="rId2"/>
          <a:stretch>
            <a:fillRect/>
          </a:stretch>
        </p:blipFill>
        <p:spPr>
          <a:xfrm>
            <a:off x="5110678" y="2132858"/>
            <a:ext cx="3925818" cy="3600398"/>
          </a:xfrm>
          <a:prstGeom prst="rect">
            <a:avLst/>
          </a:prstGeom>
        </p:spPr>
      </p:pic>
    </p:spTree>
    <p:extLst>
      <p:ext uri="{BB962C8B-B14F-4D97-AF65-F5344CB8AC3E}">
        <p14:creationId xmlns:p14="http://schemas.microsoft.com/office/powerpoint/2010/main" val="40182528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7B5DE3-D460-82CE-E112-CEB9EE1ABA84}"/>
              </a:ext>
            </a:extLst>
          </p:cNvPr>
          <p:cNvSpPr>
            <a:spLocks noGrp="1"/>
          </p:cNvSpPr>
          <p:nvPr>
            <p:ph type="title"/>
          </p:nvPr>
        </p:nvSpPr>
        <p:spPr>
          <a:xfrm>
            <a:off x="2627784" y="2857500"/>
            <a:ext cx="5842992" cy="1143000"/>
          </a:xfrm>
        </p:spPr>
        <p:txBody>
          <a:bodyPr/>
          <a:lstStyle/>
          <a:p>
            <a:r>
              <a:rPr lang="en-IN" sz="5400" dirty="0"/>
              <a:t>RESULTS</a:t>
            </a:r>
          </a:p>
        </p:txBody>
      </p:sp>
    </p:spTree>
    <p:extLst>
      <p:ext uri="{BB962C8B-B14F-4D97-AF65-F5344CB8AC3E}">
        <p14:creationId xmlns:p14="http://schemas.microsoft.com/office/powerpoint/2010/main" val="10785688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83FCC-7D56-F799-8093-0AB6FAC645C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6B902FB-1F71-DF17-45DB-4946D688ECE2}"/>
              </a:ext>
            </a:extLst>
          </p:cNvPr>
          <p:cNvSpPr txBox="1"/>
          <p:nvPr/>
        </p:nvSpPr>
        <p:spPr>
          <a:xfrm>
            <a:off x="446747" y="1268760"/>
            <a:ext cx="6153377" cy="461665"/>
          </a:xfrm>
          <a:prstGeom prst="rect">
            <a:avLst/>
          </a:prstGeom>
          <a:noFill/>
        </p:spPr>
        <p:txBody>
          <a:bodyPr wrap="square">
            <a:spAutoFit/>
          </a:bodyPr>
          <a:lstStyle/>
          <a:p>
            <a:r>
              <a:rPr lang="en-US" sz="2400" b="1" dirty="0">
                <a:solidFill>
                  <a:schemeClr val="bg1">
                    <a:lumMod val="95000"/>
                  </a:schemeClr>
                </a:solidFill>
              </a:rPr>
              <a:t>K-Means finds two stable groups</a:t>
            </a:r>
            <a:endParaRPr lang="en-IN" sz="1600" dirty="0">
              <a:solidFill>
                <a:schemeClr val="bg1">
                  <a:lumMod val="95000"/>
                </a:schemeClr>
              </a:solidFill>
            </a:endParaRPr>
          </a:p>
        </p:txBody>
      </p:sp>
      <p:sp>
        <p:nvSpPr>
          <p:cNvPr id="6" name="TextBox 5">
            <a:extLst>
              <a:ext uri="{FF2B5EF4-FFF2-40B4-BE49-F238E27FC236}">
                <a16:creationId xmlns:a16="http://schemas.microsoft.com/office/drawing/2014/main" id="{A4223B6B-F1A8-3D5A-9F2B-72AB91D732CF}"/>
              </a:ext>
            </a:extLst>
          </p:cNvPr>
          <p:cNvSpPr txBox="1"/>
          <p:nvPr/>
        </p:nvSpPr>
        <p:spPr>
          <a:xfrm>
            <a:off x="467544" y="1946449"/>
            <a:ext cx="8568952" cy="338554"/>
          </a:xfrm>
          <a:prstGeom prst="rect">
            <a:avLst/>
          </a:prstGeom>
          <a:noFill/>
        </p:spPr>
        <p:txBody>
          <a:bodyPr wrap="square">
            <a:spAutoFit/>
          </a:bodyPr>
          <a:lstStyle/>
          <a:p>
            <a:pPr marL="0" indent="0">
              <a:buNone/>
            </a:pPr>
            <a:r>
              <a:rPr lang="en-US" sz="1600" b="1" dirty="0">
                <a:solidFill>
                  <a:schemeClr val="bg1">
                    <a:lumMod val="95000"/>
                  </a:schemeClr>
                </a:solidFill>
              </a:rPr>
              <a:t>All four validity indices choose k = 2. </a:t>
            </a:r>
          </a:p>
        </p:txBody>
      </p:sp>
      <p:sp>
        <p:nvSpPr>
          <p:cNvPr id="8" name="Text 1">
            <a:extLst>
              <a:ext uri="{FF2B5EF4-FFF2-40B4-BE49-F238E27FC236}">
                <a16:creationId xmlns:a16="http://schemas.microsoft.com/office/drawing/2014/main" id="{A664B1B1-F064-D8EB-8B7E-1918DB46B198}"/>
              </a:ext>
            </a:extLst>
          </p:cNvPr>
          <p:cNvSpPr txBox="1"/>
          <p:nvPr/>
        </p:nvSpPr>
        <p:spPr>
          <a:xfrm>
            <a:off x="755576" y="2422024"/>
            <a:ext cx="8229600" cy="457200"/>
          </a:xfrm>
          <a:prstGeom prst="rect">
            <a:avLst/>
          </a:prstGeom>
          <a:noFill/>
          <a:ln/>
        </p:spPr>
        <p:txBody>
          <a:bodyPr wrap="square" lIns="0" tIns="0" rIns="0" bIns="0" rtlCol="0" anchor="t"/>
          <a:lstStyle/>
          <a:p>
            <a:pPr marL="0" indent="0">
              <a:buNone/>
            </a:pPr>
            <a:endParaRPr lang="en-US" sz="1300" dirty="0"/>
          </a:p>
        </p:txBody>
      </p:sp>
      <p:pic>
        <p:nvPicPr>
          <p:cNvPr id="10" name="Image 0" descr="Validity indices for K-Means">
            <a:extLst>
              <a:ext uri="{FF2B5EF4-FFF2-40B4-BE49-F238E27FC236}">
                <a16:creationId xmlns:a16="http://schemas.microsoft.com/office/drawing/2014/main" id="{58EDD7E3-01B5-19BB-0902-5262C8ABC13F}"/>
              </a:ext>
            </a:extLst>
          </p:cNvPr>
          <p:cNvPicPr>
            <a:picLocks noChangeAspect="1"/>
          </p:cNvPicPr>
          <p:nvPr/>
        </p:nvPicPr>
        <p:blipFill>
          <a:blip r:embed="rId2"/>
          <a:stretch>
            <a:fillRect/>
          </a:stretch>
        </p:blipFill>
        <p:spPr>
          <a:xfrm>
            <a:off x="1475656" y="2501026"/>
            <a:ext cx="6552728" cy="4024317"/>
          </a:xfrm>
          <a:prstGeom prst="rect">
            <a:avLst/>
          </a:prstGeom>
        </p:spPr>
      </p:pic>
    </p:spTree>
    <p:extLst>
      <p:ext uri="{BB962C8B-B14F-4D97-AF65-F5344CB8AC3E}">
        <p14:creationId xmlns:p14="http://schemas.microsoft.com/office/powerpoint/2010/main" val="12675147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DED180-DD34-3861-D313-68D5F595855D}"/>
            </a:ext>
          </a:extLst>
        </p:cNvPr>
        <p:cNvGrpSpPr/>
        <p:nvPr/>
      </p:nvGrpSpPr>
      <p:grpSpPr>
        <a:xfrm>
          <a:off x="0" y="0"/>
          <a:ext cx="0" cy="0"/>
          <a:chOff x="0" y="0"/>
          <a:chExt cx="0" cy="0"/>
        </a:xfrm>
      </p:grpSpPr>
      <p:pic>
        <p:nvPicPr>
          <p:cNvPr id="4" name="Image 1" descr="Standardised prices in each K-Means cluster">
            <a:extLst>
              <a:ext uri="{FF2B5EF4-FFF2-40B4-BE49-F238E27FC236}">
                <a16:creationId xmlns:a16="http://schemas.microsoft.com/office/drawing/2014/main" id="{377918C6-58F0-9EE1-0217-01C823815C90}"/>
              </a:ext>
            </a:extLst>
          </p:cNvPr>
          <p:cNvPicPr>
            <a:picLocks noChangeAspect="1"/>
          </p:cNvPicPr>
          <p:nvPr/>
        </p:nvPicPr>
        <p:blipFill>
          <a:blip r:embed="rId2"/>
          <a:stretch>
            <a:fillRect/>
          </a:stretch>
        </p:blipFill>
        <p:spPr>
          <a:xfrm>
            <a:off x="539552" y="1700808"/>
            <a:ext cx="8280920" cy="3072368"/>
          </a:xfrm>
          <a:prstGeom prst="rect">
            <a:avLst/>
          </a:prstGeom>
        </p:spPr>
      </p:pic>
      <p:sp>
        <p:nvSpPr>
          <p:cNvPr id="6" name="TextBox 5">
            <a:extLst>
              <a:ext uri="{FF2B5EF4-FFF2-40B4-BE49-F238E27FC236}">
                <a16:creationId xmlns:a16="http://schemas.microsoft.com/office/drawing/2014/main" id="{BFA05895-259B-81B8-5D43-F0D4EFB271BE}"/>
              </a:ext>
            </a:extLst>
          </p:cNvPr>
          <p:cNvSpPr txBox="1"/>
          <p:nvPr/>
        </p:nvSpPr>
        <p:spPr>
          <a:xfrm>
            <a:off x="539552" y="5445224"/>
            <a:ext cx="8064896" cy="992579"/>
          </a:xfrm>
          <a:prstGeom prst="rect">
            <a:avLst/>
          </a:prstGeom>
          <a:noFill/>
        </p:spPr>
        <p:txBody>
          <a:bodyPr wrap="square">
            <a:spAutoFit/>
          </a:bodyPr>
          <a:lstStyle/>
          <a:p>
            <a:pPr marL="0" indent="0">
              <a:spcAft>
                <a:spcPts val="300"/>
              </a:spcAft>
              <a:buNone/>
            </a:pPr>
            <a:r>
              <a:rPr lang="en-US" sz="1400" b="1" dirty="0">
                <a:solidFill>
                  <a:schemeClr val="bg1">
                    <a:lumMod val="95000"/>
                  </a:schemeClr>
                </a:solidFill>
              </a:rPr>
              <a:t>Cluster 0 (rising, 130 stocks): </a:t>
            </a:r>
            <a:r>
              <a:rPr lang="en-US" sz="1400" dirty="0">
                <a:solidFill>
                  <a:schemeClr val="bg1">
                    <a:lumMod val="95000"/>
                  </a:schemeClr>
                </a:solidFill>
              </a:rPr>
              <a:t>BlackRock World Mining Trust, JPMorgan Global Growth &amp; Income, AJ Bell, </a:t>
            </a:r>
            <a:r>
              <a:rPr lang="en-US" sz="1400" dirty="0" err="1">
                <a:solidFill>
                  <a:schemeClr val="bg1">
                    <a:lumMod val="95000"/>
                  </a:schemeClr>
                </a:solidFill>
              </a:rPr>
              <a:t>HgCapital</a:t>
            </a:r>
            <a:r>
              <a:rPr lang="en-US" sz="1400" dirty="0">
                <a:solidFill>
                  <a:schemeClr val="bg1">
                    <a:lumMod val="95000"/>
                  </a:schemeClr>
                </a:solidFill>
              </a:rPr>
              <a:t> Trust, 3i Infrastructure and Rotork.</a:t>
            </a:r>
          </a:p>
          <a:p>
            <a:pPr marL="0" indent="0">
              <a:spcAft>
                <a:spcPts val="300"/>
              </a:spcAft>
              <a:buNone/>
            </a:pPr>
            <a:r>
              <a:rPr lang="en-US" sz="1400" b="1" dirty="0">
                <a:solidFill>
                  <a:schemeClr val="bg1">
                    <a:lumMod val="95000"/>
                  </a:schemeClr>
                </a:solidFill>
              </a:rPr>
              <a:t>Cluster 1 (falling, 111 stocks): </a:t>
            </a:r>
            <a:r>
              <a:rPr lang="en-US" sz="1400" dirty="0">
                <a:solidFill>
                  <a:schemeClr val="bg1">
                    <a:lumMod val="95000"/>
                  </a:schemeClr>
                </a:solidFill>
              </a:rPr>
              <a:t>Spire Healthcare, easyJet, Frasers Group, J D Wetherspoon, Greggs and Taylor Wimpey.</a:t>
            </a:r>
          </a:p>
        </p:txBody>
      </p:sp>
      <p:sp>
        <p:nvSpPr>
          <p:cNvPr id="8" name="TextBox 7">
            <a:extLst>
              <a:ext uri="{FF2B5EF4-FFF2-40B4-BE49-F238E27FC236}">
                <a16:creationId xmlns:a16="http://schemas.microsoft.com/office/drawing/2014/main" id="{8DAB267A-018E-468B-CE36-2E64EC1EF112}"/>
              </a:ext>
            </a:extLst>
          </p:cNvPr>
          <p:cNvSpPr txBox="1"/>
          <p:nvPr/>
        </p:nvSpPr>
        <p:spPr>
          <a:xfrm>
            <a:off x="2339752" y="4862978"/>
            <a:ext cx="5721329" cy="246221"/>
          </a:xfrm>
          <a:prstGeom prst="rect">
            <a:avLst/>
          </a:prstGeom>
          <a:noFill/>
        </p:spPr>
        <p:txBody>
          <a:bodyPr wrap="square">
            <a:spAutoFit/>
          </a:bodyPr>
          <a:lstStyle/>
          <a:p>
            <a:pPr marL="0" indent="0">
              <a:buNone/>
            </a:pPr>
            <a:r>
              <a:rPr lang="en-US" sz="1000" i="1" dirty="0" err="1">
                <a:solidFill>
                  <a:schemeClr val="bg1">
                    <a:lumMod val="95000"/>
                  </a:schemeClr>
                </a:solidFill>
              </a:rPr>
              <a:t>Standardised</a:t>
            </a:r>
            <a:r>
              <a:rPr lang="en-US" sz="1000" i="1" dirty="0">
                <a:solidFill>
                  <a:schemeClr val="bg1">
                    <a:lumMod val="95000"/>
                  </a:schemeClr>
                </a:solidFill>
              </a:rPr>
              <a:t> prices: Cluster 0 rises and Cluster 1 falls (the red line is the cluster mean).</a:t>
            </a:r>
            <a:endParaRPr lang="en-US" sz="1000" dirty="0">
              <a:solidFill>
                <a:schemeClr val="bg1">
                  <a:lumMod val="95000"/>
                </a:schemeClr>
              </a:solidFill>
            </a:endParaRPr>
          </a:p>
        </p:txBody>
      </p:sp>
      <p:sp>
        <p:nvSpPr>
          <p:cNvPr id="10" name="TextBox 9">
            <a:extLst>
              <a:ext uri="{FF2B5EF4-FFF2-40B4-BE49-F238E27FC236}">
                <a16:creationId xmlns:a16="http://schemas.microsoft.com/office/drawing/2014/main" id="{C6A8A8D9-C958-1D54-5B34-237BADCDFF5A}"/>
              </a:ext>
            </a:extLst>
          </p:cNvPr>
          <p:cNvSpPr txBox="1"/>
          <p:nvPr/>
        </p:nvSpPr>
        <p:spPr>
          <a:xfrm>
            <a:off x="395536" y="1149341"/>
            <a:ext cx="6729442" cy="461665"/>
          </a:xfrm>
          <a:prstGeom prst="rect">
            <a:avLst/>
          </a:prstGeom>
          <a:noFill/>
        </p:spPr>
        <p:txBody>
          <a:bodyPr wrap="square">
            <a:spAutoFit/>
          </a:bodyPr>
          <a:lstStyle/>
          <a:p>
            <a:r>
              <a:rPr lang="en-US" sz="2400" b="1" dirty="0">
                <a:solidFill>
                  <a:schemeClr val="bg1">
                    <a:lumMod val="95000"/>
                  </a:schemeClr>
                </a:solidFill>
              </a:rPr>
              <a:t>The two clusters contain 130 and 111 stocks</a:t>
            </a:r>
            <a:endParaRPr lang="en-IN" sz="3600" b="1" dirty="0">
              <a:solidFill>
                <a:schemeClr val="bg1">
                  <a:lumMod val="95000"/>
                </a:schemeClr>
              </a:solidFill>
            </a:endParaRPr>
          </a:p>
        </p:txBody>
      </p:sp>
    </p:spTree>
    <p:extLst>
      <p:ext uri="{BB962C8B-B14F-4D97-AF65-F5344CB8AC3E}">
        <p14:creationId xmlns:p14="http://schemas.microsoft.com/office/powerpoint/2010/main" val="16000888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D503C-0D8B-4DA1-DD8F-CB8FF66A791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8DE9A69-567D-0B30-D90C-3A8B535F54D9}"/>
              </a:ext>
            </a:extLst>
          </p:cNvPr>
          <p:cNvSpPr txBox="1"/>
          <p:nvPr/>
        </p:nvSpPr>
        <p:spPr>
          <a:xfrm>
            <a:off x="539552" y="1412776"/>
            <a:ext cx="8208912" cy="461665"/>
          </a:xfrm>
          <a:prstGeom prst="rect">
            <a:avLst/>
          </a:prstGeom>
          <a:noFill/>
        </p:spPr>
        <p:txBody>
          <a:bodyPr wrap="square">
            <a:spAutoFit/>
          </a:bodyPr>
          <a:lstStyle/>
          <a:p>
            <a:r>
              <a:rPr lang="en-US" sz="2400" b="1" dirty="0">
                <a:solidFill>
                  <a:schemeClr val="bg1">
                    <a:lumMod val="95000"/>
                  </a:schemeClr>
                </a:solidFill>
              </a:rPr>
              <a:t>K-Means consensus: chosen k against all k</a:t>
            </a:r>
            <a:endParaRPr lang="en-IN" sz="2400" dirty="0">
              <a:solidFill>
                <a:schemeClr val="bg1">
                  <a:lumMod val="95000"/>
                </a:schemeClr>
              </a:solidFill>
            </a:endParaRPr>
          </a:p>
        </p:txBody>
      </p:sp>
      <p:sp>
        <p:nvSpPr>
          <p:cNvPr id="4" name="Text 0">
            <a:extLst>
              <a:ext uri="{FF2B5EF4-FFF2-40B4-BE49-F238E27FC236}">
                <a16:creationId xmlns:a16="http://schemas.microsoft.com/office/drawing/2014/main" id="{9C60350D-BEE0-9DCA-876C-0DBAADDF069F}"/>
              </a:ext>
            </a:extLst>
          </p:cNvPr>
          <p:cNvSpPr txBox="1">
            <a:spLocks/>
          </p:cNvSpPr>
          <p:nvPr/>
        </p:nvSpPr>
        <p:spPr>
          <a:xfrm>
            <a:off x="518864" y="1224877"/>
            <a:ext cx="8229600" cy="685800"/>
          </a:xfrm>
          <a:prstGeom prst="rect">
            <a:avLst/>
          </a:prstGeom>
          <a:noFill/>
          <a:ln/>
        </p:spPr>
        <p:txBody>
          <a:bodyPr wrap="square" lIns="0" tIns="0" rIns="0" bIns="0" rtlCol="0" anchor="ctr"/>
          <a:lstStyle>
            <a:lvl1pPr algn="l" rtl="0" fontAlgn="base">
              <a:spcBef>
                <a:spcPct val="0"/>
              </a:spcBef>
              <a:spcAft>
                <a:spcPct val="0"/>
              </a:spcAft>
              <a:defRPr sz="3200" b="1" kern="1200">
                <a:solidFill>
                  <a:schemeClr val="bg1"/>
                </a:solidFill>
                <a:latin typeface="Arial" pitchFamily="34" charset="0"/>
                <a:ea typeface="+mj-ea"/>
                <a:cs typeface="Arial" pitchFamily="34" charset="0"/>
              </a:defRPr>
            </a:lvl1pPr>
            <a:lvl2pPr algn="ctr" rtl="0" fontAlgn="base">
              <a:spcBef>
                <a:spcPct val="0"/>
              </a:spcBef>
              <a:spcAft>
                <a:spcPct val="0"/>
              </a:spcAft>
              <a:defRPr sz="4400">
                <a:solidFill>
                  <a:schemeClr val="tx1"/>
                </a:solidFill>
                <a:latin typeface="Calibri" pitchFamily="34" charset="0"/>
              </a:defRPr>
            </a:lvl2pPr>
            <a:lvl3pPr algn="ctr" rtl="0" fontAlgn="base">
              <a:spcBef>
                <a:spcPct val="0"/>
              </a:spcBef>
              <a:spcAft>
                <a:spcPct val="0"/>
              </a:spcAft>
              <a:defRPr sz="4400">
                <a:solidFill>
                  <a:schemeClr val="tx1"/>
                </a:solidFill>
                <a:latin typeface="Calibri" pitchFamily="34" charset="0"/>
              </a:defRPr>
            </a:lvl3pPr>
            <a:lvl4pPr algn="ctr" rtl="0" fontAlgn="base">
              <a:spcBef>
                <a:spcPct val="0"/>
              </a:spcBef>
              <a:spcAft>
                <a:spcPct val="0"/>
              </a:spcAft>
              <a:defRPr sz="4400">
                <a:solidFill>
                  <a:schemeClr val="tx1"/>
                </a:solidFill>
                <a:latin typeface="Calibri" pitchFamily="34" charset="0"/>
              </a:defRPr>
            </a:lvl4pPr>
            <a:lvl5pPr algn="ctr" rtl="0" fontAlgn="base">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endParaRPr lang="en-US" sz="1800" dirty="0"/>
          </a:p>
        </p:txBody>
      </p:sp>
      <p:pic>
        <p:nvPicPr>
          <p:cNvPr id="5" name="Image 0" descr="Consensus matrices for K-Means, k = 2 to 10">
            <a:extLst>
              <a:ext uri="{FF2B5EF4-FFF2-40B4-BE49-F238E27FC236}">
                <a16:creationId xmlns:a16="http://schemas.microsoft.com/office/drawing/2014/main" id="{851F26BF-D276-6FC5-A916-C537A6F40586}"/>
              </a:ext>
            </a:extLst>
          </p:cNvPr>
          <p:cNvPicPr>
            <a:picLocks noChangeAspect="1"/>
          </p:cNvPicPr>
          <p:nvPr/>
        </p:nvPicPr>
        <p:blipFill>
          <a:blip r:embed="rId2"/>
          <a:stretch>
            <a:fillRect/>
          </a:stretch>
        </p:blipFill>
        <p:spPr>
          <a:xfrm>
            <a:off x="569966" y="2132857"/>
            <a:ext cx="3925819" cy="3600399"/>
          </a:xfrm>
          <a:prstGeom prst="rect">
            <a:avLst/>
          </a:prstGeom>
        </p:spPr>
      </p:pic>
      <p:sp>
        <p:nvSpPr>
          <p:cNvPr id="7" name="TextBox 6">
            <a:extLst>
              <a:ext uri="{FF2B5EF4-FFF2-40B4-BE49-F238E27FC236}">
                <a16:creationId xmlns:a16="http://schemas.microsoft.com/office/drawing/2014/main" id="{F8D79C10-89E5-EC27-0169-1CD67550E519}"/>
              </a:ext>
            </a:extLst>
          </p:cNvPr>
          <p:cNvSpPr txBox="1"/>
          <p:nvPr/>
        </p:nvSpPr>
        <p:spPr>
          <a:xfrm>
            <a:off x="518864" y="5770092"/>
            <a:ext cx="4614110" cy="246221"/>
          </a:xfrm>
          <a:prstGeom prst="rect">
            <a:avLst/>
          </a:prstGeom>
          <a:noFill/>
        </p:spPr>
        <p:txBody>
          <a:bodyPr wrap="square">
            <a:spAutoFit/>
          </a:bodyPr>
          <a:lstStyle/>
          <a:p>
            <a:pPr marL="0" indent="0">
              <a:buNone/>
            </a:pPr>
            <a:r>
              <a:rPr lang="en-US" sz="1000" i="1" dirty="0">
                <a:solidFill>
                  <a:schemeClr val="bg1">
                    <a:lumMod val="95000"/>
                  </a:schemeClr>
                </a:solidFill>
              </a:rPr>
              <a:t>All values of k from 2 to 10: the blocks blur as k grows.</a:t>
            </a:r>
            <a:endParaRPr lang="en-US" sz="1000" dirty="0">
              <a:solidFill>
                <a:schemeClr val="bg1">
                  <a:lumMod val="95000"/>
                </a:schemeClr>
              </a:solidFill>
            </a:endParaRPr>
          </a:p>
        </p:txBody>
      </p:sp>
      <p:pic>
        <p:nvPicPr>
          <p:cNvPr id="9" name="Image 1" descr="Consensus matrix at the chosen k">
            <a:extLst>
              <a:ext uri="{FF2B5EF4-FFF2-40B4-BE49-F238E27FC236}">
                <a16:creationId xmlns:a16="http://schemas.microsoft.com/office/drawing/2014/main" id="{01412665-A2ED-37CA-1E66-8F38A31807A8}"/>
              </a:ext>
            </a:extLst>
          </p:cNvPr>
          <p:cNvPicPr>
            <a:picLocks noChangeAspect="1"/>
          </p:cNvPicPr>
          <p:nvPr/>
        </p:nvPicPr>
        <p:blipFill>
          <a:blip r:embed="rId3"/>
          <a:stretch>
            <a:fillRect/>
          </a:stretch>
        </p:blipFill>
        <p:spPr>
          <a:xfrm>
            <a:off x="5110678" y="2132858"/>
            <a:ext cx="3925818" cy="3600398"/>
          </a:xfrm>
          <a:prstGeom prst="rect">
            <a:avLst/>
          </a:prstGeom>
        </p:spPr>
      </p:pic>
      <p:sp>
        <p:nvSpPr>
          <p:cNvPr id="11" name="Text 1">
            <a:extLst>
              <a:ext uri="{FF2B5EF4-FFF2-40B4-BE49-F238E27FC236}">
                <a16:creationId xmlns:a16="http://schemas.microsoft.com/office/drawing/2014/main" id="{F2CBAE64-8C46-1D70-BE0C-27C5F5155977}"/>
              </a:ext>
            </a:extLst>
          </p:cNvPr>
          <p:cNvSpPr txBox="1"/>
          <p:nvPr/>
        </p:nvSpPr>
        <p:spPr>
          <a:xfrm>
            <a:off x="1727397" y="5501715"/>
            <a:ext cx="3501405" cy="506842"/>
          </a:xfrm>
          <a:prstGeom prst="rect">
            <a:avLst/>
          </a:prstGeom>
          <a:noFill/>
          <a:ln/>
        </p:spPr>
        <p:txBody>
          <a:bodyPr wrap="square" lIns="0" tIns="0" rIns="0" bIns="0" rtlCol="0" anchor="t"/>
          <a:lstStyle/>
          <a:p>
            <a:pPr marL="0" indent="0">
              <a:buNone/>
            </a:pPr>
            <a:endParaRPr lang="en-US" sz="1000" dirty="0"/>
          </a:p>
        </p:txBody>
      </p:sp>
      <p:sp>
        <p:nvSpPr>
          <p:cNvPr id="13" name="TextBox 12">
            <a:extLst>
              <a:ext uri="{FF2B5EF4-FFF2-40B4-BE49-F238E27FC236}">
                <a16:creationId xmlns:a16="http://schemas.microsoft.com/office/drawing/2014/main" id="{4D5E3FCE-69D7-DBBC-35FB-A4CAD90E6160}"/>
              </a:ext>
            </a:extLst>
          </p:cNvPr>
          <p:cNvSpPr txBox="1"/>
          <p:nvPr/>
        </p:nvSpPr>
        <p:spPr>
          <a:xfrm>
            <a:off x="5110678" y="5770092"/>
            <a:ext cx="4614110" cy="246221"/>
          </a:xfrm>
          <a:prstGeom prst="rect">
            <a:avLst/>
          </a:prstGeom>
          <a:noFill/>
        </p:spPr>
        <p:txBody>
          <a:bodyPr wrap="square">
            <a:spAutoFit/>
          </a:bodyPr>
          <a:lstStyle/>
          <a:p>
            <a:pPr marL="0" indent="0">
              <a:buNone/>
            </a:pPr>
            <a:r>
              <a:rPr lang="en-US" sz="1000" i="1" dirty="0">
                <a:solidFill>
                  <a:schemeClr val="bg1">
                    <a:lumMod val="95000"/>
                  </a:schemeClr>
                </a:solidFill>
              </a:rPr>
              <a:t>Chosen k = 2: two clean dark blocks.</a:t>
            </a:r>
            <a:endParaRPr lang="en-US" sz="1000" dirty="0">
              <a:solidFill>
                <a:schemeClr val="bg1">
                  <a:lumMod val="95000"/>
                </a:schemeClr>
              </a:solidFill>
            </a:endParaRPr>
          </a:p>
        </p:txBody>
      </p:sp>
      <p:sp>
        <p:nvSpPr>
          <p:cNvPr id="15" name="TextBox 14">
            <a:extLst>
              <a:ext uri="{FF2B5EF4-FFF2-40B4-BE49-F238E27FC236}">
                <a16:creationId xmlns:a16="http://schemas.microsoft.com/office/drawing/2014/main" id="{613F13A2-C42A-F120-E5E4-09FF74E278B7}"/>
              </a:ext>
            </a:extLst>
          </p:cNvPr>
          <p:cNvSpPr txBox="1"/>
          <p:nvPr/>
        </p:nvSpPr>
        <p:spPr>
          <a:xfrm>
            <a:off x="2339752" y="6284690"/>
            <a:ext cx="6119482" cy="584775"/>
          </a:xfrm>
          <a:prstGeom prst="rect">
            <a:avLst/>
          </a:prstGeom>
          <a:noFill/>
        </p:spPr>
        <p:txBody>
          <a:bodyPr wrap="square">
            <a:spAutoFit/>
          </a:bodyPr>
          <a:lstStyle/>
          <a:p>
            <a:r>
              <a:rPr lang="en-US" sz="1600" dirty="0">
                <a:solidFill>
                  <a:schemeClr val="bg1">
                    <a:lumMod val="95000"/>
                  </a:schemeClr>
                </a:solidFill>
              </a:rPr>
              <a:t>Conclusion. At k = 2 the cluster consensus is 0.992 and 0.980 and is stable</a:t>
            </a:r>
            <a:endParaRPr lang="en-IN" sz="2400" dirty="0">
              <a:solidFill>
                <a:schemeClr val="bg1">
                  <a:lumMod val="95000"/>
                </a:schemeClr>
              </a:solidFill>
            </a:endParaRPr>
          </a:p>
        </p:txBody>
      </p:sp>
    </p:spTree>
    <p:extLst>
      <p:ext uri="{BB962C8B-B14F-4D97-AF65-F5344CB8AC3E}">
        <p14:creationId xmlns:p14="http://schemas.microsoft.com/office/powerpoint/2010/main" val="23275878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66E348-D31B-8916-79FB-FEEF2D5FB34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734E042-744E-C62B-4DBA-4E62F1874CF9}"/>
              </a:ext>
            </a:extLst>
          </p:cNvPr>
          <p:cNvSpPr txBox="1"/>
          <p:nvPr/>
        </p:nvSpPr>
        <p:spPr>
          <a:xfrm>
            <a:off x="467544" y="1196752"/>
            <a:ext cx="6657433" cy="523220"/>
          </a:xfrm>
          <a:prstGeom prst="rect">
            <a:avLst/>
          </a:prstGeom>
          <a:noFill/>
        </p:spPr>
        <p:txBody>
          <a:bodyPr wrap="square">
            <a:spAutoFit/>
          </a:bodyPr>
          <a:lstStyle/>
          <a:p>
            <a:r>
              <a:rPr lang="en-US" sz="2800" b="1" dirty="0">
                <a:solidFill>
                  <a:schemeClr val="bg1">
                    <a:lumMod val="95000"/>
                  </a:schemeClr>
                </a:solidFill>
              </a:rPr>
              <a:t>K-Medoids agrees: rising and falling</a:t>
            </a:r>
            <a:endParaRPr lang="en-IN" sz="2800" dirty="0">
              <a:solidFill>
                <a:schemeClr val="bg1">
                  <a:lumMod val="95000"/>
                </a:schemeClr>
              </a:solidFill>
            </a:endParaRPr>
          </a:p>
        </p:txBody>
      </p:sp>
      <p:pic>
        <p:nvPicPr>
          <p:cNvPr id="5" name="Image 0" descr="Validity indices for K-Medoids with DTW">
            <a:extLst>
              <a:ext uri="{FF2B5EF4-FFF2-40B4-BE49-F238E27FC236}">
                <a16:creationId xmlns:a16="http://schemas.microsoft.com/office/drawing/2014/main" id="{04FD73E5-8DDC-8ACF-80B2-FF54B390C781}"/>
              </a:ext>
            </a:extLst>
          </p:cNvPr>
          <p:cNvPicPr>
            <a:picLocks noChangeAspect="1"/>
          </p:cNvPicPr>
          <p:nvPr/>
        </p:nvPicPr>
        <p:blipFill>
          <a:blip r:embed="rId2"/>
          <a:stretch>
            <a:fillRect/>
          </a:stretch>
        </p:blipFill>
        <p:spPr>
          <a:xfrm>
            <a:off x="1835695" y="1988840"/>
            <a:ext cx="5698976" cy="3528392"/>
          </a:xfrm>
          <a:prstGeom prst="rect">
            <a:avLst/>
          </a:prstGeom>
        </p:spPr>
      </p:pic>
      <p:sp>
        <p:nvSpPr>
          <p:cNvPr id="7" name="TextBox 6">
            <a:extLst>
              <a:ext uri="{FF2B5EF4-FFF2-40B4-BE49-F238E27FC236}">
                <a16:creationId xmlns:a16="http://schemas.microsoft.com/office/drawing/2014/main" id="{55AE172E-CC85-067D-4897-CF41AE3708C7}"/>
              </a:ext>
            </a:extLst>
          </p:cNvPr>
          <p:cNvSpPr txBox="1"/>
          <p:nvPr/>
        </p:nvSpPr>
        <p:spPr>
          <a:xfrm>
            <a:off x="742999" y="5877272"/>
            <a:ext cx="7884367" cy="584775"/>
          </a:xfrm>
          <a:prstGeom prst="rect">
            <a:avLst/>
          </a:prstGeom>
          <a:noFill/>
        </p:spPr>
        <p:txBody>
          <a:bodyPr wrap="square">
            <a:spAutoFit/>
          </a:bodyPr>
          <a:lstStyle/>
          <a:p>
            <a:r>
              <a:rPr lang="en-IN" sz="1600" dirty="0">
                <a:solidFill>
                  <a:schemeClr val="bg1">
                    <a:lumMod val="95000"/>
                  </a:schemeClr>
                </a:solidFill>
              </a:rPr>
              <a:t>Three indices selected K = 2, while the Dunn index selected K = 3. Therefore, K = 2 was chosen by majority vote.</a:t>
            </a:r>
          </a:p>
        </p:txBody>
      </p:sp>
    </p:spTree>
    <p:extLst>
      <p:ext uri="{BB962C8B-B14F-4D97-AF65-F5344CB8AC3E}">
        <p14:creationId xmlns:p14="http://schemas.microsoft.com/office/powerpoint/2010/main" val="19822811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AE1F3-0769-7C7B-6686-1F725D225AE7}"/>
            </a:ext>
          </a:extLst>
        </p:cNvPr>
        <p:cNvGrpSpPr/>
        <p:nvPr/>
      </p:nvGrpSpPr>
      <p:grpSpPr>
        <a:xfrm>
          <a:off x="0" y="0"/>
          <a:ext cx="0" cy="0"/>
          <a:chOff x="0" y="0"/>
          <a:chExt cx="0" cy="0"/>
        </a:xfrm>
      </p:grpSpPr>
      <p:pic>
        <p:nvPicPr>
          <p:cNvPr id="11" name="Image 1" descr="Standardised prices in each K-Medoids cluster">
            <a:extLst>
              <a:ext uri="{FF2B5EF4-FFF2-40B4-BE49-F238E27FC236}">
                <a16:creationId xmlns:a16="http://schemas.microsoft.com/office/drawing/2014/main" id="{9F6575D8-4727-0397-8502-D4A37E341E1E}"/>
              </a:ext>
            </a:extLst>
          </p:cNvPr>
          <p:cNvPicPr>
            <a:picLocks noChangeAspect="1"/>
          </p:cNvPicPr>
          <p:nvPr/>
        </p:nvPicPr>
        <p:blipFill>
          <a:blip r:embed="rId2"/>
          <a:stretch>
            <a:fillRect/>
          </a:stretch>
        </p:blipFill>
        <p:spPr>
          <a:xfrm>
            <a:off x="611560" y="1844824"/>
            <a:ext cx="8075240" cy="3384376"/>
          </a:xfrm>
          <a:prstGeom prst="rect">
            <a:avLst/>
          </a:prstGeom>
        </p:spPr>
      </p:pic>
      <p:sp>
        <p:nvSpPr>
          <p:cNvPr id="13" name="TextBox 12">
            <a:extLst>
              <a:ext uri="{FF2B5EF4-FFF2-40B4-BE49-F238E27FC236}">
                <a16:creationId xmlns:a16="http://schemas.microsoft.com/office/drawing/2014/main" id="{AE652382-59EE-44B3-6325-87DD6063CB86}"/>
              </a:ext>
            </a:extLst>
          </p:cNvPr>
          <p:cNvSpPr txBox="1"/>
          <p:nvPr/>
        </p:nvSpPr>
        <p:spPr>
          <a:xfrm>
            <a:off x="467544" y="1212721"/>
            <a:ext cx="6912768" cy="400110"/>
          </a:xfrm>
          <a:prstGeom prst="rect">
            <a:avLst/>
          </a:prstGeom>
          <a:noFill/>
        </p:spPr>
        <p:txBody>
          <a:bodyPr wrap="square">
            <a:spAutoFit/>
          </a:bodyPr>
          <a:lstStyle/>
          <a:p>
            <a:r>
              <a:rPr lang="en-US" sz="2000" b="1" dirty="0">
                <a:solidFill>
                  <a:schemeClr val="bg1">
                    <a:lumMod val="95000"/>
                  </a:schemeClr>
                </a:solidFill>
              </a:rPr>
              <a:t>The two clusters contain 138 and 103 stocks</a:t>
            </a:r>
            <a:endParaRPr lang="en-IN" sz="3200" b="1" dirty="0">
              <a:solidFill>
                <a:schemeClr val="bg1">
                  <a:lumMod val="95000"/>
                </a:schemeClr>
              </a:solidFill>
            </a:endParaRPr>
          </a:p>
        </p:txBody>
      </p:sp>
      <p:sp>
        <p:nvSpPr>
          <p:cNvPr id="15" name="TextBox 14">
            <a:extLst>
              <a:ext uri="{FF2B5EF4-FFF2-40B4-BE49-F238E27FC236}">
                <a16:creationId xmlns:a16="http://schemas.microsoft.com/office/drawing/2014/main" id="{909D1570-7163-F562-B3D3-2F55CD352DBF}"/>
              </a:ext>
            </a:extLst>
          </p:cNvPr>
          <p:cNvSpPr txBox="1"/>
          <p:nvPr/>
        </p:nvSpPr>
        <p:spPr>
          <a:xfrm>
            <a:off x="611560" y="5700136"/>
            <a:ext cx="8424936" cy="1115690"/>
          </a:xfrm>
          <a:prstGeom prst="rect">
            <a:avLst/>
          </a:prstGeom>
          <a:noFill/>
        </p:spPr>
        <p:txBody>
          <a:bodyPr wrap="square">
            <a:spAutoFit/>
          </a:bodyPr>
          <a:lstStyle/>
          <a:p>
            <a:pPr marL="0" indent="0">
              <a:spcAft>
                <a:spcPts val="300"/>
              </a:spcAft>
              <a:buNone/>
            </a:pPr>
            <a:r>
              <a:rPr lang="en-US" sz="1600" b="1" dirty="0">
                <a:solidFill>
                  <a:schemeClr val="bg1">
                    <a:lumMod val="95000"/>
                  </a:schemeClr>
                </a:solidFill>
              </a:rPr>
              <a:t>Cluster 0 (rising, 138 stocks, medoid ESCT.L): </a:t>
            </a:r>
            <a:r>
              <a:rPr lang="en-US" sz="1600" dirty="0">
                <a:solidFill>
                  <a:schemeClr val="bg1">
                    <a:lumMod val="95000"/>
                  </a:schemeClr>
                </a:solidFill>
              </a:rPr>
              <a:t>BlackRock World Mining Trust, JPMorgan Global Growth &amp; Income, AJ Bell, </a:t>
            </a:r>
            <a:r>
              <a:rPr lang="en-US" sz="1600" dirty="0" err="1">
                <a:solidFill>
                  <a:schemeClr val="bg1">
                    <a:lumMod val="95000"/>
                  </a:schemeClr>
                </a:solidFill>
              </a:rPr>
              <a:t>HgCapital</a:t>
            </a:r>
            <a:r>
              <a:rPr lang="en-US" sz="1600" dirty="0">
                <a:solidFill>
                  <a:schemeClr val="bg1">
                    <a:lumMod val="95000"/>
                  </a:schemeClr>
                </a:solidFill>
              </a:rPr>
              <a:t> Trust and Rotork.</a:t>
            </a:r>
          </a:p>
          <a:p>
            <a:pPr marL="0" indent="0">
              <a:spcAft>
                <a:spcPts val="300"/>
              </a:spcAft>
              <a:buNone/>
            </a:pPr>
            <a:r>
              <a:rPr lang="en-US" sz="1600" b="1" dirty="0">
                <a:solidFill>
                  <a:schemeClr val="bg1">
                    <a:lumMod val="95000"/>
                  </a:schemeClr>
                </a:solidFill>
              </a:rPr>
              <a:t>Cluster 1 (falling, 103 stocks, medoid DLN.L): </a:t>
            </a:r>
            <a:r>
              <a:rPr lang="en-US" sz="1600" dirty="0">
                <a:solidFill>
                  <a:schemeClr val="bg1">
                    <a:lumMod val="95000"/>
                  </a:schemeClr>
                </a:solidFill>
              </a:rPr>
              <a:t>Spire Healthcare, easyJet, Frasers Group, J D Wetherspoon and Greggs.</a:t>
            </a:r>
          </a:p>
        </p:txBody>
      </p:sp>
      <p:sp>
        <p:nvSpPr>
          <p:cNvPr id="17" name="TextBox 16">
            <a:extLst>
              <a:ext uri="{FF2B5EF4-FFF2-40B4-BE49-F238E27FC236}">
                <a16:creationId xmlns:a16="http://schemas.microsoft.com/office/drawing/2014/main" id="{D153E125-189A-ED56-0530-A614FEE6678D}"/>
              </a:ext>
            </a:extLst>
          </p:cNvPr>
          <p:cNvSpPr txBox="1"/>
          <p:nvPr/>
        </p:nvSpPr>
        <p:spPr>
          <a:xfrm>
            <a:off x="2264945" y="5253445"/>
            <a:ext cx="4614110" cy="246221"/>
          </a:xfrm>
          <a:prstGeom prst="rect">
            <a:avLst/>
          </a:prstGeom>
          <a:noFill/>
        </p:spPr>
        <p:txBody>
          <a:bodyPr wrap="square">
            <a:spAutoFit/>
          </a:bodyPr>
          <a:lstStyle/>
          <a:p>
            <a:pPr marL="0" indent="0">
              <a:buNone/>
            </a:pPr>
            <a:r>
              <a:rPr lang="en-US" sz="1000" i="1" dirty="0" err="1">
                <a:solidFill>
                  <a:schemeClr val="bg1">
                    <a:lumMod val="95000"/>
                  </a:schemeClr>
                </a:solidFill>
              </a:rPr>
              <a:t>Standardised</a:t>
            </a:r>
            <a:r>
              <a:rPr lang="en-US" sz="1000" i="1" dirty="0">
                <a:solidFill>
                  <a:schemeClr val="bg1">
                    <a:lumMod val="95000"/>
                  </a:schemeClr>
                </a:solidFill>
              </a:rPr>
              <a:t> prices in each cluster (the dashed black line is the medoid stock).</a:t>
            </a:r>
            <a:endParaRPr lang="en-US" sz="1000" dirty="0">
              <a:solidFill>
                <a:schemeClr val="bg1">
                  <a:lumMod val="95000"/>
                </a:schemeClr>
              </a:solidFill>
            </a:endParaRPr>
          </a:p>
        </p:txBody>
      </p:sp>
    </p:spTree>
    <p:extLst>
      <p:ext uri="{BB962C8B-B14F-4D97-AF65-F5344CB8AC3E}">
        <p14:creationId xmlns:p14="http://schemas.microsoft.com/office/powerpoint/2010/main" val="10952348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88B87-5A32-3581-CEDF-647BB1172FD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516E990-8B45-B7B9-154E-4F4FF69B1913}"/>
              </a:ext>
            </a:extLst>
          </p:cNvPr>
          <p:cNvSpPr txBox="1"/>
          <p:nvPr/>
        </p:nvSpPr>
        <p:spPr>
          <a:xfrm>
            <a:off x="539552" y="1484784"/>
            <a:ext cx="6836945" cy="461665"/>
          </a:xfrm>
          <a:prstGeom prst="rect">
            <a:avLst/>
          </a:prstGeom>
          <a:noFill/>
        </p:spPr>
        <p:txBody>
          <a:bodyPr wrap="square">
            <a:spAutoFit/>
          </a:bodyPr>
          <a:lstStyle/>
          <a:p>
            <a:r>
              <a:rPr lang="en-US" sz="2400" b="1" dirty="0">
                <a:solidFill>
                  <a:schemeClr val="bg1">
                    <a:lumMod val="95000"/>
                  </a:schemeClr>
                </a:solidFill>
              </a:rPr>
              <a:t>K-Medoids consensus: chosen k against all k</a:t>
            </a:r>
            <a:endParaRPr lang="en-IN" dirty="0">
              <a:solidFill>
                <a:schemeClr val="bg1">
                  <a:lumMod val="95000"/>
                </a:schemeClr>
              </a:solidFill>
            </a:endParaRPr>
          </a:p>
        </p:txBody>
      </p:sp>
      <p:sp>
        <p:nvSpPr>
          <p:cNvPr id="4" name="Text 0">
            <a:extLst>
              <a:ext uri="{FF2B5EF4-FFF2-40B4-BE49-F238E27FC236}">
                <a16:creationId xmlns:a16="http://schemas.microsoft.com/office/drawing/2014/main" id="{B6F41D23-CF5C-3B24-A28E-2A0D5165052B}"/>
              </a:ext>
            </a:extLst>
          </p:cNvPr>
          <p:cNvSpPr txBox="1">
            <a:spLocks/>
          </p:cNvSpPr>
          <p:nvPr/>
        </p:nvSpPr>
        <p:spPr>
          <a:xfrm>
            <a:off x="557754" y="1617360"/>
            <a:ext cx="8229600" cy="685800"/>
          </a:xfrm>
          <a:prstGeom prst="rect">
            <a:avLst/>
          </a:prstGeom>
          <a:noFill/>
          <a:ln/>
        </p:spPr>
        <p:txBody>
          <a:bodyPr wrap="square" lIns="0" tIns="0" rIns="0" bIns="0" rtlCol="0" anchor="ctr"/>
          <a:lstStyle>
            <a:lvl1pPr algn="l" rtl="0" fontAlgn="base">
              <a:spcBef>
                <a:spcPct val="0"/>
              </a:spcBef>
              <a:spcAft>
                <a:spcPct val="0"/>
              </a:spcAft>
              <a:defRPr sz="3200" b="1" kern="1200">
                <a:solidFill>
                  <a:schemeClr val="bg1"/>
                </a:solidFill>
                <a:latin typeface="Arial" pitchFamily="34" charset="0"/>
                <a:ea typeface="+mj-ea"/>
                <a:cs typeface="Arial" pitchFamily="34" charset="0"/>
              </a:defRPr>
            </a:lvl1pPr>
            <a:lvl2pPr algn="ctr" rtl="0" fontAlgn="base">
              <a:spcBef>
                <a:spcPct val="0"/>
              </a:spcBef>
              <a:spcAft>
                <a:spcPct val="0"/>
              </a:spcAft>
              <a:defRPr sz="4400">
                <a:solidFill>
                  <a:schemeClr val="tx1"/>
                </a:solidFill>
                <a:latin typeface="Calibri" pitchFamily="34" charset="0"/>
              </a:defRPr>
            </a:lvl2pPr>
            <a:lvl3pPr algn="ctr" rtl="0" fontAlgn="base">
              <a:spcBef>
                <a:spcPct val="0"/>
              </a:spcBef>
              <a:spcAft>
                <a:spcPct val="0"/>
              </a:spcAft>
              <a:defRPr sz="4400">
                <a:solidFill>
                  <a:schemeClr val="tx1"/>
                </a:solidFill>
                <a:latin typeface="Calibri" pitchFamily="34" charset="0"/>
              </a:defRPr>
            </a:lvl3pPr>
            <a:lvl4pPr algn="ctr" rtl="0" fontAlgn="base">
              <a:spcBef>
                <a:spcPct val="0"/>
              </a:spcBef>
              <a:spcAft>
                <a:spcPct val="0"/>
              </a:spcAft>
              <a:defRPr sz="4400">
                <a:solidFill>
                  <a:schemeClr val="tx1"/>
                </a:solidFill>
                <a:latin typeface="Calibri" pitchFamily="34" charset="0"/>
              </a:defRPr>
            </a:lvl4pPr>
            <a:lvl5pPr algn="ctr" rtl="0" fontAlgn="base">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endParaRPr lang="en-US" sz="2400" dirty="0"/>
          </a:p>
        </p:txBody>
      </p:sp>
      <p:pic>
        <p:nvPicPr>
          <p:cNvPr id="5" name="Image 0" descr="Consensus matrices for K-Medoids with DTW, k = 2 to 10">
            <a:extLst>
              <a:ext uri="{FF2B5EF4-FFF2-40B4-BE49-F238E27FC236}">
                <a16:creationId xmlns:a16="http://schemas.microsoft.com/office/drawing/2014/main" id="{6FBFC0B8-BFE7-841B-9F7E-71B2A3E9F778}"/>
              </a:ext>
            </a:extLst>
          </p:cNvPr>
          <p:cNvPicPr>
            <a:picLocks noChangeAspect="1"/>
          </p:cNvPicPr>
          <p:nvPr/>
        </p:nvPicPr>
        <p:blipFill>
          <a:blip r:embed="rId2"/>
          <a:stretch>
            <a:fillRect/>
          </a:stretch>
        </p:blipFill>
        <p:spPr>
          <a:xfrm>
            <a:off x="683568" y="2303160"/>
            <a:ext cx="3816424" cy="3574112"/>
          </a:xfrm>
          <a:prstGeom prst="rect">
            <a:avLst/>
          </a:prstGeom>
        </p:spPr>
      </p:pic>
      <p:pic>
        <p:nvPicPr>
          <p:cNvPr id="10" name="Image 1" descr="Consensus matrix at the chosen k">
            <a:extLst>
              <a:ext uri="{FF2B5EF4-FFF2-40B4-BE49-F238E27FC236}">
                <a16:creationId xmlns:a16="http://schemas.microsoft.com/office/drawing/2014/main" id="{D8B072EC-A64E-E4B8-6A59-95E6C4A5ACF9}"/>
              </a:ext>
            </a:extLst>
          </p:cNvPr>
          <p:cNvPicPr>
            <a:picLocks noChangeAspect="1"/>
          </p:cNvPicPr>
          <p:nvPr/>
        </p:nvPicPr>
        <p:blipFill>
          <a:blip r:embed="rId3"/>
          <a:stretch>
            <a:fillRect/>
          </a:stretch>
        </p:blipFill>
        <p:spPr>
          <a:xfrm>
            <a:off x="5148064" y="2304612"/>
            <a:ext cx="3995935" cy="3572660"/>
          </a:xfrm>
          <a:prstGeom prst="rect">
            <a:avLst/>
          </a:prstGeom>
        </p:spPr>
      </p:pic>
      <p:sp>
        <p:nvSpPr>
          <p:cNvPr id="12" name="TextBox 11">
            <a:extLst>
              <a:ext uri="{FF2B5EF4-FFF2-40B4-BE49-F238E27FC236}">
                <a16:creationId xmlns:a16="http://schemas.microsoft.com/office/drawing/2014/main" id="{B27C5925-BC63-D899-0CCF-52579703C9B5}"/>
              </a:ext>
            </a:extLst>
          </p:cNvPr>
          <p:cNvSpPr txBox="1"/>
          <p:nvPr/>
        </p:nvSpPr>
        <p:spPr>
          <a:xfrm>
            <a:off x="557754" y="5877272"/>
            <a:ext cx="4632158" cy="246221"/>
          </a:xfrm>
          <a:prstGeom prst="rect">
            <a:avLst/>
          </a:prstGeom>
          <a:noFill/>
        </p:spPr>
        <p:txBody>
          <a:bodyPr wrap="square">
            <a:spAutoFit/>
          </a:bodyPr>
          <a:lstStyle/>
          <a:p>
            <a:pPr marL="0" indent="0">
              <a:buNone/>
            </a:pPr>
            <a:r>
              <a:rPr lang="en-US" sz="1000" i="1" dirty="0">
                <a:solidFill>
                  <a:schemeClr val="bg1">
                    <a:lumMod val="95000"/>
                  </a:schemeClr>
                </a:solidFill>
              </a:rPr>
              <a:t>All values of k from 2 to 10 with DTW: the blocks blur as k grows.</a:t>
            </a:r>
            <a:endParaRPr lang="en-US" sz="1000" dirty="0">
              <a:solidFill>
                <a:schemeClr val="bg1">
                  <a:lumMod val="95000"/>
                </a:schemeClr>
              </a:solidFill>
            </a:endParaRPr>
          </a:p>
        </p:txBody>
      </p:sp>
      <p:sp>
        <p:nvSpPr>
          <p:cNvPr id="14" name="TextBox 13">
            <a:extLst>
              <a:ext uri="{FF2B5EF4-FFF2-40B4-BE49-F238E27FC236}">
                <a16:creationId xmlns:a16="http://schemas.microsoft.com/office/drawing/2014/main" id="{D5469609-A458-2DF4-FF98-8FAC8C89F56B}"/>
              </a:ext>
            </a:extLst>
          </p:cNvPr>
          <p:cNvSpPr txBox="1"/>
          <p:nvPr/>
        </p:nvSpPr>
        <p:spPr>
          <a:xfrm>
            <a:off x="5069442" y="5853572"/>
            <a:ext cx="4614110" cy="246221"/>
          </a:xfrm>
          <a:prstGeom prst="rect">
            <a:avLst/>
          </a:prstGeom>
          <a:noFill/>
        </p:spPr>
        <p:txBody>
          <a:bodyPr wrap="square">
            <a:spAutoFit/>
          </a:bodyPr>
          <a:lstStyle/>
          <a:p>
            <a:pPr marL="0" indent="0">
              <a:buNone/>
            </a:pPr>
            <a:r>
              <a:rPr lang="en-US" sz="1000" i="1" dirty="0">
                <a:solidFill>
                  <a:schemeClr val="bg1">
                    <a:lumMod val="95000"/>
                  </a:schemeClr>
                </a:solidFill>
              </a:rPr>
              <a:t>Chosen k = 2: two clean dark blocks.</a:t>
            </a:r>
            <a:endParaRPr lang="en-US" sz="1000" dirty="0">
              <a:solidFill>
                <a:schemeClr val="bg1">
                  <a:lumMod val="95000"/>
                </a:schemeClr>
              </a:solidFill>
            </a:endParaRPr>
          </a:p>
        </p:txBody>
      </p:sp>
      <p:sp>
        <p:nvSpPr>
          <p:cNvPr id="16" name="TextBox 15">
            <a:extLst>
              <a:ext uri="{FF2B5EF4-FFF2-40B4-BE49-F238E27FC236}">
                <a16:creationId xmlns:a16="http://schemas.microsoft.com/office/drawing/2014/main" id="{CFD5A330-8AB5-4F5D-CDC1-B2C5D5F189F1}"/>
              </a:ext>
            </a:extLst>
          </p:cNvPr>
          <p:cNvSpPr txBox="1"/>
          <p:nvPr/>
        </p:nvSpPr>
        <p:spPr>
          <a:xfrm>
            <a:off x="1187624" y="6381328"/>
            <a:ext cx="7302103" cy="338554"/>
          </a:xfrm>
          <a:prstGeom prst="rect">
            <a:avLst/>
          </a:prstGeom>
          <a:noFill/>
        </p:spPr>
        <p:txBody>
          <a:bodyPr wrap="square">
            <a:spAutoFit/>
          </a:bodyPr>
          <a:lstStyle/>
          <a:p>
            <a:r>
              <a:rPr lang="en-US" sz="1600" b="1" dirty="0">
                <a:solidFill>
                  <a:schemeClr val="bg1">
                    <a:lumMod val="95000"/>
                  </a:schemeClr>
                </a:solidFill>
              </a:rPr>
              <a:t>Conclusion. </a:t>
            </a:r>
            <a:r>
              <a:rPr lang="en-US" sz="1600" dirty="0">
                <a:solidFill>
                  <a:schemeClr val="bg1">
                    <a:lumMod val="95000"/>
                  </a:schemeClr>
                </a:solidFill>
              </a:rPr>
              <a:t>At k = 2 the cluster consensus is 0.989 and 0.965 and is stable</a:t>
            </a:r>
            <a:endParaRPr lang="en-IN" sz="2400" dirty="0">
              <a:solidFill>
                <a:schemeClr val="bg1">
                  <a:lumMod val="95000"/>
                </a:schemeClr>
              </a:solidFill>
            </a:endParaRPr>
          </a:p>
        </p:txBody>
      </p:sp>
    </p:spTree>
    <p:extLst>
      <p:ext uri="{BB962C8B-B14F-4D97-AF65-F5344CB8AC3E}">
        <p14:creationId xmlns:p14="http://schemas.microsoft.com/office/powerpoint/2010/main" val="34568154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F05FF-E070-6DBF-1AC4-8EA9F6A60BF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A37103E-0E5A-9F99-C45D-F693FAB2B87D}"/>
              </a:ext>
            </a:extLst>
          </p:cNvPr>
          <p:cNvSpPr txBox="1"/>
          <p:nvPr/>
        </p:nvSpPr>
        <p:spPr>
          <a:xfrm>
            <a:off x="467544" y="1340768"/>
            <a:ext cx="5865345" cy="461665"/>
          </a:xfrm>
          <a:prstGeom prst="rect">
            <a:avLst/>
          </a:prstGeom>
          <a:noFill/>
        </p:spPr>
        <p:txBody>
          <a:bodyPr wrap="square">
            <a:spAutoFit/>
          </a:bodyPr>
          <a:lstStyle/>
          <a:p>
            <a:r>
              <a:rPr lang="en-US" sz="2400" b="1" dirty="0">
                <a:solidFill>
                  <a:schemeClr val="bg1">
                    <a:lumMod val="95000"/>
                  </a:schemeClr>
                </a:solidFill>
              </a:rPr>
              <a:t>GMM adds a third, mixed group</a:t>
            </a:r>
            <a:endParaRPr lang="en-IN" sz="2000" dirty="0">
              <a:solidFill>
                <a:schemeClr val="bg1">
                  <a:lumMod val="95000"/>
                </a:schemeClr>
              </a:solidFill>
            </a:endParaRPr>
          </a:p>
        </p:txBody>
      </p:sp>
      <p:pic>
        <p:nvPicPr>
          <p:cNvPr id="7" name="Picture 6">
            <a:extLst>
              <a:ext uri="{FF2B5EF4-FFF2-40B4-BE49-F238E27FC236}">
                <a16:creationId xmlns:a16="http://schemas.microsoft.com/office/drawing/2014/main" id="{1585F30A-3329-0F96-77C7-CDEABE4810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1560" y="2060849"/>
            <a:ext cx="8208912" cy="3456384"/>
          </a:xfrm>
          <a:prstGeom prst="rect">
            <a:avLst/>
          </a:prstGeom>
        </p:spPr>
      </p:pic>
      <p:sp>
        <p:nvSpPr>
          <p:cNvPr id="9" name="TextBox 8">
            <a:extLst>
              <a:ext uri="{FF2B5EF4-FFF2-40B4-BE49-F238E27FC236}">
                <a16:creationId xmlns:a16="http://schemas.microsoft.com/office/drawing/2014/main" id="{216DC157-C9FE-5419-88BD-CC95FD9D4F3F}"/>
              </a:ext>
            </a:extLst>
          </p:cNvPr>
          <p:cNvSpPr txBox="1"/>
          <p:nvPr/>
        </p:nvSpPr>
        <p:spPr>
          <a:xfrm>
            <a:off x="463861" y="5741732"/>
            <a:ext cx="8572636" cy="923330"/>
          </a:xfrm>
          <a:prstGeom prst="rect">
            <a:avLst/>
          </a:prstGeom>
          <a:noFill/>
        </p:spPr>
        <p:txBody>
          <a:bodyPr wrap="square">
            <a:spAutoFit/>
          </a:bodyPr>
          <a:lstStyle/>
          <a:p>
            <a:r>
              <a:rPr lang="en-IN" dirty="0">
                <a:solidFill>
                  <a:schemeClr val="bg1">
                    <a:lumMod val="95000"/>
                  </a:schemeClr>
                </a:solidFill>
              </a:rPr>
              <a:t>We chose k = 3 with diagonal covariance because it has the lowest BIC, meaning it gives the best balance between fitting the data well and keeping the model simple, even though other models have a higher log-likelihood.</a:t>
            </a:r>
          </a:p>
        </p:txBody>
      </p:sp>
    </p:spTree>
    <p:extLst>
      <p:ext uri="{BB962C8B-B14F-4D97-AF65-F5344CB8AC3E}">
        <p14:creationId xmlns:p14="http://schemas.microsoft.com/office/powerpoint/2010/main" val="21298999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FCFF19-2793-E72B-AD07-D8EC8EBACA11}"/>
            </a:ext>
          </a:extLst>
        </p:cNvPr>
        <p:cNvGrpSpPr/>
        <p:nvPr/>
      </p:nvGrpSpPr>
      <p:grpSpPr>
        <a:xfrm>
          <a:off x="0" y="0"/>
          <a:ext cx="0" cy="0"/>
          <a:chOff x="0" y="0"/>
          <a:chExt cx="0" cy="0"/>
        </a:xfrm>
      </p:grpSpPr>
      <p:pic>
        <p:nvPicPr>
          <p:cNvPr id="3" name="Image 1" descr="Standardised prices in each GMM cluster">
            <a:extLst>
              <a:ext uri="{FF2B5EF4-FFF2-40B4-BE49-F238E27FC236}">
                <a16:creationId xmlns:a16="http://schemas.microsoft.com/office/drawing/2014/main" id="{E7D31A93-EDD1-A0A8-A34B-3755FF13262C}"/>
              </a:ext>
            </a:extLst>
          </p:cNvPr>
          <p:cNvPicPr>
            <a:picLocks noChangeAspect="1"/>
          </p:cNvPicPr>
          <p:nvPr/>
        </p:nvPicPr>
        <p:blipFill>
          <a:blip r:embed="rId2"/>
          <a:stretch>
            <a:fillRect/>
          </a:stretch>
        </p:blipFill>
        <p:spPr>
          <a:xfrm>
            <a:off x="683568" y="1988840"/>
            <a:ext cx="8003232" cy="3288392"/>
          </a:xfrm>
          <a:prstGeom prst="rect">
            <a:avLst/>
          </a:prstGeom>
        </p:spPr>
      </p:pic>
      <p:sp>
        <p:nvSpPr>
          <p:cNvPr id="5" name="TextBox 4">
            <a:extLst>
              <a:ext uri="{FF2B5EF4-FFF2-40B4-BE49-F238E27FC236}">
                <a16:creationId xmlns:a16="http://schemas.microsoft.com/office/drawing/2014/main" id="{7DBD4BB8-0C44-7332-6E43-7706B0162FC4}"/>
              </a:ext>
            </a:extLst>
          </p:cNvPr>
          <p:cNvSpPr txBox="1"/>
          <p:nvPr/>
        </p:nvSpPr>
        <p:spPr>
          <a:xfrm>
            <a:off x="539552" y="1196752"/>
            <a:ext cx="8291264" cy="523220"/>
          </a:xfrm>
          <a:prstGeom prst="rect">
            <a:avLst/>
          </a:prstGeom>
          <a:noFill/>
        </p:spPr>
        <p:txBody>
          <a:bodyPr wrap="square">
            <a:spAutoFit/>
          </a:bodyPr>
          <a:lstStyle/>
          <a:p>
            <a:r>
              <a:rPr lang="en-US" b="1" dirty="0">
                <a:solidFill>
                  <a:schemeClr val="bg1">
                    <a:lumMod val="95000"/>
                  </a:schemeClr>
                </a:solidFill>
              </a:rPr>
              <a:t>The GMM finds three groups: 47 falling, 79 rising and 115 mixed stocks</a:t>
            </a:r>
            <a:endParaRPr lang="en-IN" sz="2800" b="1" dirty="0">
              <a:solidFill>
                <a:schemeClr val="bg1">
                  <a:lumMod val="95000"/>
                </a:schemeClr>
              </a:solidFill>
            </a:endParaRPr>
          </a:p>
        </p:txBody>
      </p:sp>
      <p:sp>
        <p:nvSpPr>
          <p:cNvPr id="6" name="TextBox 5">
            <a:extLst>
              <a:ext uri="{FF2B5EF4-FFF2-40B4-BE49-F238E27FC236}">
                <a16:creationId xmlns:a16="http://schemas.microsoft.com/office/drawing/2014/main" id="{A313F3AA-AD00-B4E5-0FB2-697837E40484}"/>
              </a:ext>
            </a:extLst>
          </p:cNvPr>
          <p:cNvSpPr txBox="1"/>
          <p:nvPr/>
        </p:nvSpPr>
        <p:spPr>
          <a:xfrm>
            <a:off x="2055848" y="5269101"/>
            <a:ext cx="6393097" cy="553998"/>
          </a:xfrm>
          <a:prstGeom prst="rect">
            <a:avLst/>
          </a:prstGeom>
          <a:noFill/>
        </p:spPr>
        <p:txBody>
          <a:bodyPr wrap="none" rtlCol="0">
            <a:spAutoFit/>
          </a:bodyPr>
          <a:lstStyle/>
          <a:p>
            <a:r>
              <a:rPr lang="en-US" sz="1200" i="1" dirty="0" err="1">
                <a:solidFill>
                  <a:schemeClr val="bg1">
                    <a:lumMod val="95000"/>
                  </a:schemeClr>
                </a:solidFill>
              </a:rPr>
              <a:t>Standardised</a:t>
            </a:r>
            <a:r>
              <a:rPr lang="en-US" sz="1200" i="1" dirty="0">
                <a:solidFill>
                  <a:schemeClr val="bg1">
                    <a:lumMod val="95000"/>
                  </a:schemeClr>
                </a:solidFill>
              </a:rPr>
              <a:t> prices in the falling, rising and mixed groups (the red line is the cluster mean).</a:t>
            </a:r>
            <a:endParaRPr lang="en-US" sz="1200" dirty="0">
              <a:solidFill>
                <a:schemeClr val="bg1">
                  <a:lumMod val="95000"/>
                </a:schemeClr>
              </a:solidFill>
            </a:endParaRPr>
          </a:p>
          <a:p>
            <a:endParaRPr lang="en-IN" dirty="0"/>
          </a:p>
        </p:txBody>
      </p:sp>
      <p:sp>
        <p:nvSpPr>
          <p:cNvPr id="8" name="TextBox 7">
            <a:extLst>
              <a:ext uri="{FF2B5EF4-FFF2-40B4-BE49-F238E27FC236}">
                <a16:creationId xmlns:a16="http://schemas.microsoft.com/office/drawing/2014/main" id="{73B11F63-393C-1DE2-6647-289B3792485B}"/>
              </a:ext>
            </a:extLst>
          </p:cNvPr>
          <p:cNvSpPr txBox="1"/>
          <p:nvPr/>
        </p:nvSpPr>
        <p:spPr>
          <a:xfrm>
            <a:off x="542456" y="5692080"/>
            <a:ext cx="8702623" cy="1031051"/>
          </a:xfrm>
          <a:prstGeom prst="rect">
            <a:avLst/>
          </a:prstGeom>
          <a:noFill/>
        </p:spPr>
        <p:txBody>
          <a:bodyPr wrap="square">
            <a:spAutoFit/>
          </a:bodyPr>
          <a:lstStyle/>
          <a:p>
            <a:pPr marL="0" indent="0">
              <a:spcAft>
                <a:spcPts val="300"/>
              </a:spcAft>
              <a:buNone/>
            </a:pPr>
            <a:r>
              <a:rPr lang="en-US" sz="1400" b="1" dirty="0">
                <a:solidFill>
                  <a:schemeClr val="bg1">
                    <a:lumMod val="95000"/>
                  </a:schemeClr>
                </a:solidFill>
              </a:rPr>
              <a:t>Cluster 0 (falling, 47 stocks): </a:t>
            </a:r>
            <a:r>
              <a:rPr lang="en-US" sz="1400" dirty="0">
                <a:solidFill>
                  <a:schemeClr val="bg1">
                    <a:lumMod val="95000"/>
                  </a:schemeClr>
                </a:solidFill>
              </a:rPr>
              <a:t>Aston Martin, Ocado, WH Smith and Unite Group.</a:t>
            </a:r>
          </a:p>
          <a:p>
            <a:pPr marL="0" indent="0">
              <a:spcAft>
                <a:spcPts val="300"/>
              </a:spcAft>
              <a:buNone/>
            </a:pPr>
            <a:r>
              <a:rPr lang="en-US" sz="1400" b="1" dirty="0">
                <a:solidFill>
                  <a:schemeClr val="bg1">
                    <a:lumMod val="95000"/>
                  </a:schemeClr>
                </a:solidFill>
              </a:rPr>
              <a:t>Cluster 1 (rising, 79 stocks): </a:t>
            </a:r>
            <a:r>
              <a:rPr lang="en-US" sz="1400" dirty="0">
                <a:solidFill>
                  <a:schemeClr val="bg1">
                    <a:lumMod val="95000"/>
                  </a:schemeClr>
                </a:solidFill>
              </a:rPr>
              <a:t>AJ Bell, JPMorgan Global Growth &amp; Income, Serco and Plus500.</a:t>
            </a:r>
          </a:p>
          <a:p>
            <a:pPr marL="0" indent="0">
              <a:spcAft>
                <a:spcPts val="300"/>
              </a:spcAft>
              <a:buNone/>
            </a:pPr>
            <a:r>
              <a:rPr lang="en-US" sz="1400" b="1" dirty="0">
                <a:solidFill>
                  <a:schemeClr val="bg1">
                    <a:lumMod val="95000"/>
                  </a:schemeClr>
                </a:solidFill>
              </a:rPr>
              <a:t>Cluster 2 (mixed, 115 stocks): </a:t>
            </a:r>
            <a:r>
              <a:rPr lang="en-US" sz="1400" dirty="0">
                <a:solidFill>
                  <a:schemeClr val="bg1">
                    <a:lumMod val="95000"/>
                  </a:schemeClr>
                </a:solidFill>
              </a:rPr>
              <a:t>Spire Healthcare, BlackRock World Mining Trust, easyJet and Frasers Group.</a:t>
            </a:r>
          </a:p>
        </p:txBody>
      </p:sp>
    </p:spTree>
    <p:extLst>
      <p:ext uri="{BB962C8B-B14F-4D97-AF65-F5344CB8AC3E}">
        <p14:creationId xmlns:p14="http://schemas.microsoft.com/office/powerpoint/2010/main" val="8373439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97E39-508C-B3B2-0B3D-C68B2BFDABE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AA9F581-C8A3-0667-5CBE-55AE11362683}"/>
              </a:ext>
            </a:extLst>
          </p:cNvPr>
          <p:cNvSpPr txBox="1"/>
          <p:nvPr/>
        </p:nvSpPr>
        <p:spPr>
          <a:xfrm>
            <a:off x="539552" y="1412776"/>
            <a:ext cx="6513417" cy="400110"/>
          </a:xfrm>
          <a:prstGeom prst="rect">
            <a:avLst/>
          </a:prstGeom>
          <a:noFill/>
        </p:spPr>
        <p:txBody>
          <a:bodyPr wrap="square">
            <a:spAutoFit/>
          </a:bodyPr>
          <a:lstStyle/>
          <a:p>
            <a:r>
              <a:rPr lang="en-US" sz="2000" b="1" dirty="0">
                <a:solidFill>
                  <a:schemeClr val="bg1">
                    <a:lumMod val="95000"/>
                  </a:schemeClr>
                </a:solidFill>
              </a:rPr>
              <a:t>GMM consensus: chosen k = 3 against all k</a:t>
            </a:r>
            <a:endParaRPr lang="en-IN" sz="2000" dirty="0">
              <a:solidFill>
                <a:schemeClr val="bg1">
                  <a:lumMod val="95000"/>
                </a:schemeClr>
              </a:solidFill>
            </a:endParaRPr>
          </a:p>
        </p:txBody>
      </p:sp>
      <p:sp>
        <p:nvSpPr>
          <p:cNvPr id="4" name="Text 0">
            <a:extLst>
              <a:ext uri="{FF2B5EF4-FFF2-40B4-BE49-F238E27FC236}">
                <a16:creationId xmlns:a16="http://schemas.microsoft.com/office/drawing/2014/main" id="{AF5D61DE-E10D-E60B-0B3D-5D06B2CEFCD1}"/>
              </a:ext>
            </a:extLst>
          </p:cNvPr>
          <p:cNvSpPr txBox="1">
            <a:spLocks/>
          </p:cNvSpPr>
          <p:nvPr/>
        </p:nvSpPr>
        <p:spPr>
          <a:xfrm>
            <a:off x="683568" y="1550811"/>
            <a:ext cx="8229600" cy="685800"/>
          </a:xfrm>
          <a:prstGeom prst="rect">
            <a:avLst/>
          </a:prstGeom>
          <a:noFill/>
          <a:ln/>
        </p:spPr>
        <p:txBody>
          <a:bodyPr wrap="square" lIns="0" tIns="0" rIns="0" bIns="0" rtlCol="0" anchor="ctr"/>
          <a:lstStyle>
            <a:lvl1pPr algn="l" rtl="0" fontAlgn="base">
              <a:spcBef>
                <a:spcPct val="0"/>
              </a:spcBef>
              <a:spcAft>
                <a:spcPct val="0"/>
              </a:spcAft>
              <a:defRPr sz="3200" b="1" kern="1200">
                <a:solidFill>
                  <a:schemeClr val="bg1"/>
                </a:solidFill>
                <a:latin typeface="Arial" pitchFamily="34" charset="0"/>
                <a:ea typeface="+mj-ea"/>
                <a:cs typeface="Arial" pitchFamily="34" charset="0"/>
              </a:defRPr>
            </a:lvl1pPr>
            <a:lvl2pPr algn="ctr" rtl="0" fontAlgn="base">
              <a:spcBef>
                <a:spcPct val="0"/>
              </a:spcBef>
              <a:spcAft>
                <a:spcPct val="0"/>
              </a:spcAft>
              <a:defRPr sz="4400">
                <a:solidFill>
                  <a:schemeClr val="tx1"/>
                </a:solidFill>
                <a:latin typeface="Calibri" pitchFamily="34" charset="0"/>
              </a:defRPr>
            </a:lvl2pPr>
            <a:lvl3pPr algn="ctr" rtl="0" fontAlgn="base">
              <a:spcBef>
                <a:spcPct val="0"/>
              </a:spcBef>
              <a:spcAft>
                <a:spcPct val="0"/>
              </a:spcAft>
              <a:defRPr sz="4400">
                <a:solidFill>
                  <a:schemeClr val="tx1"/>
                </a:solidFill>
                <a:latin typeface="Calibri" pitchFamily="34" charset="0"/>
              </a:defRPr>
            </a:lvl3pPr>
            <a:lvl4pPr algn="ctr" rtl="0" fontAlgn="base">
              <a:spcBef>
                <a:spcPct val="0"/>
              </a:spcBef>
              <a:spcAft>
                <a:spcPct val="0"/>
              </a:spcAft>
              <a:defRPr sz="4400">
                <a:solidFill>
                  <a:schemeClr val="tx1"/>
                </a:solidFill>
                <a:latin typeface="Calibri" pitchFamily="34" charset="0"/>
              </a:defRPr>
            </a:lvl4pPr>
            <a:lvl5pPr algn="ctr" rtl="0" fontAlgn="base">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endParaRPr lang="en-US" sz="1800" dirty="0"/>
          </a:p>
        </p:txBody>
      </p:sp>
      <p:pic>
        <p:nvPicPr>
          <p:cNvPr id="5" name="Image 0" descr="Consensus matrices for the diagonal GMM, k = 2 to 8">
            <a:extLst>
              <a:ext uri="{FF2B5EF4-FFF2-40B4-BE49-F238E27FC236}">
                <a16:creationId xmlns:a16="http://schemas.microsoft.com/office/drawing/2014/main" id="{B4B7A339-C6DC-1E3A-5C32-6C0AB95CAE8B}"/>
              </a:ext>
            </a:extLst>
          </p:cNvPr>
          <p:cNvPicPr>
            <a:picLocks noChangeAspect="1"/>
          </p:cNvPicPr>
          <p:nvPr/>
        </p:nvPicPr>
        <p:blipFill>
          <a:blip r:embed="rId2"/>
          <a:stretch>
            <a:fillRect/>
          </a:stretch>
        </p:blipFill>
        <p:spPr>
          <a:xfrm>
            <a:off x="683568" y="1950921"/>
            <a:ext cx="3672408" cy="3710327"/>
          </a:xfrm>
          <a:prstGeom prst="rect">
            <a:avLst/>
          </a:prstGeom>
        </p:spPr>
      </p:pic>
      <p:sp>
        <p:nvSpPr>
          <p:cNvPr id="11" name="TextBox 10">
            <a:extLst>
              <a:ext uri="{FF2B5EF4-FFF2-40B4-BE49-F238E27FC236}">
                <a16:creationId xmlns:a16="http://schemas.microsoft.com/office/drawing/2014/main" id="{70A57EB8-347D-0730-F545-5FD7E2467798}"/>
              </a:ext>
            </a:extLst>
          </p:cNvPr>
          <p:cNvSpPr txBox="1"/>
          <p:nvPr/>
        </p:nvSpPr>
        <p:spPr>
          <a:xfrm>
            <a:off x="539552" y="5677689"/>
            <a:ext cx="3888432" cy="738664"/>
          </a:xfrm>
          <a:prstGeom prst="rect">
            <a:avLst/>
          </a:prstGeom>
          <a:noFill/>
        </p:spPr>
        <p:txBody>
          <a:bodyPr wrap="square" rtlCol="0">
            <a:spAutoFit/>
          </a:bodyPr>
          <a:lstStyle/>
          <a:p>
            <a:r>
              <a:rPr lang="en-US" sz="1200" i="1" dirty="0">
                <a:solidFill>
                  <a:schemeClr val="bg1">
                    <a:lumMod val="95000"/>
                  </a:schemeClr>
                </a:solidFill>
              </a:rPr>
              <a:t>All values of k from 2 to 10 with DTW: the blocks blur as k grows.</a:t>
            </a:r>
            <a:endParaRPr lang="en-US" sz="1200" dirty="0">
              <a:solidFill>
                <a:schemeClr val="bg1">
                  <a:lumMod val="95000"/>
                </a:schemeClr>
              </a:solidFill>
            </a:endParaRPr>
          </a:p>
          <a:p>
            <a:endParaRPr lang="en-IN" dirty="0"/>
          </a:p>
        </p:txBody>
      </p:sp>
      <p:pic>
        <p:nvPicPr>
          <p:cNvPr id="13" name="Image 1" descr="Consensus matrix at the chosen k">
            <a:extLst>
              <a:ext uri="{FF2B5EF4-FFF2-40B4-BE49-F238E27FC236}">
                <a16:creationId xmlns:a16="http://schemas.microsoft.com/office/drawing/2014/main" id="{04EFA4CD-644B-A036-04EB-644DF6AB7CD5}"/>
              </a:ext>
            </a:extLst>
          </p:cNvPr>
          <p:cNvPicPr>
            <a:picLocks noChangeAspect="1"/>
          </p:cNvPicPr>
          <p:nvPr/>
        </p:nvPicPr>
        <p:blipFill>
          <a:blip r:embed="rId3"/>
          <a:stretch>
            <a:fillRect/>
          </a:stretch>
        </p:blipFill>
        <p:spPr>
          <a:xfrm>
            <a:off x="5096314" y="1950921"/>
            <a:ext cx="3960869" cy="3710327"/>
          </a:xfrm>
          <a:prstGeom prst="rect">
            <a:avLst/>
          </a:prstGeom>
        </p:spPr>
      </p:pic>
      <p:sp>
        <p:nvSpPr>
          <p:cNvPr id="14" name="TextBox 13">
            <a:extLst>
              <a:ext uri="{FF2B5EF4-FFF2-40B4-BE49-F238E27FC236}">
                <a16:creationId xmlns:a16="http://schemas.microsoft.com/office/drawing/2014/main" id="{D815BDCA-320C-62F0-56D4-4C30F65B6ADE}"/>
              </a:ext>
            </a:extLst>
          </p:cNvPr>
          <p:cNvSpPr txBox="1"/>
          <p:nvPr/>
        </p:nvSpPr>
        <p:spPr>
          <a:xfrm>
            <a:off x="5070073" y="5754633"/>
            <a:ext cx="2392001" cy="553998"/>
          </a:xfrm>
          <a:prstGeom prst="rect">
            <a:avLst/>
          </a:prstGeom>
          <a:noFill/>
        </p:spPr>
        <p:txBody>
          <a:bodyPr wrap="none" rtlCol="0">
            <a:spAutoFit/>
          </a:bodyPr>
          <a:lstStyle/>
          <a:p>
            <a:r>
              <a:rPr lang="en-US" sz="1200" i="1" dirty="0">
                <a:solidFill>
                  <a:schemeClr val="bg1">
                    <a:lumMod val="95000"/>
                  </a:schemeClr>
                </a:solidFill>
              </a:rPr>
              <a:t>Chosen k = 3: three dark blocks.</a:t>
            </a:r>
            <a:endParaRPr lang="en-US" sz="1200" dirty="0">
              <a:solidFill>
                <a:schemeClr val="bg1">
                  <a:lumMod val="95000"/>
                </a:schemeClr>
              </a:solidFill>
            </a:endParaRPr>
          </a:p>
          <a:p>
            <a:endParaRPr lang="en-IN" dirty="0"/>
          </a:p>
        </p:txBody>
      </p:sp>
      <p:sp>
        <p:nvSpPr>
          <p:cNvPr id="16" name="TextBox 15">
            <a:extLst>
              <a:ext uri="{FF2B5EF4-FFF2-40B4-BE49-F238E27FC236}">
                <a16:creationId xmlns:a16="http://schemas.microsoft.com/office/drawing/2014/main" id="{EAB887BF-A68F-851E-C94D-FE3905726A83}"/>
              </a:ext>
            </a:extLst>
          </p:cNvPr>
          <p:cNvSpPr txBox="1"/>
          <p:nvPr/>
        </p:nvSpPr>
        <p:spPr>
          <a:xfrm>
            <a:off x="1331640" y="6217350"/>
            <a:ext cx="7920880" cy="523220"/>
          </a:xfrm>
          <a:prstGeom prst="rect">
            <a:avLst/>
          </a:prstGeom>
          <a:noFill/>
        </p:spPr>
        <p:txBody>
          <a:bodyPr wrap="square">
            <a:spAutoFit/>
          </a:bodyPr>
          <a:lstStyle/>
          <a:p>
            <a:r>
              <a:rPr lang="en-US" sz="1400" b="1" dirty="0">
                <a:solidFill>
                  <a:schemeClr val="bg1">
                    <a:lumMod val="95000"/>
                  </a:schemeClr>
                </a:solidFill>
              </a:rPr>
              <a:t>Conclusion. </a:t>
            </a:r>
            <a:r>
              <a:rPr lang="en-US" sz="1400" dirty="0">
                <a:solidFill>
                  <a:schemeClr val="bg1">
                    <a:lumMod val="95000"/>
                  </a:schemeClr>
                </a:solidFill>
              </a:rPr>
              <a:t>At k = 3 the cluster consensus is 0.989, 0.981 and 0.949. The model with k = 2 is slightly more stable, but BIC chooses k = 3.</a:t>
            </a:r>
            <a:endParaRPr lang="en-IN" sz="1400" dirty="0">
              <a:solidFill>
                <a:schemeClr val="bg1">
                  <a:lumMod val="95000"/>
                </a:schemeClr>
              </a:solidFill>
            </a:endParaRPr>
          </a:p>
        </p:txBody>
      </p:sp>
    </p:spTree>
    <p:extLst>
      <p:ext uri="{BB962C8B-B14F-4D97-AF65-F5344CB8AC3E}">
        <p14:creationId xmlns:p14="http://schemas.microsoft.com/office/powerpoint/2010/main" val="23250068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E3DEC-4442-27AA-29BF-451F398D611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BD488E6-2ED3-4FF7-D685-366944FB47B9}"/>
              </a:ext>
            </a:extLst>
          </p:cNvPr>
          <p:cNvSpPr txBox="1"/>
          <p:nvPr/>
        </p:nvSpPr>
        <p:spPr>
          <a:xfrm>
            <a:off x="467544" y="1123133"/>
            <a:ext cx="6221805" cy="461665"/>
          </a:xfrm>
          <a:prstGeom prst="rect">
            <a:avLst/>
          </a:prstGeom>
          <a:noFill/>
        </p:spPr>
        <p:txBody>
          <a:bodyPr wrap="square">
            <a:spAutoFit/>
          </a:bodyPr>
          <a:lstStyle/>
          <a:p>
            <a:r>
              <a:rPr lang="en-US" sz="2400" b="1" dirty="0">
                <a:solidFill>
                  <a:schemeClr val="bg1">
                    <a:lumMod val="95000"/>
                  </a:schemeClr>
                </a:solidFill>
              </a:rPr>
              <a:t>Spire Healthcare: grouped as falling.</a:t>
            </a:r>
            <a:endParaRPr lang="en-IN" sz="2000" dirty="0">
              <a:solidFill>
                <a:schemeClr val="bg1">
                  <a:lumMod val="95000"/>
                </a:schemeClr>
              </a:solidFill>
            </a:endParaRPr>
          </a:p>
        </p:txBody>
      </p:sp>
      <p:sp>
        <p:nvSpPr>
          <p:cNvPr id="6" name="TextBox 5">
            <a:extLst>
              <a:ext uri="{FF2B5EF4-FFF2-40B4-BE49-F238E27FC236}">
                <a16:creationId xmlns:a16="http://schemas.microsoft.com/office/drawing/2014/main" id="{45CE8A20-3084-0B1E-0D25-9D79E87D5A26}"/>
              </a:ext>
            </a:extLst>
          </p:cNvPr>
          <p:cNvSpPr txBox="1"/>
          <p:nvPr/>
        </p:nvSpPr>
        <p:spPr>
          <a:xfrm>
            <a:off x="1465371" y="1798604"/>
            <a:ext cx="3574193" cy="615553"/>
          </a:xfrm>
          <a:prstGeom prst="rect">
            <a:avLst/>
          </a:prstGeom>
          <a:noFill/>
        </p:spPr>
        <p:txBody>
          <a:bodyPr wrap="square" rtlCol="0">
            <a:spAutoFit/>
          </a:bodyPr>
          <a:lstStyle/>
          <a:p>
            <a:r>
              <a:rPr lang="en-US" sz="1600" b="1" dirty="0">
                <a:solidFill>
                  <a:schemeClr val="bg1">
                    <a:lumMod val="95000"/>
                  </a:schemeClr>
                </a:solidFill>
              </a:rPr>
              <a:t>Spire Healthcare Group (SPI.L)</a:t>
            </a:r>
            <a:endParaRPr lang="en-US" sz="1600" dirty="0">
              <a:solidFill>
                <a:schemeClr val="bg1">
                  <a:lumMod val="95000"/>
                </a:schemeClr>
              </a:solidFill>
            </a:endParaRPr>
          </a:p>
          <a:p>
            <a:endParaRPr lang="en-IN" dirty="0"/>
          </a:p>
        </p:txBody>
      </p:sp>
      <p:pic>
        <p:nvPicPr>
          <p:cNvPr id="12" name="Picture 11">
            <a:extLst>
              <a:ext uri="{FF2B5EF4-FFF2-40B4-BE49-F238E27FC236}">
                <a16:creationId xmlns:a16="http://schemas.microsoft.com/office/drawing/2014/main" id="{1807578E-6FAD-D7BD-1349-52E954529C76}"/>
              </a:ext>
            </a:extLst>
          </p:cNvPr>
          <p:cNvPicPr>
            <a:picLocks noChangeAspect="1"/>
          </p:cNvPicPr>
          <p:nvPr/>
        </p:nvPicPr>
        <p:blipFill>
          <a:blip r:embed="rId2"/>
          <a:stretch>
            <a:fillRect/>
          </a:stretch>
        </p:blipFill>
        <p:spPr>
          <a:xfrm>
            <a:off x="603947" y="1772816"/>
            <a:ext cx="725721" cy="537571"/>
          </a:xfrm>
          <a:prstGeom prst="rect">
            <a:avLst/>
          </a:prstGeom>
        </p:spPr>
      </p:pic>
      <p:graphicFrame>
        <p:nvGraphicFramePr>
          <p:cNvPr id="14" name="Table 0">
            <a:extLst>
              <a:ext uri="{FF2B5EF4-FFF2-40B4-BE49-F238E27FC236}">
                <a16:creationId xmlns:a16="http://schemas.microsoft.com/office/drawing/2014/main" id="{B4A4F623-F0CA-3EBB-7185-9F5D51BC13A9}"/>
              </a:ext>
            </a:extLst>
          </p:cNvPr>
          <p:cNvGraphicFramePr>
            <a:graphicFrameLocks noGrp="1"/>
          </p:cNvGraphicFramePr>
          <p:nvPr>
            <p:extLst>
              <p:ext uri="{D42A27DB-BD31-4B8C-83A1-F6EECF244321}">
                <p14:modId xmlns:p14="http://schemas.microsoft.com/office/powerpoint/2010/main" val="3478290322"/>
              </p:ext>
            </p:extLst>
          </p:nvPr>
        </p:nvGraphicFramePr>
        <p:xfrm>
          <a:off x="649592" y="2605896"/>
          <a:ext cx="4101183" cy="1615192"/>
        </p:xfrm>
        <a:graphic>
          <a:graphicData uri="http://schemas.openxmlformats.org/drawingml/2006/table">
            <a:tbl>
              <a:tblPr>
                <a:tableStyleId>{E8034E78-7F5D-4C2E-B375-FC64B27BC917}</a:tableStyleId>
              </a:tblPr>
              <a:tblGrid>
                <a:gridCol w="1857568">
                  <a:extLst>
                    <a:ext uri="{9D8B030D-6E8A-4147-A177-3AD203B41FA5}">
                      <a16:colId xmlns:a16="http://schemas.microsoft.com/office/drawing/2014/main" val="20000"/>
                    </a:ext>
                  </a:extLst>
                </a:gridCol>
                <a:gridCol w="2243615">
                  <a:extLst>
                    <a:ext uri="{9D8B030D-6E8A-4147-A177-3AD203B41FA5}">
                      <a16:colId xmlns:a16="http://schemas.microsoft.com/office/drawing/2014/main" val="20001"/>
                    </a:ext>
                  </a:extLst>
                </a:gridCol>
              </a:tblGrid>
              <a:tr h="403798">
                <a:tc>
                  <a:txBody>
                    <a:bodyPr/>
                    <a:lstStyle/>
                    <a:p>
                      <a:pPr marL="0" indent="0">
                        <a:buNone/>
                      </a:pPr>
                      <a:r>
                        <a:rPr lang="en-US" sz="1200" b="1" dirty="0">
                          <a:solidFill>
                            <a:schemeClr val="tx1"/>
                          </a:solidFill>
                        </a:rPr>
                        <a:t>Method</a:t>
                      </a:r>
                      <a:endParaRPr lang="en-US" sz="1200" dirty="0">
                        <a:solidFill>
                          <a:schemeClr val="tx1"/>
                        </a:solidFill>
                      </a:endParaRPr>
                    </a:p>
                  </a:txBody>
                  <a:tcPr marL="38100" marR="38100" marT="38100" marB="38100" anchor="ctr"/>
                </a:tc>
                <a:tc>
                  <a:txBody>
                    <a:bodyPr/>
                    <a:lstStyle/>
                    <a:p>
                      <a:pPr marL="0" indent="0">
                        <a:buNone/>
                      </a:pPr>
                      <a:r>
                        <a:rPr lang="en-US" sz="1200" b="1" dirty="0">
                          <a:solidFill>
                            <a:schemeClr val="tx1"/>
                          </a:solidFill>
                        </a:rPr>
                        <a:t>Group for Spire</a:t>
                      </a:r>
                      <a:endParaRPr lang="en-US" sz="1200" dirty="0">
                        <a:solidFill>
                          <a:schemeClr val="tx1"/>
                        </a:solidFill>
                      </a:endParaRPr>
                    </a:p>
                  </a:txBody>
                  <a:tcPr marL="38100" marR="38100" marT="38100" marB="38100" anchor="ctr"/>
                </a:tc>
                <a:extLst>
                  <a:ext uri="{0D108BD9-81ED-4DB2-BD59-A6C34878D82A}">
                    <a16:rowId xmlns:a16="http://schemas.microsoft.com/office/drawing/2014/main" val="10000"/>
                  </a:ext>
                </a:extLst>
              </a:tr>
              <a:tr h="403798">
                <a:tc>
                  <a:txBody>
                    <a:bodyPr/>
                    <a:lstStyle/>
                    <a:p>
                      <a:pPr marL="0" indent="0">
                        <a:buNone/>
                      </a:pPr>
                      <a:r>
                        <a:rPr lang="en-US" sz="1200" dirty="0">
                          <a:solidFill>
                            <a:srgbClr val="111111"/>
                          </a:solidFill>
                        </a:rPr>
                        <a:t>K-Means</a:t>
                      </a:r>
                      <a:endParaRPr lang="en-US" sz="1200" dirty="0"/>
                    </a:p>
                  </a:txBody>
                  <a:tcPr marL="38100" marR="38100" marT="38100" marB="38100" anchor="ctr"/>
                </a:tc>
                <a:tc>
                  <a:txBody>
                    <a:bodyPr/>
                    <a:lstStyle/>
                    <a:p>
                      <a:pPr marL="0" indent="0">
                        <a:buNone/>
                      </a:pPr>
                      <a:r>
                        <a:rPr lang="en-US" sz="1200" dirty="0">
                          <a:solidFill>
                            <a:srgbClr val="111111"/>
                          </a:solidFill>
                        </a:rPr>
                        <a:t>Falling</a:t>
                      </a:r>
                      <a:endParaRPr lang="en-US" sz="1200" dirty="0"/>
                    </a:p>
                  </a:txBody>
                  <a:tcPr marL="38100" marR="38100" marT="38100" marB="38100" anchor="ctr"/>
                </a:tc>
                <a:extLst>
                  <a:ext uri="{0D108BD9-81ED-4DB2-BD59-A6C34878D82A}">
                    <a16:rowId xmlns:a16="http://schemas.microsoft.com/office/drawing/2014/main" val="10001"/>
                  </a:ext>
                </a:extLst>
              </a:tr>
              <a:tr h="403798">
                <a:tc>
                  <a:txBody>
                    <a:bodyPr/>
                    <a:lstStyle/>
                    <a:p>
                      <a:pPr marL="0" indent="0">
                        <a:buNone/>
                      </a:pPr>
                      <a:r>
                        <a:rPr lang="en-US" sz="1200" dirty="0">
                          <a:solidFill>
                            <a:srgbClr val="111111"/>
                          </a:solidFill>
                        </a:rPr>
                        <a:t>K-Medoids with DTW</a:t>
                      </a:r>
                      <a:endParaRPr lang="en-US" sz="1200" dirty="0"/>
                    </a:p>
                  </a:txBody>
                  <a:tcPr marL="38100" marR="38100" marT="38100" marB="38100" anchor="ctr"/>
                </a:tc>
                <a:tc>
                  <a:txBody>
                    <a:bodyPr/>
                    <a:lstStyle/>
                    <a:p>
                      <a:pPr marL="0" indent="0">
                        <a:buNone/>
                      </a:pPr>
                      <a:r>
                        <a:rPr lang="en-US" sz="1200" dirty="0">
                          <a:solidFill>
                            <a:srgbClr val="111111"/>
                          </a:solidFill>
                        </a:rPr>
                        <a:t>Falling</a:t>
                      </a:r>
                      <a:endParaRPr lang="en-US" sz="1200" dirty="0"/>
                    </a:p>
                  </a:txBody>
                  <a:tcPr marL="38100" marR="38100" marT="38100" marB="38100" anchor="ctr"/>
                </a:tc>
                <a:extLst>
                  <a:ext uri="{0D108BD9-81ED-4DB2-BD59-A6C34878D82A}">
                    <a16:rowId xmlns:a16="http://schemas.microsoft.com/office/drawing/2014/main" val="10002"/>
                  </a:ext>
                </a:extLst>
              </a:tr>
              <a:tr h="403798">
                <a:tc>
                  <a:txBody>
                    <a:bodyPr/>
                    <a:lstStyle/>
                    <a:p>
                      <a:pPr marL="0" indent="0">
                        <a:buNone/>
                      </a:pPr>
                      <a:r>
                        <a:rPr lang="en-US" sz="1200" b="1" dirty="0">
                          <a:solidFill>
                            <a:srgbClr val="7030A0"/>
                          </a:solidFill>
                        </a:rPr>
                        <a:t>GMM</a:t>
                      </a:r>
                      <a:endParaRPr lang="en-US" sz="1200" dirty="0">
                        <a:solidFill>
                          <a:srgbClr val="7030A0"/>
                        </a:solidFill>
                      </a:endParaRPr>
                    </a:p>
                  </a:txBody>
                  <a:tcPr marL="38100" marR="38100" marT="38100" marB="38100" anchor="ctr"/>
                </a:tc>
                <a:tc>
                  <a:txBody>
                    <a:bodyPr/>
                    <a:lstStyle/>
                    <a:p>
                      <a:pPr marL="0" indent="0">
                        <a:buNone/>
                      </a:pPr>
                      <a:r>
                        <a:rPr lang="en-US" sz="1200" b="1" dirty="0">
                          <a:solidFill>
                            <a:srgbClr val="7030A0"/>
                          </a:solidFill>
                        </a:rPr>
                        <a:t>Mixed</a:t>
                      </a:r>
                      <a:endParaRPr lang="en-US" sz="1200" dirty="0">
                        <a:solidFill>
                          <a:srgbClr val="7030A0"/>
                        </a:solidFill>
                      </a:endParaRPr>
                    </a:p>
                  </a:txBody>
                  <a:tcPr marL="38100" marR="38100" marT="38100" marB="38100" anchor="ctr"/>
                </a:tc>
                <a:extLst>
                  <a:ext uri="{0D108BD9-81ED-4DB2-BD59-A6C34878D82A}">
                    <a16:rowId xmlns:a16="http://schemas.microsoft.com/office/drawing/2014/main" val="10003"/>
                  </a:ext>
                </a:extLst>
              </a:tr>
            </a:tbl>
          </a:graphicData>
        </a:graphic>
      </p:graphicFrame>
      <p:sp>
        <p:nvSpPr>
          <p:cNvPr id="16" name="TextBox 15">
            <a:extLst>
              <a:ext uri="{FF2B5EF4-FFF2-40B4-BE49-F238E27FC236}">
                <a16:creationId xmlns:a16="http://schemas.microsoft.com/office/drawing/2014/main" id="{BBAA9D50-98B8-B737-0539-3EF9B116F916}"/>
              </a:ext>
            </a:extLst>
          </p:cNvPr>
          <p:cNvSpPr txBox="1"/>
          <p:nvPr/>
        </p:nvSpPr>
        <p:spPr>
          <a:xfrm>
            <a:off x="603947" y="4462670"/>
            <a:ext cx="4435617" cy="1754326"/>
          </a:xfrm>
          <a:prstGeom prst="rect">
            <a:avLst/>
          </a:prstGeom>
          <a:noFill/>
        </p:spPr>
        <p:txBody>
          <a:bodyPr wrap="square">
            <a:spAutoFit/>
          </a:bodyPr>
          <a:lstStyle/>
          <a:p>
            <a:r>
              <a:rPr lang="en-IN" b="1" dirty="0">
                <a:solidFill>
                  <a:schemeClr val="bg1"/>
                </a:solidFill>
              </a:rPr>
              <a:t>Price trend</a:t>
            </a:r>
            <a:r>
              <a:rPr lang="en-IN" dirty="0">
                <a:solidFill>
                  <a:schemeClr val="bg1"/>
                </a:solidFill>
              </a:rPr>
              <a:t>: K-Means and K-Medoids classify Spire as falling, while GMM places it in a mixed group, potentially capturing more nuance after the 2026 takeover and price rise. However, one example does not prove GMM is better.</a:t>
            </a:r>
          </a:p>
        </p:txBody>
      </p:sp>
      <p:pic>
        <p:nvPicPr>
          <p:cNvPr id="4" name="Picture 3">
            <a:extLst>
              <a:ext uri="{FF2B5EF4-FFF2-40B4-BE49-F238E27FC236}">
                <a16:creationId xmlns:a16="http://schemas.microsoft.com/office/drawing/2014/main" id="{0FA77165-1D8E-C051-0BD4-587991FFAA2D}"/>
              </a:ext>
            </a:extLst>
          </p:cNvPr>
          <p:cNvPicPr>
            <a:picLocks noChangeAspect="1"/>
          </p:cNvPicPr>
          <p:nvPr/>
        </p:nvPicPr>
        <p:blipFill>
          <a:blip r:embed="rId3"/>
          <a:stretch>
            <a:fillRect/>
          </a:stretch>
        </p:blipFill>
        <p:spPr>
          <a:xfrm>
            <a:off x="4932040" y="1616774"/>
            <a:ext cx="4101183" cy="5067320"/>
          </a:xfrm>
          <a:prstGeom prst="rect">
            <a:avLst/>
          </a:prstGeom>
        </p:spPr>
      </p:pic>
    </p:spTree>
    <p:extLst>
      <p:ext uri="{BB962C8B-B14F-4D97-AF65-F5344CB8AC3E}">
        <p14:creationId xmlns:p14="http://schemas.microsoft.com/office/powerpoint/2010/main" val="35493647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63821-C348-9CD2-CA61-C8D76041936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7178583-6BC3-CC29-CB48-4A8CB185E07D}"/>
              </a:ext>
            </a:extLst>
          </p:cNvPr>
          <p:cNvSpPr txBox="1"/>
          <p:nvPr/>
        </p:nvSpPr>
        <p:spPr>
          <a:xfrm>
            <a:off x="449796" y="1340768"/>
            <a:ext cx="8244408" cy="523220"/>
          </a:xfrm>
          <a:prstGeom prst="rect">
            <a:avLst/>
          </a:prstGeom>
          <a:noFill/>
        </p:spPr>
        <p:txBody>
          <a:bodyPr wrap="square">
            <a:spAutoFit/>
          </a:bodyPr>
          <a:lstStyle/>
          <a:p>
            <a:r>
              <a:rPr lang="en-US" sz="2800" b="1" dirty="0">
                <a:solidFill>
                  <a:schemeClr val="bg1"/>
                </a:solidFill>
              </a:rPr>
              <a:t>More companies across the three methods</a:t>
            </a:r>
            <a:endParaRPr lang="en-IN" sz="2400" dirty="0">
              <a:solidFill>
                <a:schemeClr val="bg1"/>
              </a:solidFill>
            </a:endParaRPr>
          </a:p>
        </p:txBody>
      </p:sp>
      <p:sp>
        <p:nvSpPr>
          <p:cNvPr id="9" name="TextBox 8">
            <a:extLst>
              <a:ext uri="{FF2B5EF4-FFF2-40B4-BE49-F238E27FC236}">
                <a16:creationId xmlns:a16="http://schemas.microsoft.com/office/drawing/2014/main" id="{AA058DBD-CA55-F271-8900-888841553DD7}"/>
              </a:ext>
            </a:extLst>
          </p:cNvPr>
          <p:cNvSpPr txBox="1"/>
          <p:nvPr/>
        </p:nvSpPr>
        <p:spPr>
          <a:xfrm>
            <a:off x="2307055" y="3105136"/>
            <a:ext cx="4614110" cy="369332"/>
          </a:xfrm>
          <a:prstGeom prst="rect">
            <a:avLst/>
          </a:prstGeom>
          <a:noFill/>
        </p:spPr>
        <p:txBody>
          <a:bodyPr wrap="square">
            <a:spAutoFit/>
          </a:bodyPr>
          <a:lstStyle/>
          <a:p>
            <a:endParaRPr lang="en-IN" dirty="0"/>
          </a:p>
        </p:txBody>
      </p:sp>
      <p:graphicFrame>
        <p:nvGraphicFramePr>
          <p:cNvPr id="11" name="Table 1">
            <a:extLst>
              <a:ext uri="{FF2B5EF4-FFF2-40B4-BE49-F238E27FC236}">
                <a16:creationId xmlns:a16="http://schemas.microsoft.com/office/drawing/2014/main" id="{3FEB3A3C-C900-A50A-E7B6-B657825B4F04}"/>
              </a:ext>
            </a:extLst>
          </p:cNvPr>
          <p:cNvGraphicFramePr>
            <a:graphicFrameLocks noGrp="1"/>
          </p:cNvGraphicFramePr>
          <p:nvPr>
            <p:extLst>
              <p:ext uri="{D42A27DB-BD31-4B8C-83A1-F6EECF244321}">
                <p14:modId xmlns:p14="http://schemas.microsoft.com/office/powerpoint/2010/main" val="3871251333"/>
              </p:ext>
            </p:extLst>
          </p:nvPr>
        </p:nvGraphicFramePr>
        <p:xfrm>
          <a:off x="4932040" y="2348880"/>
          <a:ext cx="3636897" cy="3168351"/>
        </p:xfrm>
        <a:graphic>
          <a:graphicData uri="http://schemas.openxmlformats.org/drawingml/2006/table">
            <a:tbl>
              <a:tblPr>
                <a:tableStyleId>{D7AC3CCA-C797-4891-BE02-D94E43425B78}</a:tableStyleId>
              </a:tblPr>
              <a:tblGrid>
                <a:gridCol w="1281180">
                  <a:extLst>
                    <a:ext uri="{9D8B030D-6E8A-4147-A177-3AD203B41FA5}">
                      <a16:colId xmlns:a16="http://schemas.microsoft.com/office/drawing/2014/main" val="20000"/>
                    </a:ext>
                  </a:extLst>
                </a:gridCol>
                <a:gridCol w="785239">
                  <a:extLst>
                    <a:ext uri="{9D8B030D-6E8A-4147-A177-3AD203B41FA5}">
                      <a16:colId xmlns:a16="http://schemas.microsoft.com/office/drawing/2014/main" val="20001"/>
                    </a:ext>
                  </a:extLst>
                </a:gridCol>
                <a:gridCol w="785239">
                  <a:extLst>
                    <a:ext uri="{9D8B030D-6E8A-4147-A177-3AD203B41FA5}">
                      <a16:colId xmlns:a16="http://schemas.microsoft.com/office/drawing/2014/main" val="20002"/>
                    </a:ext>
                  </a:extLst>
                </a:gridCol>
                <a:gridCol w="785239">
                  <a:extLst>
                    <a:ext uri="{9D8B030D-6E8A-4147-A177-3AD203B41FA5}">
                      <a16:colId xmlns:a16="http://schemas.microsoft.com/office/drawing/2014/main" val="20003"/>
                    </a:ext>
                  </a:extLst>
                </a:gridCol>
              </a:tblGrid>
              <a:tr h="352039">
                <a:tc>
                  <a:txBody>
                    <a:bodyPr/>
                    <a:lstStyle/>
                    <a:p>
                      <a:pPr marL="0" indent="0">
                        <a:buNone/>
                      </a:pPr>
                      <a:r>
                        <a:rPr lang="en-US" sz="1100" b="1" dirty="0">
                          <a:solidFill>
                            <a:schemeClr val="tx1"/>
                          </a:solidFill>
                        </a:rPr>
                        <a:t>Company</a:t>
                      </a:r>
                      <a:endParaRPr lang="en-US" sz="1100" dirty="0">
                        <a:solidFill>
                          <a:schemeClr val="tx1"/>
                        </a:solidFill>
                      </a:endParaRPr>
                    </a:p>
                  </a:txBody>
                  <a:tcPr marL="38100" marR="38100" marT="38100" marB="38100" anchor="ctr"/>
                </a:tc>
                <a:tc>
                  <a:txBody>
                    <a:bodyPr/>
                    <a:lstStyle/>
                    <a:p>
                      <a:pPr marL="0" indent="0" algn="ctr">
                        <a:buNone/>
                      </a:pPr>
                      <a:r>
                        <a:rPr lang="en-US" sz="1100" b="1" dirty="0">
                          <a:solidFill>
                            <a:schemeClr val="tx1"/>
                          </a:solidFill>
                        </a:rPr>
                        <a:t>K-Means</a:t>
                      </a:r>
                      <a:endParaRPr lang="en-US" sz="1100" dirty="0">
                        <a:solidFill>
                          <a:schemeClr val="tx1"/>
                        </a:solidFill>
                      </a:endParaRPr>
                    </a:p>
                  </a:txBody>
                  <a:tcPr marL="38100" marR="38100" marT="38100" marB="38100" anchor="ctr"/>
                </a:tc>
                <a:tc>
                  <a:txBody>
                    <a:bodyPr/>
                    <a:lstStyle/>
                    <a:p>
                      <a:pPr marL="0" indent="0" algn="ctr">
                        <a:buNone/>
                      </a:pPr>
                      <a:r>
                        <a:rPr lang="en-US" sz="1100" b="1" dirty="0">
                          <a:solidFill>
                            <a:schemeClr val="tx1"/>
                          </a:solidFill>
                        </a:rPr>
                        <a:t>K-Medoids</a:t>
                      </a:r>
                      <a:endParaRPr lang="en-US" sz="1100" dirty="0">
                        <a:solidFill>
                          <a:schemeClr val="tx1"/>
                        </a:solidFill>
                      </a:endParaRPr>
                    </a:p>
                  </a:txBody>
                  <a:tcPr marL="38100" marR="38100" marT="38100" marB="38100" anchor="ctr"/>
                </a:tc>
                <a:tc>
                  <a:txBody>
                    <a:bodyPr/>
                    <a:lstStyle/>
                    <a:p>
                      <a:pPr marL="0" indent="0" algn="ctr">
                        <a:buNone/>
                      </a:pPr>
                      <a:r>
                        <a:rPr lang="en-US" sz="1100" b="1" dirty="0">
                          <a:solidFill>
                            <a:schemeClr val="tx1"/>
                          </a:solidFill>
                        </a:rPr>
                        <a:t>GMM</a:t>
                      </a:r>
                      <a:endParaRPr lang="en-US" sz="1100" dirty="0">
                        <a:solidFill>
                          <a:schemeClr val="tx1"/>
                        </a:solidFill>
                      </a:endParaRPr>
                    </a:p>
                  </a:txBody>
                  <a:tcPr marL="38100" marR="38100" marT="38100" marB="38100" anchor="ctr"/>
                </a:tc>
                <a:extLst>
                  <a:ext uri="{0D108BD9-81ED-4DB2-BD59-A6C34878D82A}">
                    <a16:rowId xmlns:a16="http://schemas.microsoft.com/office/drawing/2014/main" val="10000"/>
                  </a:ext>
                </a:extLst>
              </a:tr>
              <a:tr h="352039">
                <a:tc>
                  <a:txBody>
                    <a:bodyPr/>
                    <a:lstStyle/>
                    <a:p>
                      <a:pPr marL="0" indent="0">
                        <a:buNone/>
                      </a:pPr>
                      <a:r>
                        <a:rPr lang="en-US" sz="1100" dirty="0">
                          <a:solidFill>
                            <a:srgbClr val="111111"/>
                          </a:solidFill>
                        </a:rPr>
                        <a:t>Serco</a:t>
                      </a:r>
                      <a:endParaRPr lang="en-US" sz="1100" dirty="0"/>
                    </a:p>
                  </a:txBody>
                  <a:tcPr marL="38100" marR="38100" marT="38100" marB="38100" anchor="ctr"/>
                </a:tc>
                <a:tc>
                  <a:txBody>
                    <a:bodyPr/>
                    <a:lstStyle/>
                    <a:p>
                      <a:pPr marL="0" indent="0" algn="ctr">
                        <a:buNone/>
                      </a:pPr>
                      <a:r>
                        <a:rPr lang="en-US" sz="1100" b="1" dirty="0">
                          <a:solidFill>
                            <a:schemeClr val="tx1"/>
                          </a:solidFill>
                        </a:rPr>
                        <a:t>Rising</a:t>
                      </a:r>
                      <a:endParaRPr lang="en-US" sz="1100" dirty="0">
                        <a:solidFill>
                          <a:schemeClr val="tx1"/>
                        </a:solidFill>
                      </a:endParaRPr>
                    </a:p>
                  </a:txBody>
                  <a:tcPr marL="38100" marR="38100" marT="38100" marB="38100" anchor="ctr"/>
                </a:tc>
                <a:tc>
                  <a:txBody>
                    <a:bodyPr/>
                    <a:lstStyle/>
                    <a:p>
                      <a:pPr marL="0" indent="0" algn="ctr">
                        <a:buNone/>
                      </a:pPr>
                      <a:r>
                        <a:rPr lang="en-US" sz="1100" b="1" dirty="0">
                          <a:solidFill>
                            <a:schemeClr val="tx1"/>
                          </a:solidFill>
                        </a:rPr>
                        <a:t>Rising</a:t>
                      </a:r>
                      <a:endParaRPr lang="en-US" sz="1100" dirty="0">
                        <a:solidFill>
                          <a:schemeClr val="tx1"/>
                        </a:solidFill>
                      </a:endParaRPr>
                    </a:p>
                  </a:txBody>
                  <a:tcPr marL="38100" marR="38100" marT="38100" marB="38100" anchor="ctr"/>
                </a:tc>
                <a:tc>
                  <a:txBody>
                    <a:bodyPr/>
                    <a:lstStyle/>
                    <a:p>
                      <a:pPr marL="0" indent="0" algn="ctr">
                        <a:buNone/>
                      </a:pPr>
                      <a:r>
                        <a:rPr lang="en-US" sz="1100" b="1" dirty="0">
                          <a:solidFill>
                            <a:schemeClr val="tx1"/>
                          </a:solidFill>
                        </a:rPr>
                        <a:t>Rising</a:t>
                      </a:r>
                      <a:endParaRPr lang="en-US" sz="1100" dirty="0">
                        <a:solidFill>
                          <a:schemeClr val="tx1"/>
                        </a:solidFill>
                      </a:endParaRPr>
                    </a:p>
                  </a:txBody>
                  <a:tcPr marL="38100" marR="38100" marT="38100" marB="38100" anchor="ctr"/>
                </a:tc>
                <a:extLst>
                  <a:ext uri="{0D108BD9-81ED-4DB2-BD59-A6C34878D82A}">
                    <a16:rowId xmlns:a16="http://schemas.microsoft.com/office/drawing/2014/main" val="10001"/>
                  </a:ext>
                </a:extLst>
              </a:tr>
              <a:tr h="352039">
                <a:tc>
                  <a:txBody>
                    <a:bodyPr/>
                    <a:lstStyle/>
                    <a:p>
                      <a:pPr marL="0" indent="0">
                        <a:buNone/>
                      </a:pPr>
                      <a:r>
                        <a:rPr lang="en-US" sz="1100" dirty="0">
                          <a:solidFill>
                            <a:srgbClr val="111111"/>
                          </a:solidFill>
                        </a:rPr>
                        <a:t>Currys</a:t>
                      </a:r>
                      <a:endParaRPr lang="en-US" sz="1100" dirty="0"/>
                    </a:p>
                  </a:txBody>
                  <a:tcPr marL="38100" marR="38100" marT="38100" marB="38100" anchor="ctr"/>
                </a:tc>
                <a:tc>
                  <a:txBody>
                    <a:bodyPr/>
                    <a:lstStyle/>
                    <a:p>
                      <a:pPr marL="0" indent="0" algn="ctr">
                        <a:buNone/>
                      </a:pPr>
                      <a:r>
                        <a:rPr lang="en-US" sz="1100" b="1" dirty="0">
                          <a:solidFill>
                            <a:schemeClr val="tx1"/>
                          </a:solidFill>
                        </a:rPr>
                        <a:t>Rising</a:t>
                      </a:r>
                      <a:endParaRPr lang="en-US" sz="1100" dirty="0">
                        <a:solidFill>
                          <a:schemeClr val="tx1"/>
                        </a:solidFill>
                      </a:endParaRPr>
                    </a:p>
                  </a:txBody>
                  <a:tcPr marL="38100" marR="38100" marT="38100" marB="38100" anchor="ctr"/>
                </a:tc>
                <a:tc>
                  <a:txBody>
                    <a:bodyPr/>
                    <a:lstStyle/>
                    <a:p>
                      <a:pPr marL="0" indent="0" algn="ctr">
                        <a:buNone/>
                      </a:pPr>
                      <a:r>
                        <a:rPr lang="en-US" sz="1100" b="1" dirty="0">
                          <a:solidFill>
                            <a:schemeClr val="tx1"/>
                          </a:solidFill>
                        </a:rPr>
                        <a:t>Rising</a:t>
                      </a:r>
                      <a:endParaRPr lang="en-US" sz="1100" dirty="0">
                        <a:solidFill>
                          <a:schemeClr val="tx1"/>
                        </a:solidFill>
                      </a:endParaRPr>
                    </a:p>
                  </a:txBody>
                  <a:tcPr marL="38100" marR="38100" marT="38100" marB="38100" anchor="ctr"/>
                </a:tc>
                <a:tc>
                  <a:txBody>
                    <a:bodyPr/>
                    <a:lstStyle/>
                    <a:p>
                      <a:pPr marL="0" indent="0" algn="ctr">
                        <a:buNone/>
                      </a:pPr>
                      <a:r>
                        <a:rPr lang="en-US" sz="1100" b="1" dirty="0">
                          <a:solidFill>
                            <a:schemeClr val="tx1"/>
                          </a:solidFill>
                        </a:rPr>
                        <a:t>Rising</a:t>
                      </a:r>
                      <a:endParaRPr lang="en-US" sz="1100" dirty="0">
                        <a:solidFill>
                          <a:schemeClr val="tx1"/>
                        </a:solidFill>
                      </a:endParaRPr>
                    </a:p>
                  </a:txBody>
                  <a:tcPr marL="38100" marR="38100" marT="38100" marB="38100" anchor="ctr"/>
                </a:tc>
                <a:extLst>
                  <a:ext uri="{0D108BD9-81ED-4DB2-BD59-A6C34878D82A}">
                    <a16:rowId xmlns:a16="http://schemas.microsoft.com/office/drawing/2014/main" val="10002"/>
                  </a:ext>
                </a:extLst>
              </a:tr>
              <a:tr h="352039">
                <a:tc>
                  <a:txBody>
                    <a:bodyPr/>
                    <a:lstStyle/>
                    <a:p>
                      <a:pPr marL="0" indent="0">
                        <a:buNone/>
                      </a:pPr>
                      <a:r>
                        <a:rPr lang="en-US" sz="1100" dirty="0">
                          <a:solidFill>
                            <a:srgbClr val="111111"/>
                          </a:solidFill>
                        </a:rPr>
                        <a:t>Cranswick</a:t>
                      </a:r>
                      <a:endParaRPr lang="en-US" sz="1100" dirty="0"/>
                    </a:p>
                  </a:txBody>
                  <a:tcPr marL="38100" marR="38100" marT="38100" marB="38100" anchor="ctr"/>
                </a:tc>
                <a:tc>
                  <a:txBody>
                    <a:bodyPr/>
                    <a:lstStyle/>
                    <a:p>
                      <a:pPr marL="0" indent="0" algn="ctr">
                        <a:buNone/>
                      </a:pPr>
                      <a:r>
                        <a:rPr lang="en-US" sz="1100" b="1" dirty="0">
                          <a:solidFill>
                            <a:schemeClr val="tx1"/>
                          </a:solidFill>
                        </a:rPr>
                        <a:t>Rising</a:t>
                      </a:r>
                      <a:endParaRPr lang="en-US" sz="1100" dirty="0">
                        <a:solidFill>
                          <a:schemeClr val="tx1"/>
                        </a:solidFill>
                      </a:endParaRPr>
                    </a:p>
                  </a:txBody>
                  <a:tcPr marL="38100" marR="38100" marT="38100" marB="38100" anchor="ctr"/>
                </a:tc>
                <a:tc>
                  <a:txBody>
                    <a:bodyPr/>
                    <a:lstStyle/>
                    <a:p>
                      <a:pPr marL="0" indent="0" algn="ctr">
                        <a:buNone/>
                      </a:pPr>
                      <a:r>
                        <a:rPr lang="en-US" sz="1100" b="1" dirty="0">
                          <a:solidFill>
                            <a:schemeClr val="tx1"/>
                          </a:solidFill>
                        </a:rPr>
                        <a:t>Rising</a:t>
                      </a:r>
                      <a:endParaRPr lang="en-US" sz="1100" dirty="0">
                        <a:solidFill>
                          <a:schemeClr val="tx1"/>
                        </a:solidFill>
                      </a:endParaRPr>
                    </a:p>
                  </a:txBody>
                  <a:tcPr marL="38100" marR="38100" marT="38100" marB="38100" anchor="ctr"/>
                </a:tc>
                <a:tc>
                  <a:txBody>
                    <a:bodyPr/>
                    <a:lstStyle/>
                    <a:p>
                      <a:pPr marL="0" indent="0" algn="ctr">
                        <a:buNone/>
                      </a:pPr>
                      <a:r>
                        <a:rPr lang="en-US" sz="1100" b="1" dirty="0">
                          <a:solidFill>
                            <a:schemeClr val="tx1"/>
                          </a:solidFill>
                        </a:rPr>
                        <a:t>Rising</a:t>
                      </a:r>
                      <a:endParaRPr lang="en-US" sz="1100" dirty="0">
                        <a:solidFill>
                          <a:schemeClr val="tx1"/>
                        </a:solidFill>
                      </a:endParaRPr>
                    </a:p>
                  </a:txBody>
                  <a:tcPr marL="38100" marR="38100" marT="38100" marB="38100" anchor="ctr"/>
                </a:tc>
                <a:extLst>
                  <a:ext uri="{0D108BD9-81ED-4DB2-BD59-A6C34878D82A}">
                    <a16:rowId xmlns:a16="http://schemas.microsoft.com/office/drawing/2014/main" val="10003"/>
                  </a:ext>
                </a:extLst>
              </a:tr>
              <a:tr h="352039">
                <a:tc>
                  <a:txBody>
                    <a:bodyPr/>
                    <a:lstStyle/>
                    <a:p>
                      <a:pPr marL="0" indent="0">
                        <a:buNone/>
                      </a:pPr>
                      <a:r>
                        <a:rPr lang="en-US" sz="1100" dirty="0">
                          <a:solidFill>
                            <a:srgbClr val="111111"/>
                          </a:solidFill>
                        </a:rPr>
                        <a:t>Premier Foods</a:t>
                      </a:r>
                      <a:endParaRPr lang="en-US" sz="1100" dirty="0"/>
                    </a:p>
                  </a:txBody>
                  <a:tcPr marL="38100" marR="38100" marT="38100" marB="38100" anchor="ctr"/>
                </a:tc>
                <a:tc>
                  <a:txBody>
                    <a:bodyPr/>
                    <a:lstStyle/>
                    <a:p>
                      <a:pPr marL="0" indent="0" algn="ctr">
                        <a:buNone/>
                      </a:pPr>
                      <a:r>
                        <a:rPr lang="en-US" sz="1100" b="1" dirty="0">
                          <a:solidFill>
                            <a:schemeClr val="tx1"/>
                          </a:solidFill>
                        </a:rPr>
                        <a:t>Rising</a:t>
                      </a:r>
                      <a:endParaRPr lang="en-US" sz="1100" dirty="0">
                        <a:solidFill>
                          <a:schemeClr val="tx1"/>
                        </a:solidFill>
                      </a:endParaRPr>
                    </a:p>
                  </a:txBody>
                  <a:tcPr marL="38100" marR="38100" marT="38100" marB="38100" anchor="ctr"/>
                </a:tc>
                <a:tc>
                  <a:txBody>
                    <a:bodyPr/>
                    <a:lstStyle/>
                    <a:p>
                      <a:pPr marL="0" indent="0" algn="ctr">
                        <a:buNone/>
                      </a:pPr>
                      <a:r>
                        <a:rPr lang="en-US" sz="1100" b="1" dirty="0">
                          <a:solidFill>
                            <a:schemeClr val="tx1"/>
                          </a:solidFill>
                        </a:rPr>
                        <a:t>Rising</a:t>
                      </a:r>
                      <a:endParaRPr lang="en-US" sz="1100" dirty="0">
                        <a:solidFill>
                          <a:schemeClr val="tx1"/>
                        </a:solidFill>
                      </a:endParaRPr>
                    </a:p>
                  </a:txBody>
                  <a:tcPr marL="38100" marR="38100" marT="38100" marB="38100" anchor="ctr"/>
                </a:tc>
                <a:tc>
                  <a:txBody>
                    <a:bodyPr/>
                    <a:lstStyle/>
                    <a:p>
                      <a:pPr marL="0" indent="0" algn="ctr">
                        <a:buNone/>
                      </a:pPr>
                      <a:r>
                        <a:rPr lang="en-US" sz="1100" b="1" dirty="0">
                          <a:solidFill>
                            <a:schemeClr val="tx1"/>
                          </a:solidFill>
                        </a:rPr>
                        <a:t>Rising</a:t>
                      </a:r>
                      <a:endParaRPr lang="en-US" sz="1100" dirty="0">
                        <a:solidFill>
                          <a:schemeClr val="tx1"/>
                        </a:solidFill>
                      </a:endParaRPr>
                    </a:p>
                  </a:txBody>
                  <a:tcPr marL="38100" marR="38100" marT="38100" marB="38100" anchor="ctr"/>
                </a:tc>
                <a:extLst>
                  <a:ext uri="{0D108BD9-81ED-4DB2-BD59-A6C34878D82A}">
                    <a16:rowId xmlns:a16="http://schemas.microsoft.com/office/drawing/2014/main" val="10004"/>
                  </a:ext>
                </a:extLst>
              </a:tr>
              <a:tr h="352039">
                <a:tc>
                  <a:txBody>
                    <a:bodyPr/>
                    <a:lstStyle/>
                    <a:p>
                      <a:pPr marL="0" indent="0">
                        <a:buNone/>
                      </a:pPr>
                      <a:r>
                        <a:rPr lang="en-US" sz="1100" dirty="0">
                          <a:solidFill>
                            <a:srgbClr val="111111"/>
                          </a:solidFill>
                        </a:rPr>
                        <a:t>Drax</a:t>
                      </a:r>
                      <a:endParaRPr lang="en-US" sz="1100" dirty="0"/>
                    </a:p>
                  </a:txBody>
                  <a:tcPr marL="38100" marR="38100" marT="38100" marB="38100" anchor="ctr"/>
                </a:tc>
                <a:tc>
                  <a:txBody>
                    <a:bodyPr/>
                    <a:lstStyle/>
                    <a:p>
                      <a:pPr marL="0" indent="0" algn="ctr">
                        <a:buNone/>
                      </a:pPr>
                      <a:r>
                        <a:rPr lang="en-US" sz="1100" b="1" dirty="0">
                          <a:solidFill>
                            <a:schemeClr val="tx1"/>
                          </a:solidFill>
                        </a:rPr>
                        <a:t>Rising</a:t>
                      </a:r>
                      <a:endParaRPr lang="en-US" sz="1100" dirty="0">
                        <a:solidFill>
                          <a:schemeClr val="tx1"/>
                        </a:solidFill>
                      </a:endParaRPr>
                    </a:p>
                  </a:txBody>
                  <a:tcPr marL="38100" marR="38100" marT="38100" marB="38100" anchor="ctr"/>
                </a:tc>
                <a:tc>
                  <a:txBody>
                    <a:bodyPr/>
                    <a:lstStyle/>
                    <a:p>
                      <a:pPr marL="0" indent="0" algn="ctr">
                        <a:buNone/>
                      </a:pPr>
                      <a:r>
                        <a:rPr lang="en-US" sz="1100" b="1" dirty="0">
                          <a:solidFill>
                            <a:schemeClr val="tx1"/>
                          </a:solidFill>
                        </a:rPr>
                        <a:t>Rising</a:t>
                      </a:r>
                      <a:endParaRPr lang="en-US" sz="1100" dirty="0">
                        <a:solidFill>
                          <a:schemeClr val="tx1"/>
                        </a:solidFill>
                      </a:endParaRPr>
                    </a:p>
                  </a:txBody>
                  <a:tcPr marL="38100" marR="38100" marT="38100" marB="38100" anchor="ctr"/>
                </a:tc>
                <a:tc>
                  <a:txBody>
                    <a:bodyPr/>
                    <a:lstStyle/>
                    <a:p>
                      <a:pPr marL="0" indent="0" algn="ctr">
                        <a:buNone/>
                      </a:pPr>
                      <a:r>
                        <a:rPr lang="en-US" sz="1100" i="1" dirty="0">
                          <a:solidFill>
                            <a:srgbClr val="111111"/>
                          </a:solidFill>
                        </a:rPr>
                        <a:t>Mixed</a:t>
                      </a:r>
                      <a:endParaRPr lang="en-US" sz="1100" i="1" dirty="0"/>
                    </a:p>
                  </a:txBody>
                  <a:tcPr marL="38100" marR="38100" marT="38100" marB="38100" anchor="ctr"/>
                </a:tc>
                <a:extLst>
                  <a:ext uri="{0D108BD9-81ED-4DB2-BD59-A6C34878D82A}">
                    <a16:rowId xmlns:a16="http://schemas.microsoft.com/office/drawing/2014/main" val="10005"/>
                  </a:ext>
                </a:extLst>
              </a:tr>
              <a:tr h="352039">
                <a:tc>
                  <a:txBody>
                    <a:bodyPr/>
                    <a:lstStyle/>
                    <a:p>
                      <a:pPr marL="0" indent="0">
                        <a:buNone/>
                      </a:pPr>
                      <a:r>
                        <a:rPr lang="en-US" sz="1100" dirty="0">
                          <a:solidFill>
                            <a:srgbClr val="111111"/>
                          </a:solidFill>
                        </a:rPr>
                        <a:t>Saga</a:t>
                      </a:r>
                      <a:endParaRPr lang="en-US" sz="1100" dirty="0"/>
                    </a:p>
                  </a:txBody>
                  <a:tcPr marL="38100" marR="38100" marT="38100" marB="38100" anchor="ctr"/>
                </a:tc>
                <a:tc>
                  <a:txBody>
                    <a:bodyPr/>
                    <a:lstStyle/>
                    <a:p>
                      <a:pPr marL="0" indent="0" algn="ctr">
                        <a:buNone/>
                      </a:pPr>
                      <a:r>
                        <a:rPr lang="en-US" sz="1100" b="1" dirty="0">
                          <a:solidFill>
                            <a:schemeClr val="tx1"/>
                          </a:solidFill>
                        </a:rPr>
                        <a:t>Rising</a:t>
                      </a:r>
                      <a:endParaRPr lang="en-US" sz="1100" dirty="0">
                        <a:solidFill>
                          <a:schemeClr val="tx1"/>
                        </a:solidFill>
                      </a:endParaRPr>
                    </a:p>
                  </a:txBody>
                  <a:tcPr marL="38100" marR="38100" marT="38100" marB="38100" anchor="ctr"/>
                </a:tc>
                <a:tc>
                  <a:txBody>
                    <a:bodyPr/>
                    <a:lstStyle/>
                    <a:p>
                      <a:pPr marL="0" indent="0" algn="ctr">
                        <a:buNone/>
                      </a:pPr>
                      <a:r>
                        <a:rPr lang="en-US" sz="1100" b="1" dirty="0">
                          <a:solidFill>
                            <a:schemeClr val="tx1"/>
                          </a:solidFill>
                        </a:rPr>
                        <a:t>Rising</a:t>
                      </a:r>
                      <a:endParaRPr lang="en-US" sz="1100" dirty="0">
                        <a:solidFill>
                          <a:schemeClr val="tx1"/>
                        </a:solidFill>
                      </a:endParaRPr>
                    </a:p>
                  </a:txBody>
                  <a:tcPr marL="38100" marR="38100" marT="38100" marB="38100" anchor="ctr"/>
                </a:tc>
                <a:tc>
                  <a:txBody>
                    <a:bodyPr/>
                    <a:lstStyle/>
                    <a:p>
                      <a:pPr marL="0" indent="0" algn="ctr">
                        <a:buNone/>
                      </a:pPr>
                      <a:r>
                        <a:rPr lang="en-US" sz="1100" i="1" dirty="0">
                          <a:solidFill>
                            <a:srgbClr val="111111"/>
                          </a:solidFill>
                        </a:rPr>
                        <a:t>Mixed</a:t>
                      </a:r>
                      <a:endParaRPr lang="en-US" sz="1100" i="1" dirty="0"/>
                    </a:p>
                  </a:txBody>
                  <a:tcPr marL="38100" marR="38100" marT="38100" marB="38100" anchor="ctr"/>
                </a:tc>
                <a:extLst>
                  <a:ext uri="{0D108BD9-81ED-4DB2-BD59-A6C34878D82A}">
                    <a16:rowId xmlns:a16="http://schemas.microsoft.com/office/drawing/2014/main" val="10006"/>
                  </a:ext>
                </a:extLst>
              </a:tr>
              <a:tr h="352039">
                <a:tc>
                  <a:txBody>
                    <a:bodyPr/>
                    <a:lstStyle/>
                    <a:p>
                      <a:pPr marL="0" indent="0">
                        <a:buNone/>
                      </a:pPr>
                      <a:r>
                        <a:rPr lang="en-US" sz="1100" dirty="0">
                          <a:solidFill>
                            <a:srgbClr val="111111"/>
                          </a:solidFill>
                        </a:rPr>
                        <a:t>Man Group</a:t>
                      </a:r>
                      <a:endParaRPr lang="en-US" sz="1100" dirty="0"/>
                    </a:p>
                  </a:txBody>
                  <a:tcPr marL="38100" marR="38100" marT="38100" marB="38100" anchor="ctr"/>
                </a:tc>
                <a:tc>
                  <a:txBody>
                    <a:bodyPr/>
                    <a:lstStyle/>
                    <a:p>
                      <a:pPr marL="0" indent="0" algn="ctr">
                        <a:buNone/>
                      </a:pPr>
                      <a:r>
                        <a:rPr lang="en-US" sz="1100" b="1" dirty="0">
                          <a:solidFill>
                            <a:srgbClr val="111111"/>
                          </a:solidFill>
                        </a:rPr>
                        <a:t>Falling</a:t>
                      </a:r>
                      <a:endParaRPr lang="en-US" sz="1100" dirty="0"/>
                    </a:p>
                  </a:txBody>
                  <a:tcPr marL="38100" marR="38100" marT="38100" marB="38100" anchor="ctr"/>
                </a:tc>
                <a:tc>
                  <a:txBody>
                    <a:bodyPr/>
                    <a:lstStyle/>
                    <a:p>
                      <a:pPr marL="0" indent="0" algn="ctr">
                        <a:buNone/>
                      </a:pPr>
                      <a:r>
                        <a:rPr lang="en-US" sz="1100" b="1" dirty="0">
                          <a:solidFill>
                            <a:schemeClr val="tx1"/>
                          </a:solidFill>
                        </a:rPr>
                        <a:t>Rising</a:t>
                      </a:r>
                      <a:endParaRPr lang="en-US" sz="1100" dirty="0">
                        <a:solidFill>
                          <a:schemeClr val="tx1"/>
                        </a:solidFill>
                      </a:endParaRPr>
                    </a:p>
                  </a:txBody>
                  <a:tcPr marL="38100" marR="38100" marT="38100" marB="38100" anchor="ctr"/>
                </a:tc>
                <a:tc>
                  <a:txBody>
                    <a:bodyPr/>
                    <a:lstStyle/>
                    <a:p>
                      <a:pPr marL="0" indent="0" algn="ctr">
                        <a:buNone/>
                      </a:pPr>
                      <a:r>
                        <a:rPr lang="en-US" sz="1100" i="1" dirty="0">
                          <a:solidFill>
                            <a:srgbClr val="111111"/>
                          </a:solidFill>
                        </a:rPr>
                        <a:t>Mixed</a:t>
                      </a:r>
                      <a:endParaRPr lang="en-US" sz="1100" i="1" dirty="0"/>
                    </a:p>
                  </a:txBody>
                  <a:tcPr marL="38100" marR="38100" marT="38100" marB="38100" anchor="ctr"/>
                </a:tc>
                <a:extLst>
                  <a:ext uri="{0D108BD9-81ED-4DB2-BD59-A6C34878D82A}">
                    <a16:rowId xmlns:a16="http://schemas.microsoft.com/office/drawing/2014/main" val="10007"/>
                  </a:ext>
                </a:extLst>
              </a:tr>
              <a:tr h="352039">
                <a:tc>
                  <a:txBody>
                    <a:bodyPr/>
                    <a:lstStyle/>
                    <a:p>
                      <a:pPr marL="0" indent="0">
                        <a:buNone/>
                      </a:pPr>
                      <a:r>
                        <a:rPr lang="en-US" sz="1100" dirty="0">
                          <a:solidFill>
                            <a:srgbClr val="111111"/>
                          </a:solidFill>
                        </a:rPr>
                        <a:t>Johnson Matthey</a:t>
                      </a:r>
                      <a:endParaRPr lang="en-US" sz="1100" dirty="0"/>
                    </a:p>
                  </a:txBody>
                  <a:tcPr marL="38100" marR="38100" marT="38100" marB="38100" anchor="ctr"/>
                </a:tc>
                <a:tc>
                  <a:txBody>
                    <a:bodyPr/>
                    <a:lstStyle/>
                    <a:p>
                      <a:pPr marL="0" indent="0" algn="ctr">
                        <a:buNone/>
                      </a:pPr>
                      <a:r>
                        <a:rPr lang="en-US" sz="1100" b="1" dirty="0">
                          <a:solidFill>
                            <a:srgbClr val="111111"/>
                          </a:solidFill>
                        </a:rPr>
                        <a:t>Falling</a:t>
                      </a:r>
                      <a:endParaRPr lang="en-US" sz="1100" dirty="0"/>
                    </a:p>
                  </a:txBody>
                  <a:tcPr marL="38100" marR="38100" marT="38100" marB="38100" anchor="ctr"/>
                </a:tc>
                <a:tc>
                  <a:txBody>
                    <a:bodyPr/>
                    <a:lstStyle/>
                    <a:p>
                      <a:pPr marL="0" indent="0" algn="ctr">
                        <a:buNone/>
                      </a:pPr>
                      <a:r>
                        <a:rPr lang="en-US" sz="1100" b="1" dirty="0">
                          <a:solidFill>
                            <a:schemeClr val="tx1"/>
                          </a:solidFill>
                        </a:rPr>
                        <a:t>Rising</a:t>
                      </a:r>
                      <a:endParaRPr lang="en-US" sz="1100" dirty="0">
                        <a:solidFill>
                          <a:schemeClr val="tx1"/>
                        </a:solidFill>
                      </a:endParaRPr>
                    </a:p>
                  </a:txBody>
                  <a:tcPr marL="38100" marR="38100" marT="38100" marB="38100" anchor="ctr"/>
                </a:tc>
                <a:tc>
                  <a:txBody>
                    <a:bodyPr/>
                    <a:lstStyle/>
                    <a:p>
                      <a:pPr marL="0" indent="0" algn="ctr">
                        <a:buNone/>
                      </a:pPr>
                      <a:r>
                        <a:rPr lang="en-US" sz="1100" i="1" dirty="0">
                          <a:solidFill>
                            <a:srgbClr val="111111"/>
                          </a:solidFill>
                        </a:rPr>
                        <a:t>Mixed</a:t>
                      </a:r>
                      <a:endParaRPr lang="en-US" sz="1100" i="1" dirty="0"/>
                    </a:p>
                  </a:txBody>
                  <a:tcPr marL="38100" marR="38100" marT="38100" marB="38100" anchor="ctr"/>
                </a:tc>
                <a:extLst>
                  <a:ext uri="{0D108BD9-81ED-4DB2-BD59-A6C34878D82A}">
                    <a16:rowId xmlns:a16="http://schemas.microsoft.com/office/drawing/2014/main" val="10008"/>
                  </a:ext>
                </a:extLst>
              </a:tr>
            </a:tbl>
          </a:graphicData>
        </a:graphic>
      </p:graphicFrame>
      <p:graphicFrame>
        <p:nvGraphicFramePr>
          <p:cNvPr id="20" name="Table 0">
            <a:extLst>
              <a:ext uri="{FF2B5EF4-FFF2-40B4-BE49-F238E27FC236}">
                <a16:creationId xmlns:a16="http://schemas.microsoft.com/office/drawing/2014/main" id="{55B5552E-5E4C-7830-8C71-E542D0374D40}"/>
              </a:ext>
            </a:extLst>
          </p:cNvPr>
          <p:cNvGraphicFramePr>
            <a:graphicFrameLocks noGrp="1"/>
          </p:cNvGraphicFramePr>
          <p:nvPr>
            <p:extLst>
              <p:ext uri="{D42A27DB-BD31-4B8C-83A1-F6EECF244321}">
                <p14:modId xmlns:p14="http://schemas.microsoft.com/office/powerpoint/2010/main" val="3994493851"/>
              </p:ext>
            </p:extLst>
          </p:nvPr>
        </p:nvGraphicFramePr>
        <p:xfrm>
          <a:off x="659280" y="2348878"/>
          <a:ext cx="3912720" cy="3168351"/>
        </p:xfrm>
        <a:graphic>
          <a:graphicData uri="http://schemas.openxmlformats.org/drawingml/2006/table">
            <a:tbl>
              <a:tblPr>
                <a:tableStyleId>{D7AC3CCA-C797-4891-BE02-D94E43425B78}</a:tableStyleId>
              </a:tblPr>
              <a:tblGrid>
                <a:gridCol w="1378344">
                  <a:extLst>
                    <a:ext uri="{9D8B030D-6E8A-4147-A177-3AD203B41FA5}">
                      <a16:colId xmlns:a16="http://schemas.microsoft.com/office/drawing/2014/main" val="20000"/>
                    </a:ext>
                  </a:extLst>
                </a:gridCol>
                <a:gridCol w="844792">
                  <a:extLst>
                    <a:ext uri="{9D8B030D-6E8A-4147-A177-3AD203B41FA5}">
                      <a16:colId xmlns:a16="http://schemas.microsoft.com/office/drawing/2014/main" val="20001"/>
                    </a:ext>
                  </a:extLst>
                </a:gridCol>
                <a:gridCol w="844792">
                  <a:extLst>
                    <a:ext uri="{9D8B030D-6E8A-4147-A177-3AD203B41FA5}">
                      <a16:colId xmlns:a16="http://schemas.microsoft.com/office/drawing/2014/main" val="20002"/>
                    </a:ext>
                  </a:extLst>
                </a:gridCol>
                <a:gridCol w="844792">
                  <a:extLst>
                    <a:ext uri="{9D8B030D-6E8A-4147-A177-3AD203B41FA5}">
                      <a16:colId xmlns:a16="http://schemas.microsoft.com/office/drawing/2014/main" val="20003"/>
                    </a:ext>
                  </a:extLst>
                </a:gridCol>
              </a:tblGrid>
              <a:tr h="352039">
                <a:tc>
                  <a:txBody>
                    <a:bodyPr/>
                    <a:lstStyle/>
                    <a:p>
                      <a:pPr marL="0" indent="0">
                        <a:buNone/>
                      </a:pPr>
                      <a:r>
                        <a:rPr lang="en-US" sz="1100" b="1" dirty="0">
                          <a:solidFill>
                            <a:schemeClr val="tx1"/>
                          </a:solidFill>
                        </a:rPr>
                        <a:t>Company</a:t>
                      </a:r>
                      <a:endParaRPr lang="en-US" sz="1100" dirty="0">
                        <a:solidFill>
                          <a:schemeClr val="tx1"/>
                        </a:solidFill>
                      </a:endParaRPr>
                    </a:p>
                  </a:txBody>
                  <a:tcPr marL="38100" marR="38100" marT="38100" marB="38100" anchor="ctr"/>
                </a:tc>
                <a:tc>
                  <a:txBody>
                    <a:bodyPr/>
                    <a:lstStyle/>
                    <a:p>
                      <a:pPr marL="0" indent="0" algn="ctr">
                        <a:buNone/>
                      </a:pPr>
                      <a:r>
                        <a:rPr lang="en-US" sz="1100" b="1" dirty="0">
                          <a:solidFill>
                            <a:schemeClr val="tx1"/>
                          </a:solidFill>
                        </a:rPr>
                        <a:t>K-Means</a:t>
                      </a:r>
                      <a:endParaRPr lang="en-US" sz="1100" dirty="0">
                        <a:solidFill>
                          <a:schemeClr val="tx1"/>
                        </a:solidFill>
                      </a:endParaRPr>
                    </a:p>
                  </a:txBody>
                  <a:tcPr marL="38100" marR="38100" marT="38100" marB="38100" anchor="ctr"/>
                </a:tc>
                <a:tc>
                  <a:txBody>
                    <a:bodyPr/>
                    <a:lstStyle/>
                    <a:p>
                      <a:pPr marL="0" indent="0" algn="ctr">
                        <a:buNone/>
                      </a:pPr>
                      <a:r>
                        <a:rPr lang="en-US" sz="1100" b="1" dirty="0">
                          <a:solidFill>
                            <a:schemeClr val="tx1"/>
                          </a:solidFill>
                        </a:rPr>
                        <a:t>K-Medoids</a:t>
                      </a:r>
                      <a:endParaRPr lang="en-US" sz="1100" dirty="0">
                        <a:solidFill>
                          <a:schemeClr val="tx1"/>
                        </a:solidFill>
                      </a:endParaRPr>
                    </a:p>
                  </a:txBody>
                  <a:tcPr marL="38100" marR="38100" marT="38100" marB="38100" anchor="ctr"/>
                </a:tc>
                <a:tc>
                  <a:txBody>
                    <a:bodyPr/>
                    <a:lstStyle/>
                    <a:p>
                      <a:pPr marL="0" indent="0" algn="ctr">
                        <a:buNone/>
                      </a:pPr>
                      <a:r>
                        <a:rPr lang="en-US" sz="1100" b="1" dirty="0">
                          <a:solidFill>
                            <a:schemeClr val="tx1"/>
                          </a:solidFill>
                        </a:rPr>
                        <a:t>GMM</a:t>
                      </a:r>
                      <a:endParaRPr lang="en-US" sz="1100" dirty="0">
                        <a:solidFill>
                          <a:schemeClr val="tx1"/>
                        </a:solidFill>
                      </a:endParaRPr>
                    </a:p>
                  </a:txBody>
                  <a:tcPr marL="38100" marR="38100" marT="38100" marB="38100" anchor="ctr"/>
                </a:tc>
                <a:extLst>
                  <a:ext uri="{0D108BD9-81ED-4DB2-BD59-A6C34878D82A}">
                    <a16:rowId xmlns:a16="http://schemas.microsoft.com/office/drawing/2014/main" val="10000"/>
                  </a:ext>
                </a:extLst>
              </a:tr>
              <a:tr h="352039">
                <a:tc>
                  <a:txBody>
                    <a:bodyPr/>
                    <a:lstStyle/>
                    <a:p>
                      <a:pPr marL="0" indent="0">
                        <a:buNone/>
                      </a:pPr>
                      <a:r>
                        <a:rPr lang="en-US" sz="1100" dirty="0">
                          <a:solidFill>
                            <a:srgbClr val="111111"/>
                          </a:solidFill>
                        </a:rPr>
                        <a:t>Taylor Wimpey</a:t>
                      </a:r>
                      <a:endParaRPr lang="en-US" sz="1100" dirty="0"/>
                    </a:p>
                  </a:txBody>
                  <a:tcPr marL="38100" marR="38100" marT="38100" marB="38100" anchor="ctr"/>
                </a:tc>
                <a:tc>
                  <a:txBody>
                    <a:bodyPr/>
                    <a:lstStyle/>
                    <a:p>
                      <a:pPr marL="0" indent="0" algn="ctr">
                        <a:buNone/>
                      </a:pPr>
                      <a:r>
                        <a:rPr lang="en-US" sz="1100" b="1" dirty="0">
                          <a:solidFill>
                            <a:srgbClr val="111111"/>
                          </a:solidFill>
                        </a:rPr>
                        <a:t>Falling</a:t>
                      </a:r>
                      <a:endParaRPr lang="en-US" sz="1100" dirty="0"/>
                    </a:p>
                  </a:txBody>
                  <a:tcPr marL="38100" marR="38100" marT="38100" marB="38100" anchor="ctr"/>
                </a:tc>
                <a:tc>
                  <a:txBody>
                    <a:bodyPr/>
                    <a:lstStyle/>
                    <a:p>
                      <a:pPr marL="0" indent="0" algn="ctr">
                        <a:buNone/>
                      </a:pPr>
                      <a:r>
                        <a:rPr lang="en-US" sz="1100" b="1" dirty="0">
                          <a:solidFill>
                            <a:srgbClr val="111111"/>
                          </a:solidFill>
                        </a:rPr>
                        <a:t>Falling</a:t>
                      </a:r>
                      <a:endParaRPr lang="en-US" sz="1100" dirty="0"/>
                    </a:p>
                  </a:txBody>
                  <a:tcPr marL="38100" marR="38100" marT="38100" marB="38100" anchor="ctr"/>
                </a:tc>
                <a:tc>
                  <a:txBody>
                    <a:bodyPr/>
                    <a:lstStyle/>
                    <a:p>
                      <a:pPr marL="0" indent="0" algn="ctr">
                        <a:buNone/>
                      </a:pPr>
                      <a:r>
                        <a:rPr lang="en-US" sz="1100" i="1" dirty="0">
                          <a:solidFill>
                            <a:srgbClr val="111111"/>
                          </a:solidFill>
                        </a:rPr>
                        <a:t>Mixed</a:t>
                      </a:r>
                      <a:endParaRPr lang="en-US" sz="1100" i="1" dirty="0"/>
                    </a:p>
                  </a:txBody>
                  <a:tcPr marL="38100" marR="38100" marT="38100" marB="38100" anchor="ctr"/>
                </a:tc>
                <a:extLst>
                  <a:ext uri="{0D108BD9-81ED-4DB2-BD59-A6C34878D82A}">
                    <a16:rowId xmlns:a16="http://schemas.microsoft.com/office/drawing/2014/main" val="10001"/>
                  </a:ext>
                </a:extLst>
              </a:tr>
              <a:tr h="352039">
                <a:tc>
                  <a:txBody>
                    <a:bodyPr/>
                    <a:lstStyle/>
                    <a:p>
                      <a:pPr marL="0" indent="0">
                        <a:buNone/>
                      </a:pPr>
                      <a:r>
                        <a:rPr lang="en-US" sz="1100" dirty="0">
                          <a:solidFill>
                            <a:srgbClr val="111111"/>
                          </a:solidFill>
                        </a:rPr>
                        <a:t>Greggs</a:t>
                      </a:r>
                      <a:endParaRPr lang="en-US" sz="1100" dirty="0"/>
                    </a:p>
                  </a:txBody>
                  <a:tcPr marL="38100" marR="38100" marT="38100" marB="38100" anchor="ctr"/>
                </a:tc>
                <a:tc>
                  <a:txBody>
                    <a:bodyPr/>
                    <a:lstStyle/>
                    <a:p>
                      <a:pPr marL="0" indent="0" algn="ctr">
                        <a:buNone/>
                      </a:pPr>
                      <a:r>
                        <a:rPr lang="en-US" sz="1100" b="1" dirty="0">
                          <a:solidFill>
                            <a:srgbClr val="111111"/>
                          </a:solidFill>
                        </a:rPr>
                        <a:t>Falling</a:t>
                      </a:r>
                      <a:endParaRPr lang="en-US" sz="1100" dirty="0"/>
                    </a:p>
                  </a:txBody>
                  <a:tcPr marL="38100" marR="38100" marT="38100" marB="38100" anchor="ctr"/>
                </a:tc>
                <a:tc>
                  <a:txBody>
                    <a:bodyPr/>
                    <a:lstStyle/>
                    <a:p>
                      <a:pPr marL="0" indent="0" algn="ctr">
                        <a:buNone/>
                      </a:pPr>
                      <a:r>
                        <a:rPr lang="en-US" sz="1100" b="1" dirty="0">
                          <a:solidFill>
                            <a:srgbClr val="111111"/>
                          </a:solidFill>
                        </a:rPr>
                        <a:t>Falling</a:t>
                      </a:r>
                      <a:endParaRPr lang="en-US" sz="1100" dirty="0"/>
                    </a:p>
                  </a:txBody>
                  <a:tcPr marL="38100" marR="38100" marT="38100" marB="38100" anchor="ctr"/>
                </a:tc>
                <a:tc>
                  <a:txBody>
                    <a:bodyPr/>
                    <a:lstStyle/>
                    <a:p>
                      <a:pPr marL="0" indent="0" algn="ctr">
                        <a:buNone/>
                      </a:pPr>
                      <a:r>
                        <a:rPr lang="en-US" sz="1100" i="1" dirty="0">
                          <a:solidFill>
                            <a:srgbClr val="111111"/>
                          </a:solidFill>
                        </a:rPr>
                        <a:t>Mixed</a:t>
                      </a:r>
                      <a:endParaRPr lang="en-US" sz="1100" i="1" dirty="0"/>
                    </a:p>
                  </a:txBody>
                  <a:tcPr marL="38100" marR="38100" marT="38100" marB="38100" anchor="ctr"/>
                </a:tc>
                <a:extLst>
                  <a:ext uri="{0D108BD9-81ED-4DB2-BD59-A6C34878D82A}">
                    <a16:rowId xmlns:a16="http://schemas.microsoft.com/office/drawing/2014/main" val="10002"/>
                  </a:ext>
                </a:extLst>
              </a:tr>
              <a:tr h="352039">
                <a:tc>
                  <a:txBody>
                    <a:bodyPr/>
                    <a:lstStyle/>
                    <a:p>
                      <a:pPr marL="0" indent="0">
                        <a:buNone/>
                      </a:pPr>
                      <a:r>
                        <a:rPr lang="en-US" sz="1100" dirty="0">
                          <a:solidFill>
                            <a:srgbClr val="111111"/>
                          </a:solidFill>
                        </a:rPr>
                        <a:t>ITV</a:t>
                      </a:r>
                      <a:endParaRPr lang="en-US" sz="1100" dirty="0"/>
                    </a:p>
                  </a:txBody>
                  <a:tcPr marL="38100" marR="38100" marT="38100" marB="38100" anchor="ctr"/>
                </a:tc>
                <a:tc>
                  <a:txBody>
                    <a:bodyPr/>
                    <a:lstStyle/>
                    <a:p>
                      <a:pPr marL="0" indent="0" algn="ctr">
                        <a:buNone/>
                      </a:pPr>
                      <a:r>
                        <a:rPr lang="en-US" sz="1100" b="1" dirty="0">
                          <a:solidFill>
                            <a:srgbClr val="111111"/>
                          </a:solidFill>
                        </a:rPr>
                        <a:t>Falling</a:t>
                      </a:r>
                      <a:endParaRPr lang="en-US" sz="1100" dirty="0"/>
                    </a:p>
                  </a:txBody>
                  <a:tcPr marL="38100" marR="38100" marT="38100" marB="38100" anchor="ctr"/>
                </a:tc>
                <a:tc>
                  <a:txBody>
                    <a:bodyPr/>
                    <a:lstStyle/>
                    <a:p>
                      <a:pPr marL="0" indent="0" algn="ctr">
                        <a:buNone/>
                      </a:pPr>
                      <a:r>
                        <a:rPr lang="en-US" sz="1100" b="1" dirty="0">
                          <a:solidFill>
                            <a:srgbClr val="111111"/>
                          </a:solidFill>
                        </a:rPr>
                        <a:t>Falling</a:t>
                      </a:r>
                      <a:endParaRPr lang="en-US" sz="1100" dirty="0"/>
                    </a:p>
                  </a:txBody>
                  <a:tcPr marL="38100" marR="38100" marT="38100" marB="38100" anchor="ctr"/>
                </a:tc>
                <a:tc>
                  <a:txBody>
                    <a:bodyPr/>
                    <a:lstStyle/>
                    <a:p>
                      <a:pPr marL="0" indent="0" algn="ctr">
                        <a:buNone/>
                      </a:pPr>
                      <a:r>
                        <a:rPr lang="en-US" sz="1100" i="1" dirty="0">
                          <a:solidFill>
                            <a:srgbClr val="111111"/>
                          </a:solidFill>
                        </a:rPr>
                        <a:t>Mixed</a:t>
                      </a:r>
                      <a:endParaRPr lang="en-US" sz="1100" i="1" dirty="0"/>
                    </a:p>
                  </a:txBody>
                  <a:tcPr marL="38100" marR="38100" marT="38100" marB="38100" anchor="ctr"/>
                </a:tc>
                <a:extLst>
                  <a:ext uri="{0D108BD9-81ED-4DB2-BD59-A6C34878D82A}">
                    <a16:rowId xmlns:a16="http://schemas.microsoft.com/office/drawing/2014/main" val="10003"/>
                  </a:ext>
                </a:extLst>
              </a:tr>
              <a:tr h="352039">
                <a:tc>
                  <a:txBody>
                    <a:bodyPr/>
                    <a:lstStyle/>
                    <a:p>
                      <a:pPr marL="0" indent="0">
                        <a:buNone/>
                      </a:pPr>
                      <a:r>
                        <a:rPr lang="en-US" sz="1100" dirty="0">
                          <a:solidFill>
                            <a:srgbClr val="111111"/>
                          </a:solidFill>
                        </a:rPr>
                        <a:t>Rightmove</a:t>
                      </a:r>
                      <a:endParaRPr lang="en-US" sz="1100" dirty="0"/>
                    </a:p>
                  </a:txBody>
                  <a:tcPr marL="38100" marR="38100" marT="38100" marB="38100" anchor="ctr"/>
                </a:tc>
                <a:tc>
                  <a:txBody>
                    <a:bodyPr/>
                    <a:lstStyle/>
                    <a:p>
                      <a:pPr marL="0" indent="0" algn="ctr">
                        <a:buNone/>
                      </a:pPr>
                      <a:r>
                        <a:rPr lang="en-US" sz="1100" b="1" dirty="0">
                          <a:solidFill>
                            <a:srgbClr val="111111"/>
                          </a:solidFill>
                        </a:rPr>
                        <a:t>Falling</a:t>
                      </a:r>
                      <a:endParaRPr lang="en-US" sz="1100" dirty="0"/>
                    </a:p>
                  </a:txBody>
                  <a:tcPr marL="38100" marR="38100" marT="38100" marB="38100" anchor="ctr"/>
                </a:tc>
                <a:tc>
                  <a:txBody>
                    <a:bodyPr/>
                    <a:lstStyle/>
                    <a:p>
                      <a:pPr marL="0" indent="0" algn="ctr">
                        <a:buNone/>
                      </a:pPr>
                      <a:r>
                        <a:rPr lang="en-US" sz="1100" b="1" dirty="0">
                          <a:solidFill>
                            <a:srgbClr val="111111"/>
                          </a:solidFill>
                        </a:rPr>
                        <a:t>Falling</a:t>
                      </a:r>
                      <a:endParaRPr lang="en-US" sz="1100" dirty="0"/>
                    </a:p>
                  </a:txBody>
                  <a:tcPr marL="38100" marR="38100" marT="38100" marB="38100" anchor="ctr"/>
                </a:tc>
                <a:tc>
                  <a:txBody>
                    <a:bodyPr/>
                    <a:lstStyle/>
                    <a:p>
                      <a:pPr marL="0" indent="0" algn="ctr">
                        <a:buNone/>
                      </a:pPr>
                      <a:r>
                        <a:rPr lang="en-US" sz="1100" i="1" dirty="0">
                          <a:solidFill>
                            <a:srgbClr val="111111"/>
                          </a:solidFill>
                        </a:rPr>
                        <a:t>Mixed</a:t>
                      </a:r>
                      <a:endParaRPr lang="en-US" sz="1100" i="1" dirty="0"/>
                    </a:p>
                  </a:txBody>
                  <a:tcPr marL="38100" marR="38100" marT="38100" marB="38100" anchor="ctr"/>
                </a:tc>
                <a:extLst>
                  <a:ext uri="{0D108BD9-81ED-4DB2-BD59-A6C34878D82A}">
                    <a16:rowId xmlns:a16="http://schemas.microsoft.com/office/drawing/2014/main" val="10004"/>
                  </a:ext>
                </a:extLst>
              </a:tr>
              <a:tr h="352039">
                <a:tc>
                  <a:txBody>
                    <a:bodyPr/>
                    <a:lstStyle/>
                    <a:p>
                      <a:pPr marL="0" indent="0">
                        <a:buNone/>
                      </a:pPr>
                      <a:r>
                        <a:rPr lang="en-US" sz="1100" dirty="0">
                          <a:solidFill>
                            <a:srgbClr val="111111"/>
                          </a:solidFill>
                        </a:rPr>
                        <a:t>Ocado</a:t>
                      </a:r>
                      <a:endParaRPr lang="en-US" sz="1100" dirty="0"/>
                    </a:p>
                  </a:txBody>
                  <a:tcPr marL="38100" marR="38100" marT="38100" marB="38100" anchor="ctr"/>
                </a:tc>
                <a:tc>
                  <a:txBody>
                    <a:bodyPr/>
                    <a:lstStyle/>
                    <a:p>
                      <a:pPr marL="0" indent="0" algn="ctr">
                        <a:buNone/>
                      </a:pPr>
                      <a:r>
                        <a:rPr lang="en-US" sz="1100" b="1" dirty="0">
                          <a:solidFill>
                            <a:srgbClr val="111111"/>
                          </a:solidFill>
                        </a:rPr>
                        <a:t>Falling</a:t>
                      </a:r>
                      <a:endParaRPr lang="en-US" sz="1100" dirty="0"/>
                    </a:p>
                  </a:txBody>
                  <a:tcPr marL="38100" marR="38100" marT="38100" marB="38100" anchor="ctr"/>
                </a:tc>
                <a:tc>
                  <a:txBody>
                    <a:bodyPr/>
                    <a:lstStyle/>
                    <a:p>
                      <a:pPr marL="0" indent="0" algn="ctr">
                        <a:buNone/>
                      </a:pPr>
                      <a:r>
                        <a:rPr lang="en-US" sz="1100" b="1" dirty="0">
                          <a:solidFill>
                            <a:srgbClr val="111111"/>
                          </a:solidFill>
                        </a:rPr>
                        <a:t>Falling</a:t>
                      </a:r>
                      <a:endParaRPr lang="en-US" sz="1100" dirty="0"/>
                    </a:p>
                  </a:txBody>
                  <a:tcPr marL="38100" marR="38100" marT="38100" marB="38100" anchor="ctr"/>
                </a:tc>
                <a:tc>
                  <a:txBody>
                    <a:bodyPr/>
                    <a:lstStyle/>
                    <a:p>
                      <a:pPr marL="0" indent="0" algn="ctr">
                        <a:buNone/>
                      </a:pPr>
                      <a:r>
                        <a:rPr lang="en-US" sz="1100" b="1" dirty="0">
                          <a:solidFill>
                            <a:srgbClr val="111111"/>
                          </a:solidFill>
                        </a:rPr>
                        <a:t>Falling</a:t>
                      </a:r>
                      <a:endParaRPr lang="en-US" sz="1100" dirty="0"/>
                    </a:p>
                  </a:txBody>
                  <a:tcPr marL="38100" marR="38100" marT="38100" marB="38100" anchor="ctr"/>
                </a:tc>
                <a:extLst>
                  <a:ext uri="{0D108BD9-81ED-4DB2-BD59-A6C34878D82A}">
                    <a16:rowId xmlns:a16="http://schemas.microsoft.com/office/drawing/2014/main" val="10005"/>
                  </a:ext>
                </a:extLst>
              </a:tr>
              <a:tr h="352039">
                <a:tc>
                  <a:txBody>
                    <a:bodyPr/>
                    <a:lstStyle/>
                    <a:p>
                      <a:pPr marL="0" indent="0">
                        <a:buNone/>
                      </a:pPr>
                      <a:r>
                        <a:rPr lang="en-US" sz="1100" dirty="0">
                          <a:solidFill>
                            <a:srgbClr val="111111"/>
                          </a:solidFill>
                        </a:rPr>
                        <a:t>Aston Martin</a:t>
                      </a:r>
                      <a:endParaRPr lang="en-US" sz="1100" dirty="0"/>
                    </a:p>
                  </a:txBody>
                  <a:tcPr marL="38100" marR="38100" marT="38100" marB="38100" anchor="ctr"/>
                </a:tc>
                <a:tc>
                  <a:txBody>
                    <a:bodyPr/>
                    <a:lstStyle/>
                    <a:p>
                      <a:pPr marL="0" indent="0" algn="ctr">
                        <a:buNone/>
                      </a:pPr>
                      <a:r>
                        <a:rPr lang="en-US" sz="1100" b="1" dirty="0">
                          <a:solidFill>
                            <a:srgbClr val="111111"/>
                          </a:solidFill>
                        </a:rPr>
                        <a:t>Falling</a:t>
                      </a:r>
                      <a:endParaRPr lang="en-US" sz="1100" dirty="0"/>
                    </a:p>
                  </a:txBody>
                  <a:tcPr marL="38100" marR="38100" marT="38100" marB="38100" anchor="ctr"/>
                </a:tc>
                <a:tc>
                  <a:txBody>
                    <a:bodyPr/>
                    <a:lstStyle/>
                    <a:p>
                      <a:pPr marL="0" indent="0" algn="ctr">
                        <a:buNone/>
                      </a:pPr>
                      <a:r>
                        <a:rPr lang="en-US" sz="1100" b="1" dirty="0">
                          <a:solidFill>
                            <a:srgbClr val="111111"/>
                          </a:solidFill>
                        </a:rPr>
                        <a:t>Falling</a:t>
                      </a:r>
                      <a:endParaRPr lang="en-US" sz="1100" dirty="0"/>
                    </a:p>
                  </a:txBody>
                  <a:tcPr marL="38100" marR="38100" marT="38100" marB="38100" anchor="ctr"/>
                </a:tc>
                <a:tc>
                  <a:txBody>
                    <a:bodyPr/>
                    <a:lstStyle/>
                    <a:p>
                      <a:pPr marL="0" indent="0" algn="ctr">
                        <a:buNone/>
                      </a:pPr>
                      <a:r>
                        <a:rPr lang="en-US" sz="1100" b="1" dirty="0">
                          <a:solidFill>
                            <a:srgbClr val="111111"/>
                          </a:solidFill>
                        </a:rPr>
                        <a:t>Falling</a:t>
                      </a:r>
                      <a:endParaRPr lang="en-US" sz="1100" dirty="0"/>
                    </a:p>
                  </a:txBody>
                  <a:tcPr marL="38100" marR="38100" marT="38100" marB="38100" anchor="ctr"/>
                </a:tc>
                <a:extLst>
                  <a:ext uri="{0D108BD9-81ED-4DB2-BD59-A6C34878D82A}">
                    <a16:rowId xmlns:a16="http://schemas.microsoft.com/office/drawing/2014/main" val="10006"/>
                  </a:ext>
                </a:extLst>
              </a:tr>
              <a:tr h="352039">
                <a:tc>
                  <a:txBody>
                    <a:bodyPr/>
                    <a:lstStyle/>
                    <a:p>
                      <a:pPr marL="0" indent="0">
                        <a:buNone/>
                      </a:pPr>
                      <a:r>
                        <a:rPr lang="en-US" sz="1100" dirty="0">
                          <a:solidFill>
                            <a:srgbClr val="111111"/>
                          </a:solidFill>
                        </a:rPr>
                        <a:t>WH Smith</a:t>
                      </a:r>
                      <a:endParaRPr lang="en-US" sz="1100" dirty="0"/>
                    </a:p>
                  </a:txBody>
                  <a:tcPr marL="38100" marR="38100" marT="38100" marB="38100" anchor="ctr"/>
                </a:tc>
                <a:tc>
                  <a:txBody>
                    <a:bodyPr/>
                    <a:lstStyle/>
                    <a:p>
                      <a:pPr marL="0" indent="0" algn="ctr">
                        <a:buNone/>
                      </a:pPr>
                      <a:r>
                        <a:rPr lang="en-US" sz="1100" b="1" dirty="0">
                          <a:solidFill>
                            <a:srgbClr val="111111"/>
                          </a:solidFill>
                        </a:rPr>
                        <a:t>Falling</a:t>
                      </a:r>
                      <a:endParaRPr lang="en-US" sz="1100" dirty="0"/>
                    </a:p>
                  </a:txBody>
                  <a:tcPr marL="38100" marR="38100" marT="38100" marB="38100" anchor="ctr"/>
                </a:tc>
                <a:tc>
                  <a:txBody>
                    <a:bodyPr/>
                    <a:lstStyle/>
                    <a:p>
                      <a:pPr marL="0" indent="0" algn="ctr">
                        <a:buNone/>
                      </a:pPr>
                      <a:r>
                        <a:rPr lang="en-US" sz="1100" b="1" dirty="0">
                          <a:solidFill>
                            <a:srgbClr val="111111"/>
                          </a:solidFill>
                        </a:rPr>
                        <a:t>Falling</a:t>
                      </a:r>
                      <a:endParaRPr lang="en-US" sz="1100" dirty="0"/>
                    </a:p>
                  </a:txBody>
                  <a:tcPr marL="38100" marR="38100" marT="38100" marB="38100" anchor="ctr"/>
                </a:tc>
                <a:tc>
                  <a:txBody>
                    <a:bodyPr/>
                    <a:lstStyle/>
                    <a:p>
                      <a:pPr marL="0" indent="0" algn="ctr">
                        <a:buNone/>
                      </a:pPr>
                      <a:r>
                        <a:rPr lang="en-US" sz="1100" b="1" dirty="0">
                          <a:solidFill>
                            <a:srgbClr val="111111"/>
                          </a:solidFill>
                        </a:rPr>
                        <a:t>Falling</a:t>
                      </a:r>
                      <a:endParaRPr lang="en-US" sz="1100" dirty="0"/>
                    </a:p>
                  </a:txBody>
                  <a:tcPr marL="38100" marR="38100" marT="38100" marB="38100" anchor="ctr"/>
                </a:tc>
                <a:extLst>
                  <a:ext uri="{0D108BD9-81ED-4DB2-BD59-A6C34878D82A}">
                    <a16:rowId xmlns:a16="http://schemas.microsoft.com/office/drawing/2014/main" val="10007"/>
                  </a:ext>
                </a:extLst>
              </a:tr>
              <a:tr h="352039">
                <a:tc>
                  <a:txBody>
                    <a:bodyPr/>
                    <a:lstStyle/>
                    <a:p>
                      <a:pPr marL="0" indent="0">
                        <a:buNone/>
                      </a:pPr>
                      <a:r>
                        <a:rPr lang="en-US" sz="1100" dirty="0">
                          <a:solidFill>
                            <a:srgbClr val="111111"/>
                          </a:solidFill>
                        </a:rPr>
                        <a:t>Wizz Air</a:t>
                      </a:r>
                      <a:endParaRPr lang="en-US" sz="1100" dirty="0"/>
                    </a:p>
                  </a:txBody>
                  <a:tcPr marL="38100" marR="38100" marT="38100" marB="38100" anchor="ctr"/>
                </a:tc>
                <a:tc>
                  <a:txBody>
                    <a:bodyPr/>
                    <a:lstStyle/>
                    <a:p>
                      <a:pPr marL="0" indent="0" algn="ctr">
                        <a:buNone/>
                      </a:pPr>
                      <a:r>
                        <a:rPr lang="en-US" sz="1100" b="1" dirty="0">
                          <a:solidFill>
                            <a:srgbClr val="111111"/>
                          </a:solidFill>
                        </a:rPr>
                        <a:t>Falling</a:t>
                      </a:r>
                      <a:endParaRPr lang="en-US" sz="1100" dirty="0"/>
                    </a:p>
                  </a:txBody>
                  <a:tcPr marL="38100" marR="38100" marT="38100" marB="38100" anchor="ctr"/>
                </a:tc>
                <a:tc>
                  <a:txBody>
                    <a:bodyPr/>
                    <a:lstStyle/>
                    <a:p>
                      <a:pPr marL="0" indent="0" algn="ctr">
                        <a:buNone/>
                      </a:pPr>
                      <a:r>
                        <a:rPr lang="en-US" sz="1100" b="1" dirty="0">
                          <a:solidFill>
                            <a:srgbClr val="111111"/>
                          </a:solidFill>
                        </a:rPr>
                        <a:t>Falling</a:t>
                      </a:r>
                      <a:endParaRPr lang="en-US" sz="1100" dirty="0"/>
                    </a:p>
                  </a:txBody>
                  <a:tcPr marL="38100" marR="38100" marT="38100" marB="38100" anchor="ctr"/>
                </a:tc>
                <a:tc>
                  <a:txBody>
                    <a:bodyPr/>
                    <a:lstStyle/>
                    <a:p>
                      <a:pPr marL="0" indent="0" algn="ctr">
                        <a:buNone/>
                      </a:pPr>
                      <a:r>
                        <a:rPr lang="en-US" sz="1100" b="1" dirty="0">
                          <a:solidFill>
                            <a:srgbClr val="111111"/>
                          </a:solidFill>
                        </a:rPr>
                        <a:t>Falling</a:t>
                      </a:r>
                      <a:endParaRPr lang="en-US" sz="1100" dirty="0"/>
                    </a:p>
                  </a:txBody>
                  <a:tcPr marL="38100" marR="38100" marT="38100" marB="38100" anchor="ctr"/>
                </a:tc>
                <a:extLst>
                  <a:ext uri="{0D108BD9-81ED-4DB2-BD59-A6C34878D82A}">
                    <a16:rowId xmlns:a16="http://schemas.microsoft.com/office/drawing/2014/main" val="10008"/>
                  </a:ext>
                </a:extLst>
              </a:tr>
            </a:tbl>
          </a:graphicData>
        </a:graphic>
      </p:graphicFrame>
      <p:sp>
        <p:nvSpPr>
          <p:cNvPr id="22" name="TextBox 21">
            <a:extLst>
              <a:ext uri="{FF2B5EF4-FFF2-40B4-BE49-F238E27FC236}">
                <a16:creationId xmlns:a16="http://schemas.microsoft.com/office/drawing/2014/main" id="{D64AC931-64FC-3C24-2ABB-9F5F1B27FE76}"/>
              </a:ext>
            </a:extLst>
          </p:cNvPr>
          <p:cNvSpPr txBox="1"/>
          <p:nvPr/>
        </p:nvSpPr>
        <p:spPr>
          <a:xfrm>
            <a:off x="593518" y="5799945"/>
            <a:ext cx="8514692" cy="738664"/>
          </a:xfrm>
          <a:prstGeom prst="rect">
            <a:avLst/>
          </a:prstGeom>
          <a:noFill/>
        </p:spPr>
        <p:txBody>
          <a:bodyPr wrap="square">
            <a:spAutoFit/>
          </a:bodyPr>
          <a:lstStyle/>
          <a:p>
            <a:pPr marL="0" indent="0">
              <a:buNone/>
            </a:pPr>
            <a:r>
              <a:rPr lang="en-US" sz="1400" b="1" dirty="0">
                <a:solidFill>
                  <a:schemeClr val="bg1"/>
                </a:solidFill>
              </a:rPr>
              <a:t>Where the methods differ. </a:t>
            </a:r>
            <a:r>
              <a:rPr lang="en-US" sz="1400" dirty="0">
                <a:solidFill>
                  <a:schemeClr val="bg1"/>
                </a:solidFill>
              </a:rPr>
              <a:t>Among these companies, K-Means and K-Medoids disagree only on Man Group and Johnson Matthey. GMM moves several other companies, such as Taylor Wimpey and Drax, into its mixed group.</a:t>
            </a:r>
          </a:p>
        </p:txBody>
      </p:sp>
    </p:spTree>
    <p:extLst>
      <p:ext uri="{BB962C8B-B14F-4D97-AF65-F5344CB8AC3E}">
        <p14:creationId xmlns:p14="http://schemas.microsoft.com/office/powerpoint/2010/main" val="36840674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7A1BA-E12A-EE9E-C0C5-BDCAB081603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65FDBB4-87FB-3327-5590-5E919E4C66FB}"/>
              </a:ext>
            </a:extLst>
          </p:cNvPr>
          <p:cNvSpPr txBox="1"/>
          <p:nvPr/>
        </p:nvSpPr>
        <p:spPr>
          <a:xfrm>
            <a:off x="467544" y="1484784"/>
            <a:ext cx="8496944" cy="523220"/>
          </a:xfrm>
          <a:prstGeom prst="rect">
            <a:avLst/>
          </a:prstGeom>
          <a:noFill/>
        </p:spPr>
        <p:txBody>
          <a:bodyPr wrap="square">
            <a:spAutoFit/>
          </a:bodyPr>
          <a:lstStyle/>
          <a:p>
            <a:r>
              <a:rPr lang="en-US" sz="2800" b="1" dirty="0">
                <a:solidFill>
                  <a:schemeClr val="bg1"/>
                </a:solidFill>
              </a:rPr>
              <a:t>Comparison: the same story with different detail</a:t>
            </a:r>
            <a:endParaRPr lang="en-IN" dirty="0">
              <a:solidFill>
                <a:schemeClr val="bg1"/>
              </a:solidFill>
            </a:endParaRPr>
          </a:p>
        </p:txBody>
      </p:sp>
      <p:sp>
        <p:nvSpPr>
          <p:cNvPr id="5" name="TextBox 4">
            <a:extLst>
              <a:ext uri="{FF2B5EF4-FFF2-40B4-BE49-F238E27FC236}">
                <a16:creationId xmlns:a16="http://schemas.microsoft.com/office/drawing/2014/main" id="{87C82A55-A579-2C19-8F7E-A27DD28B5F41}"/>
              </a:ext>
            </a:extLst>
          </p:cNvPr>
          <p:cNvSpPr txBox="1"/>
          <p:nvPr/>
        </p:nvSpPr>
        <p:spPr>
          <a:xfrm>
            <a:off x="323528" y="2132856"/>
            <a:ext cx="8496944" cy="4524315"/>
          </a:xfrm>
          <a:prstGeom prst="rect">
            <a:avLst/>
          </a:prstGeom>
          <a:noFill/>
        </p:spPr>
        <p:txBody>
          <a:bodyPr wrap="square">
            <a:spAutoFit/>
          </a:bodyPr>
          <a:lstStyle/>
          <a:p>
            <a:pPr marL="342900" lvl="0" indent="-342900">
              <a:buFont typeface="Arial" panose="020B0604020202020204" pitchFamily="34" charset="0"/>
              <a:buChar char="•"/>
            </a:pPr>
            <a:r>
              <a:rPr lang="en-IN" dirty="0">
                <a:solidFill>
                  <a:schemeClr val="bg1"/>
                </a:solidFill>
              </a:rPr>
              <a:t>Agreement: K-Means and K-Medoids classify 96% of stocks (231 out of 241) into the same groups.</a:t>
            </a:r>
          </a:p>
          <a:p>
            <a:pPr lvl="0"/>
            <a:endParaRPr lang="en-IN" dirty="0">
              <a:solidFill>
                <a:schemeClr val="bg1"/>
              </a:solidFill>
            </a:endParaRPr>
          </a:p>
          <a:p>
            <a:pPr marL="342900" lvl="0" indent="-342900">
              <a:buFont typeface="Arial" panose="020B0604020202020204" pitchFamily="34" charset="0"/>
              <a:buChar char="•"/>
            </a:pPr>
            <a:r>
              <a:rPr lang="en-IN" dirty="0">
                <a:solidFill>
                  <a:schemeClr val="bg1"/>
                </a:solidFill>
              </a:rPr>
              <a:t>GMM: Around 48% of stocks fall into its additional mixed group using 4.5 years of data.</a:t>
            </a:r>
          </a:p>
          <a:p>
            <a:pPr lvl="0"/>
            <a:endParaRPr lang="en-IN" dirty="0">
              <a:solidFill>
                <a:schemeClr val="bg1"/>
              </a:solidFill>
            </a:endParaRPr>
          </a:p>
          <a:p>
            <a:pPr marL="342900" lvl="0" indent="-342900">
              <a:buFont typeface="Arial" panose="020B0604020202020204" pitchFamily="34" charset="0"/>
              <a:buChar char="•"/>
            </a:pPr>
            <a:r>
              <a:rPr lang="en-IN" dirty="0">
                <a:solidFill>
                  <a:schemeClr val="bg1"/>
                </a:solidFill>
              </a:rPr>
              <a:t>Stability over time: 70% of stocks keep the same group with K-Means and K-Medoids, compared with 52% for GMM, when comparing 4.5-year and 1-year data.</a:t>
            </a:r>
          </a:p>
          <a:p>
            <a:pPr marL="342900" lvl="0" indent="-342900">
              <a:buFont typeface="Arial" panose="020B0604020202020204" pitchFamily="34" charset="0"/>
              <a:buChar char="•"/>
            </a:pPr>
            <a:endParaRPr lang="en-IN" dirty="0">
              <a:solidFill>
                <a:schemeClr val="bg1"/>
              </a:solidFill>
            </a:endParaRPr>
          </a:p>
          <a:p>
            <a:pPr marL="342900" indent="-342900">
              <a:buFont typeface="Arial" panose="020B0604020202020204" pitchFamily="34" charset="0"/>
              <a:buChar char="•"/>
            </a:pPr>
            <a:r>
              <a:rPr lang="en-IN" dirty="0">
                <a:solidFill>
                  <a:schemeClr val="bg1"/>
                </a:solidFill>
              </a:rPr>
              <a:t>So far, we can see that the algorithms group stocks based on similarities in their price movements, rather than their business sectors. As a result, companies from different industries can end up in the same cluster.</a:t>
            </a:r>
          </a:p>
          <a:p>
            <a:pPr lvl="0"/>
            <a:endParaRPr lang="en-IN" dirty="0">
              <a:solidFill>
                <a:schemeClr val="bg1"/>
              </a:solidFill>
            </a:endParaRPr>
          </a:p>
          <a:p>
            <a:pPr marL="342900" lvl="0" indent="-342900">
              <a:buFont typeface="Arial" panose="020B0604020202020204" pitchFamily="34" charset="0"/>
              <a:buChar char="•"/>
            </a:pPr>
            <a:r>
              <a:rPr lang="en-IN" dirty="0">
                <a:solidFill>
                  <a:schemeClr val="bg1"/>
                </a:solidFill>
              </a:rPr>
              <a:t>Overall: All three methods produce stable clusters within each period, but stock groups can change over time as prices change.</a:t>
            </a:r>
          </a:p>
        </p:txBody>
      </p:sp>
    </p:spTree>
    <p:extLst>
      <p:ext uri="{BB962C8B-B14F-4D97-AF65-F5344CB8AC3E}">
        <p14:creationId xmlns:p14="http://schemas.microsoft.com/office/powerpoint/2010/main" val="41622926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8CAA55F-6602-8663-41B9-61E7C57106D7}"/>
              </a:ext>
            </a:extLst>
          </p:cNvPr>
          <p:cNvSpPr txBox="1"/>
          <p:nvPr/>
        </p:nvSpPr>
        <p:spPr>
          <a:xfrm>
            <a:off x="332210" y="2420888"/>
            <a:ext cx="8200230" cy="3970318"/>
          </a:xfrm>
          <a:prstGeom prst="rect">
            <a:avLst/>
          </a:prstGeom>
          <a:noFill/>
        </p:spPr>
        <p:txBody>
          <a:bodyPr wrap="square">
            <a:spAutoFit/>
          </a:bodyPr>
          <a:lstStyle/>
          <a:p>
            <a:pPr marL="285750" indent="-285750">
              <a:buFont typeface="Arial" panose="020B0604020202020204" pitchFamily="34" charset="0"/>
              <a:buChar char="•"/>
            </a:pPr>
            <a:r>
              <a:rPr lang="en-IN" b="1" dirty="0">
                <a:solidFill>
                  <a:schemeClr val="bg1"/>
                </a:solidFill>
              </a:rPr>
              <a:t>K-Means and K-Medoids</a:t>
            </a:r>
            <a:r>
              <a:rPr lang="en-IN" dirty="0">
                <a:solidFill>
                  <a:schemeClr val="bg1"/>
                </a:solidFill>
              </a:rPr>
              <a:t>: Both identify two groups of stocks  rising and falling  with approximately 96% agreement between their classifications.</a:t>
            </a:r>
          </a:p>
          <a:p>
            <a:pPr marL="285750" indent="-285750">
              <a:buFont typeface="Arial" panose="020B0604020202020204" pitchFamily="34" charset="0"/>
              <a:buChar char="•"/>
            </a:pPr>
            <a:endParaRPr lang="en-IN" dirty="0">
              <a:solidFill>
                <a:schemeClr val="bg1"/>
              </a:solidFill>
            </a:endParaRPr>
          </a:p>
          <a:p>
            <a:pPr marL="285750" indent="-285750">
              <a:buFont typeface="Arial" panose="020B0604020202020204" pitchFamily="34" charset="0"/>
              <a:buChar char="•"/>
            </a:pPr>
            <a:r>
              <a:rPr lang="en-IN" b="1" dirty="0">
                <a:solidFill>
                  <a:schemeClr val="bg1"/>
                </a:solidFill>
              </a:rPr>
              <a:t>Gaussian Mixture Model (GMM): </a:t>
            </a:r>
            <a:r>
              <a:rPr lang="en-IN" dirty="0">
                <a:solidFill>
                  <a:schemeClr val="bg1"/>
                </a:solidFill>
              </a:rPr>
              <a:t>Identifies a third, mixed group, providing a more detailed picture and highlighting stocks with uncertain group membership.</a:t>
            </a:r>
          </a:p>
          <a:p>
            <a:pPr marL="285750" indent="-285750">
              <a:buFont typeface="Arial" panose="020B0604020202020204" pitchFamily="34" charset="0"/>
              <a:buChar char="•"/>
            </a:pPr>
            <a:endParaRPr lang="en-IN" dirty="0">
              <a:solidFill>
                <a:schemeClr val="bg1"/>
              </a:solidFill>
            </a:endParaRPr>
          </a:p>
          <a:p>
            <a:pPr marL="285750" indent="-285750">
              <a:buFont typeface="Arial" panose="020B0604020202020204" pitchFamily="34" charset="0"/>
              <a:buChar char="•"/>
            </a:pPr>
            <a:r>
              <a:rPr lang="en-IN" b="1" dirty="0">
                <a:solidFill>
                  <a:schemeClr val="bg1"/>
                </a:solidFill>
              </a:rPr>
              <a:t>Stable but Not Permanent</a:t>
            </a:r>
            <a:r>
              <a:rPr lang="en-IN" dirty="0">
                <a:solidFill>
                  <a:schemeClr val="bg1"/>
                </a:solidFill>
              </a:rPr>
              <a:t>: Stock groupings remain relatively stable within each period, but stocks can move between groups over time.</a:t>
            </a:r>
          </a:p>
          <a:p>
            <a:pPr marL="285750" indent="-285750">
              <a:buFont typeface="Arial" panose="020B0604020202020204" pitchFamily="34" charset="0"/>
              <a:buChar char="•"/>
            </a:pPr>
            <a:endParaRPr lang="en-IN" dirty="0">
              <a:solidFill>
                <a:schemeClr val="bg1"/>
              </a:solidFill>
            </a:endParaRPr>
          </a:p>
          <a:p>
            <a:pPr marL="285750" indent="-285750">
              <a:buFont typeface="Arial" panose="020B0604020202020204" pitchFamily="34" charset="0"/>
              <a:buChar char="•"/>
            </a:pPr>
            <a:r>
              <a:rPr lang="en-IN" b="1" dirty="0">
                <a:solidFill>
                  <a:schemeClr val="bg1"/>
                </a:solidFill>
              </a:rPr>
              <a:t>Future Work</a:t>
            </a:r>
            <a:r>
              <a:rPr lang="en-IN" dirty="0">
                <a:solidFill>
                  <a:schemeClr val="bg1"/>
                </a:solidFill>
              </a:rPr>
              <a:t>: Incorporate additional features, such as stock returns and volatility; test the models across other markets and include delisted stocks; and develop a news pipeline to explore the impact of news on stock groupings.</a:t>
            </a:r>
          </a:p>
        </p:txBody>
      </p:sp>
      <p:sp>
        <p:nvSpPr>
          <p:cNvPr id="7" name="TextBox 6">
            <a:extLst>
              <a:ext uri="{FF2B5EF4-FFF2-40B4-BE49-F238E27FC236}">
                <a16:creationId xmlns:a16="http://schemas.microsoft.com/office/drawing/2014/main" id="{7DEA78A5-EA8C-265C-158E-D2C4C2C3DD54}"/>
              </a:ext>
            </a:extLst>
          </p:cNvPr>
          <p:cNvSpPr txBox="1"/>
          <p:nvPr/>
        </p:nvSpPr>
        <p:spPr>
          <a:xfrm>
            <a:off x="539552" y="1916832"/>
            <a:ext cx="9361040" cy="400110"/>
          </a:xfrm>
          <a:prstGeom prst="rect">
            <a:avLst/>
          </a:prstGeom>
          <a:noFill/>
        </p:spPr>
        <p:txBody>
          <a:bodyPr wrap="square">
            <a:spAutoFit/>
          </a:bodyPr>
          <a:lstStyle/>
          <a:p>
            <a:r>
              <a:rPr lang="en-US" sz="2000" b="1" dirty="0">
                <a:solidFill>
                  <a:schemeClr val="bg1"/>
                </a:solidFill>
              </a:rPr>
              <a:t>Groups exist, but they mostly reflect price direction</a:t>
            </a:r>
            <a:endParaRPr lang="en-IN" sz="1400" dirty="0"/>
          </a:p>
        </p:txBody>
      </p:sp>
      <p:sp>
        <p:nvSpPr>
          <p:cNvPr id="9" name="TextBox 8">
            <a:extLst>
              <a:ext uri="{FF2B5EF4-FFF2-40B4-BE49-F238E27FC236}">
                <a16:creationId xmlns:a16="http://schemas.microsoft.com/office/drawing/2014/main" id="{30AB7723-5529-4ED9-A600-CA1B361C7C3E}"/>
              </a:ext>
            </a:extLst>
          </p:cNvPr>
          <p:cNvSpPr txBox="1"/>
          <p:nvPr/>
        </p:nvSpPr>
        <p:spPr>
          <a:xfrm>
            <a:off x="539552" y="1403194"/>
            <a:ext cx="4951476" cy="461665"/>
          </a:xfrm>
          <a:prstGeom prst="rect">
            <a:avLst/>
          </a:prstGeom>
          <a:noFill/>
        </p:spPr>
        <p:txBody>
          <a:bodyPr wrap="square">
            <a:spAutoFit/>
          </a:bodyPr>
          <a:lstStyle/>
          <a:p>
            <a:r>
              <a:rPr lang="en-IN" sz="2400" b="1" dirty="0">
                <a:solidFill>
                  <a:schemeClr val="bg1"/>
                </a:solidFill>
              </a:rPr>
              <a:t>CONCLUSION</a:t>
            </a:r>
          </a:p>
        </p:txBody>
      </p:sp>
    </p:spTree>
    <p:extLst>
      <p:ext uri="{BB962C8B-B14F-4D97-AF65-F5344CB8AC3E}">
        <p14:creationId xmlns:p14="http://schemas.microsoft.com/office/powerpoint/2010/main" val="19906753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3A7C0-6E88-958D-3915-5423A928D205}"/>
              </a:ext>
            </a:extLst>
          </p:cNvPr>
          <p:cNvSpPr>
            <a:spLocks noGrp="1"/>
          </p:cNvSpPr>
          <p:nvPr>
            <p:ph type="title"/>
          </p:nvPr>
        </p:nvSpPr>
        <p:spPr>
          <a:xfrm>
            <a:off x="2987824" y="2996952"/>
            <a:ext cx="5842992" cy="1143000"/>
          </a:xfrm>
        </p:spPr>
        <p:txBody>
          <a:bodyPr/>
          <a:lstStyle/>
          <a:p>
            <a:r>
              <a:rPr lang="en-IN" dirty="0"/>
              <a:t>THANK YOU </a:t>
            </a:r>
          </a:p>
        </p:txBody>
      </p:sp>
    </p:spTree>
    <p:extLst>
      <p:ext uri="{BB962C8B-B14F-4D97-AF65-F5344CB8AC3E}">
        <p14:creationId xmlns:p14="http://schemas.microsoft.com/office/powerpoint/2010/main" val="1865182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602</TotalTime>
  <Words>1721</Words>
  <Application>Microsoft Office PowerPoint</Application>
  <PresentationFormat>On-screen Show (4:3)</PresentationFormat>
  <Paragraphs>196</Paragraphs>
  <Slides>22</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PowerPoint Presentation</vt:lpstr>
      <vt:lpstr>Can we find hidden groups in noisy stock prices?</vt:lpstr>
      <vt:lpstr>To study this, we apply three clustering algorithms to the FTSE data.</vt:lpstr>
      <vt:lpstr>K-Means</vt:lpstr>
      <vt:lpstr>K-Medoids with Dynamic time wraping</vt:lpstr>
      <vt:lpstr>Gaussian mixture model with Expectation Maximisation </vt:lpstr>
      <vt:lpstr>Consensus clustering: are the groups stable?</vt:lpstr>
      <vt:lpstr>RESULTS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 </vt:lpstr>
    </vt:vector>
  </TitlesOfParts>
  <Company>University of Manchester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MZYSSPB2</dc:creator>
  <cp:lastModifiedBy>divyalakshmi rama</cp:lastModifiedBy>
  <cp:revision>18</cp:revision>
  <dcterms:created xsi:type="dcterms:W3CDTF">2012-06-12T15:56:20Z</dcterms:created>
  <dcterms:modified xsi:type="dcterms:W3CDTF">2026-10-24T16:46:36Z</dcterms:modified>
</cp:coreProperties>
</file>