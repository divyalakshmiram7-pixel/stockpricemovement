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8" r:id="rId2"/>
    <p:sldId id="259" r:id="rId3"/>
    <p:sldId id="280" r:id="rId4"/>
    <p:sldId id="261" r:id="rId5"/>
    <p:sldId id="257"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81" r:id="rId24"/>
    <p:sldId id="279" r:id="rId25"/>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pitchFamily="34" charset="0"/>
        <a:ea typeface="+mn-ea"/>
        <a:cs typeface="Arial" pitchFamily="34" charset="0"/>
      </a:defRPr>
    </a:lvl1pPr>
    <a:lvl2pPr marL="457200" algn="l" rtl="0" fontAlgn="base">
      <a:spcBef>
        <a:spcPct val="0"/>
      </a:spcBef>
      <a:spcAft>
        <a:spcPct val="0"/>
      </a:spcAft>
      <a:defRPr kern="1200">
        <a:solidFill>
          <a:schemeClr val="tx1"/>
        </a:solidFill>
        <a:latin typeface="Arial" pitchFamily="34" charset="0"/>
        <a:ea typeface="+mn-ea"/>
        <a:cs typeface="Arial" pitchFamily="34" charset="0"/>
      </a:defRPr>
    </a:lvl2pPr>
    <a:lvl3pPr marL="914400" algn="l" rtl="0" fontAlgn="base">
      <a:spcBef>
        <a:spcPct val="0"/>
      </a:spcBef>
      <a:spcAft>
        <a:spcPct val="0"/>
      </a:spcAft>
      <a:defRPr kern="1200">
        <a:solidFill>
          <a:schemeClr val="tx1"/>
        </a:solidFill>
        <a:latin typeface="Arial" pitchFamily="34" charset="0"/>
        <a:ea typeface="+mn-ea"/>
        <a:cs typeface="Arial" pitchFamily="34" charset="0"/>
      </a:defRPr>
    </a:lvl3pPr>
    <a:lvl4pPr marL="1371600" algn="l" rtl="0" fontAlgn="base">
      <a:spcBef>
        <a:spcPct val="0"/>
      </a:spcBef>
      <a:spcAft>
        <a:spcPct val="0"/>
      </a:spcAft>
      <a:defRPr kern="1200">
        <a:solidFill>
          <a:schemeClr val="tx1"/>
        </a:solidFill>
        <a:latin typeface="Arial" pitchFamily="34" charset="0"/>
        <a:ea typeface="+mn-ea"/>
        <a:cs typeface="Arial" pitchFamily="34" charset="0"/>
      </a:defRPr>
    </a:lvl4pPr>
    <a:lvl5pPr marL="1828800" algn="l" rtl="0" fontAlgn="base">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79" autoAdjust="0"/>
    <p:restoredTop sz="94660"/>
  </p:normalViewPr>
  <p:slideViewPr>
    <p:cSldViewPr>
      <p:cViewPr varScale="1">
        <p:scale>
          <a:sx n="70" d="100"/>
          <a:sy n="70" d="100"/>
        </p:scale>
        <p:origin x="1180" y="44"/>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AECCAEB-7496-4C12-9A08-526B0D813A46}" type="datetimeFigureOut">
              <a:rPr lang="en-GB" smtClean="0"/>
              <a:pPr/>
              <a:t>28/10/2026</a:t>
            </a:fld>
            <a:endParaRPr lang="en-GB"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EE8D4E6-F64F-4999-AC2A-A008E685C045}" type="slidenum">
              <a:rPr lang="en-GB" smtClean="0"/>
              <a:pPr/>
              <a:t>‹#›</a:t>
            </a:fld>
            <a:endParaRPr lang="en-GB" dirty="0"/>
          </a:p>
        </p:txBody>
      </p:sp>
    </p:spTree>
    <p:extLst>
      <p:ext uri="{BB962C8B-B14F-4D97-AF65-F5344CB8AC3E}">
        <p14:creationId xmlns:p14="http://schemas.microsoft.com/office/powerpoint/2010/main" val="184979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E8D4E6-F64F-4999-AC2A-A008E685C045}" type="slidenum">
              <a:rPr lang="en-GB" smtClean="0"/>
              <a:pPr/>
              <a:t>6</a:t>
            </a:fld>
            <a:endParaRPr lang="en-GB" dirty="0"/>
          </a:p>
        </p:txBody>
      </p:sp>
    </p:spTree>
    <p:extLst>
      <p:ext uri="{BB962C8B-B14F-4D97-AF65-F5344CB8AC3E}">
        <p14:creationId xmlns:p14="http://schemas.microsoft.com/office/powerpoint/2010/main" val="23261081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E8D4E6-F64F-4999-AC2A-A008E685C045}" type="slidenum">
              <a:rPr lang="en-GB" smtClean="0"/>
              <a:pPr/>
              <a:t>23</a:t>
            </a:fld>
            <a:endParaRPr lang="en-GB" dirty="0"/>
          </a:p>
        </p:txBody>
      </p:sp>
    </p:spTree>
    <p:extLst>
      <p:ext uri="{BB962C8B-B14F-4D97-AF65-F5344CB8AC3E}">
        <p14:creationId xmlns:p14="http://schemas.microsoft.com/office/powerpoint/2010/main" val="2811355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67544" y="2130425"/>
            <a:ext cx="7772400" cy="1470025"/>
          </a:xfrm>
        </p:spPr>
        <p:txBody>
          <a:bodyPr/>
          <a:lstStyle>
            <a:lvl1pPr>
              <a:defRPr sz="3200" b="1">
                <a:latin typeface="Arial" pitchFamily="34" charset="0"/>
                <a:cs typeface="Arial" pitchFamily="34" charset="0"/>
              </a:defRPr>
            </a:lvl1pPr>
          </a:lstStyle>
          <a:p>
            <a:r>
              <a:rPr lang="en-US" dirty="0"/>
              <a:t>Click to edit Master title style</a:t>
            </a:r>
            <a:endParaRPr lang="en-GB" dirty="0"/>
          </a:p>
        </p:txBody>
      </p:sp>
      <p:sp>
        <p:nvSpPr>
          <p:cNvPr id="3" name="Subtitle 2"/>
          <p:cNvSpPr>
            <a:spLocks noGrp="1"/>
          </p:cNvSpPr>
          <p:nvPr>
            <p:ph type="subTitle" idx="1"/>
          </p:nvPr>
        </p:nvSpPr>
        <p:spPr>
          <a:xfrm>
            <a:off x="467544" y="3886200"/>
            <a:ext cx="6400800" cy="1752600"/>
          </a:xfrm>
        </p:spPr>
        <p:txBody>
          <a:bodyPr/>
          <a:lstStyle>
            <a:lvl1pPr marL="0" indent="0" algn="l">
              <a:buNone/>
              <a:defRPr sz="2800" baseline="0">
                <a:solidFill>
                  <a:schemeClr val="bg1"/>
                </a:solidFill>
                <a:latin typeface="Arial" pitchFamily="34" charset="0"/>
                <a:cs typeface="Arial"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endParaRPr lang="en-GB" dirty="0"/>
          </a:p>
        </p:txBody>
      </p:sp>
      <p:sp>
        <p:nvSpPr>
          <p:cNvPr id="4" name="Date Placeholder 3"/>
          <p:cNvSpPr>
            <a:spLocks noGrp="1"/>
          </p:cNvSpPr>
          <p:nvPr>
            <p:ph type="dt" sz="half" idx="10"/>
          </p:nvPr>
        </p:nvSpPr>
        <p:spPr/>
        <p:txBody>
          <a:bodyPr/>
          <a:lstStyle>
            <a:lvl1pPr>
              <a:defRPr baseline="0">
                <a:solidFill>
                  <a:schemeClr val="bg1"/>
                </a:solidFill>
                <a:latin typeface="Arial" pitchFamily="34" charset="0"/>
              </a:defRPr>
            </a:lvl1pPr>
          </a:lstStyle>
          <a:p>
            <a:fld id="{EC7AB759-530A-46AC-842F-B07144F002F9}" type="datetimeFigureOut">
              <a:rPr lang="en-GB" smtClean="0"/>
              <a:pPr/>
              <a:t>28/10/2026</a:t>
            </a:fld>
            <a:endParaRPr lang="en-GB" dirty="0"/>
          </a:p>
        </p:txBody>
      </p:sp>
      <p:sp>
        <p:nvSpPr>
          <p:cNvPr id="5" name="Footer Placeholder 4"/>
          <p:cNvSpPr>
            <a:spLocks noGrp="1"/>
          </p:cNvSpPr>
          <p:nvPr>
            <p:ph type="ftr" sz="quarter" idx="11"/>
          </p:nvPr>
        </p:nvSpPr>
        <p:spPr/>
        <p:txBody>
          <a:bodyPr/>
          <a:lstStyle>
            <a:lvl1pPr>
              <a:defRPr baseline="0">
                <a:solidFill>
                  <a:schemeClr val="bg1"/>
                </a:solidFill>
                <a:latin typeface="Arial" pitchFamily="34" charset="0"/>
                <a:cs typeface="Arial" pitchFamily="34" charset="0"/>
              </a:defRPr>
            </a:lvl1pPr>
          </a:lstStyle>
          <a:p>
            <a:endParaRPr lang="en-GB" dirty="0"/>
          </a:p>
        </p:txBody>
      </p:sp>
      <p:sp>
        <p:nvSpPr>
          <p:cNvPr id="6" name="Slide Number Placeholder 5"/>
          <p:cNvSpPr>
            <a:spLocks noGrp="1"/>
          </p:cNvSpPr>
          <p:nvPr>
            <p:ph type="sldNum" sz="quarter" idx="12"/>
          </p:nvPr>
        </p:nvSpPr>
        <p:spPr/>
        <p:txBody>
          <a:bodyPr/>
          <a:lstStyle>
            <a:lvl1pPr>
              <a:defRPr baseline="0">
                <a:solidFill>
                  <a:schemeClr val="bg1"/>
                </a:solidFill>
                <a:latin typeface="Arial" pitchFamily="34" charset="0"/>
                <a:cs typeface="Arial" pitchFamily="34" charset="0"/>
              </a:defRPr>
            </a:lvl1pPr>
          </a:lstStyle>
          <a:p>
            <a:fld id="{10AD8A0A-4898-40BF-9009-4DA7E611EAC1}" type="slidenum">
              <a:rPr lang="en-GB" smtClean="0"/>
              <a:pPr/>
              <a:t>‹#›</a:t>
            </a:fld>
            <a:endParaRPr lang="en-GB"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05880" y="1268760"/>
            <a:ext cx="5842992" cy="1143000"/>
          </a:xfrm>
        </p:spPr>
        <p:txBody>
          <a:bodyPr/>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395536" y="2492896"/>
            <a:ext cx="8229600" cy="3633267"/>
          </a:xfrm>
        </p:spPr>
        <p:txBody>
          <a:bodyPr/>
          <a:lstStyle>
            <a:lvl1pPr>
              <a:defRPr sz="2800"/>
            </a:lvl1pPr>
            <a:lvl2pPr>
              <a:defRPr sz="2400"/>
            </a:lvl2pPr>
            <a:lvl3pPr>
              <a:defRPr sz="2400"/>
            </a:lvl3pPr>
            <a:lvl4pPr>
              <a:defRPr sz="2400"/>
            </a:lvl4pPr>
            <a:lvl5pPr>
              <a:defRPr sz="2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p:cNvSpPr>
            <a:spLocks noGrp="1"/>
          </p:cNvSpPr>
          <p:nvPr>
            <p:ph type="dt" sz="half" idx="10"/>
          </p:nvPr>
        </p:nvSpPr>
        <p:spPr/>
        <p:txBody>
          <a:bodyPr/>
          <a:lstStyle>
            <a:lvl1pPr>
              <a:defRPr/>
            </a:lvl1pPr>
          </a:lstStyle>
          <a:p>
            <a:fld id="{222B6232-AB33-4513-9527-F98CEC472D23}" type="datetimeFigureOut">
              <a:rPr lang="en-GB" smtClean="0"/>
              <a:pPr/>
              <a:t>28/10/2026</a:t>
            </a:fld>
            <a:endParaRPr lang="en-GB" dirty="0"/>
          </a:p>
        </p:txBody>
      </p:sp>
      <p:sp>
        <p:nvSpPr>
          <p:cNvPr id="5" name="Footer Placeholder 4"/>
          <p:cNvSpPr>
            <a:spLocks noGrp="1"/>
          </p:cNvSpPr>
          <p:nvPr>
            <p:ph type="ftr" sz="quarter" idx="11"/>
          </p:nvPr>
        </p:nvSpPr>
        <p:spPr/>
        <p:txBody>
          <a:bodyPr/>
          <a:lstStyle>
            <a:lvl1pPr>
              <a:defRPr/>
            </a:lvl1pPr>
          </a:lstStyle>
          <a:p>
            <a:endParaRPr lang="en-GB" dirty="0"/>
          </a:p>
        </p:txBody>
      </p:sp>
      <p:sp>
        <p:nvSpPr>
          <p:cNvPr id="6" name="Slide Number Placeholder 5"/>
          <p:cNvSpPr>
            <a:spLocks noGrp="1"/>
          </p:cNvSpPr>
          <p:nvPr>
            <p:ph type="sldNum" sz="quarter" idx="12"/>
          </p:nvPr>
        </p:nvSpPr>
        <p:spPr/>
        <p:txBody>
          <a:bodyPr/>
          <a:lstStyle>
            <a:lvl1pPr>
              <a:defRPr/>
            </a:lvl1pPr>
          </a:lstStyle>
          <a:p>
            <a:fld id="{F758A139-7ABE-46A1-B082-C2C77667394C}" type="slidenum">
              <a:rPr lang="en-GB"/>
              <a:pPr/>
              <a:t>‹#›</a:t>
            </a:fld>
            <a:endParaRPr lang="en-GB"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95536" y="4406900"/>
            <a:ext cx="7772400" cy="1362075"/>
          </a:xfrm>
          <a:ln>
            <a:noFill/>
          </a:ln>
        </p:spPr>
        <p:txBody>
          <a:bodyPr anchor="t"/>
          <a:lstStyle>
            <a:lvl1pPr algn="l">
              <a:defRPr sz="4000" b="1" cap="all"/>
            </a:lvl1pPr>
          </a:lstStyle>
          <a:p>
            <a:r>
              <a:rPr lang="en-US" dirty="0"/>
              <a:t>Click to edit Master title style</a:t>
            </a:r>
            <a:endParaRPr lang="en-GB" dirty="0"/>
          </a:p>
        </p:txBody>
      </p:sp>
      <p:sp>
        <p:nvSpPr>
          <p:cNvPr id="3" name="Text Placeholder 2"/>
          <p:cNvSpPr>
            <a:spLocks noGrp="1"/>
          </p:cNvSpPr>
          <p:nvPr>
            <p:ph type="body" idx="1"/>
          </p:nvPr>
        </p:nvSpPr>
        <p:spPr>
          <a:xfrm>
            <a:off x="395536" y="2906713"/>
            <a:ext cx="7772400" cy="1500187"/>
          </a:xfrm>
          <a:ln>
            <a:noFill/>
          </a:ln>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445CD916-7149-4247-856D-87DAB39295C7}" type="datetimeFigureOut">
              <a:rPr lang="en-GB"/>
              <a:pPr/>
              <a:t>28/10/2026</a:t>
            </a:fld>
            <a:endParaRPr lang="en-GB" dirty="0"/>
          </a:p>
        </p:txBody>
      </p:sp>
      <p:sp>
        <p:nvSpPr>
          <p:cNvPr id="5" name="Footer Placeholder 4"/>
          <p:cNvSpPr>
            <a:spLocks noGrp="1"/>
          </p:cNvSpPr>
          <p:nvPr>
            <p:ph type="ftr" sz="quarter" idx="11"/>
          </p:nvPr>
        </p:nvSpPr>
        <p:spPr/>
        <p:txBody>
          <a:bodyPr/>
          <a:lstStyle>
            <a:lvl1pPr>
              <a:defRPr/>
            </a:lvl1pPr>
          </a:lstStyle>
          <a:p>
            <a:endParaRPr lang="en-GB" dirty="0"/>
          </a:p>
        </p:txBody>
      </p:sp>
      <p:sp>
        <p:nvSpPr>
          <p:cNvPr id="6" name="Slide Number Placeholder 5"/>
          <p:cNvSpPr>
            <a:spLocks noGrp="1"/>
          </p:cNvSpPr>
          <p:nvPr>
            <p:ph type="sldNum" sz="quarter" idx="12"/>
          </p:nvPr>
        </p:nvSpPr>
        <p:spPr/>
        <p:txBody>
          <a:bodyPr/>
          <a:lstStyle>
            <a:lvl1pPr>
              <a:defRPr/>
            </a:lvl1pPr>
          </a:lstStyle>
          <a:p>
            <a:fld id="{13ACF840-035C-411F-BA81-AF7A8ED78138}" type="slidenum">
              <a:rPr lang="en-GB"/>
              <a:pPr/>
              <a:t>‹#›</a:t>
            </a:fld>
            <a:endParaRPr lang="en-GB" dirty="0"/>
          </a:p>
        </p:txBody>
      </p:sp>
      <p:pic>
        <p:nvPicPr>
          <p:cNvPr id="7" name="Picture 5" descr="TAB_col_white_background.eps"/>
          <p:cNvPicPr>
            <a:picLocks noChangeAspect="1"/>
          </p:cNvPicPr>
          <p:nvPr userDrawn="1"/>
        </p:nvPicPr>
        <p:blipFill>
          <a:blip r:embed="rId2" cstate="print"/>
          <a:srcRect/>
          <a:stretch>
            <a:fillRect/>
          </a:stretch>
        </p:blipFill>
        <p:spPr bwMode="auto">
          <a:xfrm>
            <a:off x="523875" y="509588"/>
            <a:ext cx="1663700" cy="711200"/>
          </a:xfrm>
          <a:prstGeom prst="rect">
            <a:avLst/>
          </a:prstGeom>
          <a:noFill/>
          <a:ln w="9525">
            <a:noFill/>
            <a:miter lim="800000"/>
            <a:headEnd/>
            <a:tailEnd/>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05880" y="1268760"/>
            <a:ext cx="5842992" cy="1143000"/>
          </a:xfrm>
        </p:spPr>
        <p:txBody>
          <a:bodyPr/>
          <a:lstStyle>
            <a:lvl1pPr>
              <a:defRPr sz="3200"/>
            </a:lvl1pPr>
          </a:lstStyle>
          <a:p>
            <a:r>
              <a:rPr lang="en-US" dirty="0"/>
              <a:t>Click to edit Master title style</a:t>
            </a:r>
            <a:endParaRPr lang="en-GB" dirty="0"/>
          </a:p>
        </p:txBody>
      </p:sp>
      <p:sp>
        <p:nvSpPr>
          <p:cNvPr id="3" name="Content Placeholder 2"/>
          <p:cNvSpPr>
            <a:spLocks noGrp="1"/>
          </p:cNvSpPr>
          <p:nvPr>
            <p:ph sz="half" idx="1"/>
          </p:nvPr>
        </p:nvSpPr>
        <p:spPr>
          <a:xfrm>
            <a:off x="395536" y="2492896"/>
            <a:ext cx="4038600" cy="3633267"/>
          </a:xfrm>
        </p:spPr>
        <p:txBody>
          <a:bodyPr/>
          <a:lstStyle>
            <a:lvl1pPr>
              <a:defRPr sz="2800" baseline="0"/>
            </a:lvl1pPr>
            <a:lvl2pPr>
              <a:defRPr sz="2400"/>
            </a:lvl2pPr>
            <a:lvl3pPr>
              <a:defRPr sz="2400"/>
            </a:lvl3pPr>
            <a:lvl4pPr>
              <a:defRPr sz="2400"/>
            </a:lvl4pPr>
            <a:lvl5pPr>
              <a:defRPr sz="2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4586536" y="2492896"/>
            <a:ext cx="4038600" cy="3633267"/>
          </a:xfrm>
        </p:spPr>
        <p:txBody>
          <a:bodyPr/>
          <a:lstStyle>
            <a:lvl1pPr>
              <a:defRPr sz="2800"/>
            </a:lvl1pPr>
            <a:lvl2pPr>
              <a:defRPr sz="2400"/>
            </a:lvl2pPr>
            <a:lvl3pPr>
              <a:defRPr sz="2400"/>
            </a:lvl3pPr>
            <a:lvl4pPr>
              <a:defRPr sz="2400"/>
            </a:lvl4pPr>
            <a:lvl5pPr>
              <a:defRPr sz="2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Date Placeholder 3"/>
          <p:cNvSpPr>
            <a:spLocks noGrp="1"/>
          </p:cNvSpPr>
          <p:nvPr>
            <p:ph type="dt" sz="half" idx="10"/>
          </p:nvPr>
        </p:nvSpPr>
        <p:spPr/>
        <p:txBody>
          <a:bodyPr/>
          <a:lstStyle>
            <a:lvl1pPr>
              <a:defRPr/>
            </a:lvl1pPr>
          </a:lstStyle>
          <a:p>
            <a:fld id="{9FD09641-23CB-4E80-A5B0-5F03D2E94610}" type="datetimeFigureOut">
              <a:rPr lang="en-GB"/>
              <a:pPr/>
              <a:t>28/10/2026</a:t>
            </a:fld>
            <a:endParaRPr lang="en-GB" dirty="0"/>
          </a:p>
        </p:txBody>
      </p:sp>
      <p:sp>
        <p:nvSpPr>
          <p:cNvPr id="6" name="Footer Placeholder 4"/>
          <p:cNvSpPr>
            <a:spLocks noGrp="1"/>
          </p:cNvSpPr>
          <p:nvPr>
            <p:ph type="ftr" sz="quarter" idx="11"/>
          </p:nvPr>
        </p:nvSpPr>
        <p:spPr/>
        <p:txBody>
          <a:bodyPr/>
          <a:lstStyle>
            <a:lvl1pPr>
              <a:defRPr/>
            </a:lvl1pPr>
          </a:lstStyle>
          <a:p>
            <a:endParaRPr lang="en-GB" dirty="0"/>
          </a:p>
        </p:txBody>
      </p:sp>
      <p:sp>
        <p:nvSpPr>
          <p:cNvPr id="7" name="Slide Number Placeholder 5"/>
          <p:cNvSpPr>
            <a:spLocks noGrp="1"/>
          </p:cNvSpPr>
          <p:nvPr>
            <p:ph type="sldNum" sz="quarter" idx="12"/>
          </p:nvPr>
        </p:nvSpPr>
        <p:spPr/>
        <p:txBody>
          <a:bodyPr/>
          <a:lstStyle>
            <a:lvl1pPr>
              <a:defRPr/>
            </a:lvl1pPr>
          </a:lstStyle>
          <a:p>
            <a:fld id="{EF7FA264-F771-4264-8DF0-4BB7F0DA3C69}" type="slidenum">
              <a:rPr lang="en-GB"/>
              <a:pPr/>
              <a:t>‹#›</a:t>
            </a:fld>
            <a:endParaRPr lang="en-GB"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05880" y="1268760"/>
            <a:ext cx="5842992" cy="1143000"/>
          </a:xfrm>
        </p:spPr>
        <p:txBody>
          <a:bodyPr/>
          <a:lstStyle>
            <a:lvl1pPr>
              <a:defRPr sz="2800"/>
            </a:lvl1pPr>
          </a:lstStyle>
          <a:p>
            <a:r>
              <a:rPr lang="en-US" dirty="0"/>
              <a:t>Click to edit Master title style</a:t>
            </a:r>
            <a:endParaRPr lang="en-GB" dirty="0"/>
          </a:p>
        </p:txBody>
      </p:sp>
      <p:sp>
        <p:nvSpPr>
          <p:cNvPr id="3" name="Text Placeholder 2"/>
          <p:cNvSpPr>
            <a:spLocks noGrp="1"/>
          </p:cNvSpPr>
          <p:nvPr>
            <p:ph type="body" idx="1"/>
          </p:nvPr>
        </p:nvSpPr>
        <p:spPr>
          <a:xfrm>
            <a:off x="405880" y="2348880"/>
            <a:ext cx="4040188" cy="63976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95536" y="3068959"/>
            <a:ext cx="4040188" cy="3057203"/>
          </a:xfrm>
        </p:spPr>
        <p:txBody>
          <a:bodyPr/>
          <a:lstStyle>
            <a:lvl1pPr>
              <a:defRPr sz="2400"/>
            </a:lvl1pPr>
            <a:lvl2pPr>
              <a:defRPr sz="2400"/>
            </a:lvl2pPr>
            <a:lvl3pPr>
              <a:defRPr sz="2400"/>
            </a:lvl3pPr>
            <a:lvl4pPr>
              <a:defRPr sz="2400"/>
            </a:lvl4pPr>
            <a:lvl5pPr>
              <a:defRPr sz="2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Text Placeholder 4"/>
          <p:cNvSpPr>
            <a:spLocks noGrp="1"/>
          </p:cNvSpPr>
          <p:nvPr>
            <p:ph type="body" sz="quarter" idx="3"/>
          </p:nvPr>
        </p:nvSpPr>
        <p:spPr>
          <a:xfrm>
            <a:off x="4582344" y="2348880"/>
            <a:ext cx="4041775" cy="63976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583361" y="3068960"/>
            <a:ext cx="4041775" cy="3057202"/>
          </a:xfrm>
        </p:spPr>
        <p:txBody>
          <a:bodyPr/>
          <a:lstStyle>
            <a:lvl1pPr>
              <a:defRPr sz="2400"/>
            </a:lvl1pPr>
            <a:lvl2pPr>
              <a:defRPr sz="2400"/>
            </a:lvl2pPr>
            <a:lvl3pPr>
              <a:defRPr sz="2400"/>
            </a:lvl3pPr>
            <a:lvl4pPr>
              <a:defRPr sz="2400"/>
            </a:lvl4pPr>
            <a:lvl5pPr>
              <a:defRPr sz="2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Date Placeholder 3"/>
          <p:cNvSpPr>
            <a:spLocks noGrp="1"/>
          </p:cNvSpPr>
          <p:nvPr>
            <p:ph type="dt" sz="half" idx="10"/>
          </p:nvPr>
        </p:nvSpPr>
        <p:spPr/>
        <p:txBody>
          <a:bodyPr/>
          <a:lstStyle>
            <a:lvl1pPr>
              <a:defRPr/>
            </a:lvl1pPr>
          </a:lstStyle>
          <a:p>
            <a:fld id="{3A9A4E03-F40B-4399-AC2E-A4C6E9D600B3}" type="datetimeFigureOut">
              <a:rPr lang="en-GB"/>
              <a:pPr/>
              <a:t>28/10/2026</a:t>
            </a:fld>
            <a:endParaRPr lang="en-GB" dirty="0"/>
          </a:p>
        </p:txBody>
      </p:sp>
      <p:sp>
        <p:nvSpPr>
          <p:cNvPr id="8" name="Footer Placeholder 4"/>
          <p:cNvSpPr>
            <a:spLocks noGrp="1"/>
          </p:cNvSpPr>
          <p:nvPr>
            <p:ph type="ftr" sz="quarter" idx="11"/>
          </p:nvPr>
        </p:nvSpPr>
        <p:spPr/>
        <p:txBody>
          <a:bodyPr/>
          <a:lstStyle>
            <a:lvl1pPr>
              <a:defRPr/>
            </a:lvl1pPr>
          </a:lstStyle>
          <a:p>
            <a:endParaRPr lang="en-GB" dirty="0"/>
          </a:p>
        </p:txBody>
      </p:sp>
      <p:sp>
        <p:nvSpPr>
          <p:cNvPr id="9" name="Slide Number Placeholder 5"/>
          <p:cNvSpPr>
            <a:spLocks noGrp="1"/>
          </p:cNvSpPr>
          <p:nvPr>
            <p:ph type="sldNum" sz="quarter" idx="12"/>
          </p:nvPr>
        </p:nvSpPr>
        <p:spPr/>
        <p:txBody>
          <a:bodyPr/>
          <a:lstStyle>
            <a:lvl1pPr>
              <a:defRPr/>
            </a:lvl1pPr>
          </a:lstStyle>
          <a:p>
            <a:fld id="{8692BDDC-0BFC-44A0-A4BA-47C3E99EB1AA}" type="slidenum">
              <a:rPr lang="en-GB"/>
              <a:pPr/>
              <a:t>‹#›</a:t>
            </a:fld>
            <a:endParaRPr lang="en-GB"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200"/>
            </a:lvl1pPr>
          </a:lstStyle>
          <a:p>
            <a:r>
              <a:rPr lang="en-US" dirty="0"/>
              <a:t>Click to edit Master title style</a:t>
            </a:r>
            <a:endParaRPr lang="en-GB" dirty="0"/>
          </a:p>
        </p:txBody>
      </p:sp>
      <p:sp>
        <p:nvSpPr>
          <p:cNvPr id="3" name="Date Placeholder 3"/>
          <p:cNvSpPr>
            <a:spLocks noGrp="1"/>
          </p:cNvSpPr>
          <p:nvPr>
            <p:ph type="dt" sz="half" idx="10"/>
          </p:nvPr>
        </p:nvSpPr>
        <p:spPr/>
        <p:txBody>
          <a:bodyPr/>
          <a:lstStyle>
            <a:lvl1pPr>
              <a:defRPr/>
            </a:lvl1pPr>
          </a:lstStyle>
          <a:p>
            <a:fld id="{CFE8F7DA-80EC-4CF7-AB7B-078F533B953B}" type="datetimeFigureOut">
              <a:rPr lang="en-GB"/>
              <a:pPr/>
              <a:t>28/10/2026</a:t>
            </a:fld>
            <a:endParaRPr lang="en-GB" dirty="0"/>
          </a:p>
        </p:txBody>
      </p:sp>
      <p:sp>
        <p:nvSpPr>
          <p:cNvPr id="4" name="Footer Placeholder 4"/>
          <p:cNvSpPr>
            <a:spLocks noGrp="1"/>
          </p:cNvSpPr>
          <p:nvPr>
            <p:ph type="ftr" sz="quarter" idx="11"/>
          </p:nvPr>
        </p:nvSpPr>
        <p:spPr/>
        <p:txBody>
          <a:bodyPr/>
          <a:lstStyle>
            <a:lvl1pPr>
              <a:defRPr/>
            </a:lvl1pPr>
          </a:lstStyle>
          <a:p>
            <a:endParaRPr lang="en-GB" dirty="0"/>
          </a:p>
        </p:txBody>
      </p:sp>
      <p:sp>
        <p:nvSpPr>
          <p:cNvPr id="5" name="Slide Number Placeholder 5"/>
          <p:cNvSpPr>
            <a:spLocks noGrp="1"/>
          </p:cNvSpPr>
          <p:nvPr>
            <p:ph type="sldNum" sz="quarter" idx="12"/>
          </p:nvPr>
        </p:nvSpPr>
        <p:spPr/>
        <p:txBody>
          <a:bodyPr/>
          <a:lstStyle>
            <a:lvl1pPr>
              <a:defRPr/>
            </a:lvl1pPr>
          </a:lstStyle>
          <a:p>
            <a:fld id="{F74E6293-7DA2-4D9E-8605-5715E69AF2C7}" type="slidenum">
              <a:rPr lang="en-GB"/>
              <a:pPr/>
              <a:t>‹#›</a:t>
            </a:fld>
            <a:endParaRPr lang="en-GB"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B1AE269B-21F6-4A71-848B-6E891C314B78}" type="datetimeFigureOut">
              <a:rPr lang="en-GB"/>
              <a:pPr/>
              <a:t>28/10/2026</a:t>
            </a:fld>
            <a:endParaRPr lang="en-GB" dirty="0"/>
          </a:p>
        </p:txBody>
      </p:sp>
      <p:sp>
        <p:nvSpPr>
          <p:cNvPr id="3" name="Footer Placeholder 4"/>
          <p:cNvSpPr>
            <a:spLocks noGrp="1"/>
          </p:cNvSpPr>
          <p:nvPr>
            <p:ph type="ftr" sz="quarter" idx="11"/>
          </p:nvPr>
        </p:nvSpPr>
        <p:spPr/>
        <p:txBody>
          <a:bodyPr/>
          <a:lstStyle>
            <a:lvl1pPr>
              <a:defRPr/>
            </a:lvl1pPr>
          </a:lstStyle>
          <a:p>
            <a:endParaRPr lang="en-GB" dirty="0"/>
          </a:p>
        </p:txBody>
      </p:sp>
      <p:sp>
        <p:nvSpPr>
          <p:cNvPr id="4" name="Slide Number Placeholder 5"/>
          <p:cNvSpPr>
            <a:spLocks noGrp="1"/>
          </p:cNvSpPr>
          <p:nvPr>
            <p:ph type="sldNum" sz="quarter" idx="12"/>
          </p:nvPr>
        </p:nvSpPr>
        <p:spPr/>
        <p:txBody>
          <a:bodyPr/>
          <a:lstStyle>
            <a:lvl1pPr>
              <a:defRPr/>
            </a:lvl1pPr>
          </a:lstStyle>
          <a:p>
            <a:fld id="{32789173-A1D5-421E-B384-2A426DF314C2}" type="slidenum">
              <a:rPr lang="en-GB"/>
              <a:pPr/>
              <a:t>‹#›</a:t>
            </a:fld>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5536" y="1186830"/>
            <a:ext cx="3008313" cy="1162050"/>
          </a:xfrm>
        </p:spPr>
        <p:txBody>
          <a:bodyPr anchor="b"/>
          <a:lstStyle>
            <a:lvl1pPr algn="l">
              <a:defRPr sz="3200" b="1"/>
            </a:lvl1pPr>
          </a:lstStyle>
          <a:p>
            <a:r>
              <a:rPr lang="en-US" dirty="0"/>
              <a:t>Click to edit Master title style</a:t>
            </a:r>
            <a:endParaRPr lang="en-GB" dirty="0"/>
          </a:p>
        </p:txBody>
      </p:sp>
      <p:sp>
        <p:nvSpPr>
          <p:cNvPr id="3" name="Content Placeholder 2"/>
          <p:cNvSpPr>
            <a:spLocks noGrp="1"/>
          </p:cNvSpPr>
          <p:nvPr>
            <p:ph idx="1"/>
          </p:nvPr>
        </p:nvSpPr>
        <p:spPr>
          <a:xfrm>
            <a:off x="3575050" y="1196752"/>
            <a:ext cx="5111750" cy="4929411"/>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2420888"/>
            <a:ext cx="3008313" cy="3705275"/>
          </a:xfrm>
        </p:spPr>
        <p:txBody>
          <a:bodyPr/>
          <a:lstStyle>
            <a:lvl1pPr marL="0" indent="0">
              <a:buNone/>
              <a:defRPr sz="2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3"/>
          <p:cNvSpPr>
            <a:spLocks noGrp="1"/>
          </p:cNvSpPr>
          <p:nvPr>
            <p:ph type="dt" sz="half" idx="10"/>
          </p:nvPr>
        </p:nvSpPr>
        <p:spPr/>
        <p:txBody>
          <a:bodyPr/>
          <a:lstStyle>
            <a:lvl1pPr>
              <a:defRPr/>
            </a:lvl1pPr>
          </a:lstStyle>
          <a:p>
            <a:fld id="{B89648B1-3911-4AC2-8E3A-DF4A70CC86E7}" type="datetimeFigureOut">
              <a:rPr lang="en-GB"/>
              <a:pPr/>
              <a:t>28/10/2026</a:t>
            </a:fld>
            <a:endParaRPr lang="en-GB" dirty="0"/>
          </a:p>
        </p:txBody>
      </p:sp>
      <p:sp>
        <p:nvSpPr>
          <p:cNvPr id="6" name="Footer Placeholder 4"/>
          <p:cNvSpPr>
            <a:spLocks noGrp="1"/>
          </p:cNvSpPr>
          <p:nvPr>
            <p:ph type="ftr" sz="quarter" idx="11"/>
          </p:nvPr>
        </p:nvSpPr>
        <p:spPr/>
        <p:txBody>
          <a:bodyPr/>
          <a:lstStyle>
            <a:lvl1pPr>
              <a:defRPr/>
            </a:lvl1pPr>
          </a:lstStyle>
          <a:p>
            <a:endParaRPr lang="en-GB" dirty="0"/>
          </a:p>
        </p:txBody>
      </p:sp>
      <p:sp>
        <p:nvSpPr>
          <p:cNvPr id="7" name="Slide Number Placeholder 5"/>
          <p:cNvSpPr>
            <a:spLocks noGrp="1"/>
          </p:cNvSpPr>
          <p:nvPr>
            <p:ph type="sldNum" sz="quarter" idx="12"/>
          </p:nvPr>
        </p:nvSpPr>
        <p:spPr/>
        <p:txBody>
          <a:bodyPr/>
          <a:lstStyle>
            <a:lvl1pPr>
              <a:defRPr/>
            </a:lvl1pPr>
          </a:lstStyle>
          <a:p>
            <a:fld id="{C853D388-5704-4C64-A883-D899E8570667}" type="slidenum">
              <a:rPr lang="en-GB"/>
              <a:pPr/>
              <a:t>‹#›</a:t>
            </a:fld>
            <a:endParaRPr lang="en-GB"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GB" noProof="0"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62AAA9A3-945F-42AF-BCAE-8459AEA58868}" type="datetimeFigureOut">
              <a:rPr lang="en-GB"/>
              <a:pPr/>
              <a:t>28/10/2026</a:t>
            </a:fld>
            <a:endParaRPr lang="en-GB" dirty="0"/>
          </a:p>
        </p:txBody>
      </p:sp>
      <p:sp>
        <p:nvSpPr>
          <p:cNvPr id="6" name="Footer Placeholder 4"/>
          <p:cNvSpPr>
            <a:spLocks noGrp="1"/>
          </p:cNvSpPr>
          <p:nvPr>
            <p:ph type="ftr" sz="quarter" idx="11"/>
          </p:nvPr>
        </p:nvSpPr>
        <p:spPr/>
        <p:txBody>
          <a:bodyPr/>
          <a:lstStyle>
            <a:lvl1pPr>
              <a:defRPr/>
            </a:lvl1pPr>
          </a:lstStyle>
          <a:p>
            <a:endParaRPr lang="en-GB" dirty="0"/>
          </a:p>
        </p:txBody>
      </p:sp>
      <p:sp>
        <p:nvSpPr>
          <p:cNvPr id="7" name="Slide Number Placeholder 5"/>
          <p:cNvSpPr>
            <a:spLocks noGrp="1"/>
          </p:cNvSpPr>
          <p:nvPr>
            <p:ph type="sldNum" sz="quarter" idx="12"/>
          </p:nvPr>
        </p:nvSpPr>
        <p:spPr/>
        <p:txBody>
          <a:bodyPr/>
          <a:lstStyle>
            <a:lvl1pPr>
              <a:defRPr/>
            </a:lvl1pPr>
          </a:lstStyle>
          <a:p>
            <a:fld id="{5E74E2F5-7E8D-47B8-82FB-3832A72B6BDB}" type="slidenum">
              <a:rPr lang="en-GB"/>
              <a:pPr/>
              <a:t>‹#›</a:t>
            </a:fld>
            <a:endParaRPr lang="en-GB"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200"/>
            </a:lvl1pPr>
          </a:lstStyle>
          <a:p>
            <a:r>
              <a:rPr lang="en-US" dirty="0"/>
              <a:t>Click to edit Master title style</a:t>
            </a:r>
            <a:endParaRPr lang="en-GB" dirty="0"/>
          </a:p>
        </p:txBody>
      </p:sp>
      <p:sp>
        <p:nvSpPr>
          <p:cNvPr id="3" name="Vertical Text Placeholder 2"/>
          <p:cNvSpPr>
            <a:spLocks noGrp="1"/>
          </p:cNvSpPr>
          <p:nvPr>
            <p:ph type="body" orient="vert" idx="1"/>
          </p:nvPr>
        </p:nvSpPr>
        <p:spPr/>
        <p:txBody>
          <a:bodyPr vert="eaVert"/>
          <a:lstStyle>
            <a:lvl1pPr>
              <a:defRPr sz="3200"/>
            </a:lvl1pPr>
            <a:lvl2pPr>
              <a:defRPr sz="2800"/>
            </a:lvl2pPr>
            <a:lvl3pPr>
              <a:defRPr sz="2800"/>
            </a:lvl3pPr>
            <a:lvl4pPr>
              <a:defRPr sz="2800"/>
            </a:lvl4pPr>
            <a:lvl5pPr>
              <a:defRPr sz="2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p:cNvSpPr>
            <a:spLocks noGrp="1"/>
          </p:cNvSpPr>
          <p:nvPr>
            <p:ph type="dt" sz="half" idx="10"/>
          </p:nvPr>
        </p:nvSpPr>
        <p:spPr/>
        <p:txBody>
          <a:bodyPr/>
          <a:lstStyle>
            <a:lvl1pPr>
              <a:defRPr/>
            </a:lvl1pPr>
          </a:lstStyle>
          <a:p>
            <a:fld id="{98FF8105-8845-4543-9ED8-9E57E8E42CB7}" type="datetimeFigureOut">
              <a:rPr lang="en-GB"/>
              <a:pPr/>
              <a:t>28/10/2026</a:t>
            </a:fld>
            <a:endParaRPr lang="en-GB" dirty="0"/>
          </a:p>
        </p:txBody>
      </p:sp>
      <p:sp>
        <p:nvSpPr>
          <p:cNvPr id="5" name="Footer Placeholder 4"/>
          <p:cNvSpPr>
            <a:spLocks noGrp="1"/>
          </p:cNvSpPr>
          <p:nvPr>
            <p:ph type="ftr" sz="quarter" idx="11"/>
          </p:nvPr>
        </p:nvSpPr>
        <p:spPr/>
        <p:txBody>
          <a:bodyPr/>
          <a:lstStyle>
            <a:lvl1pPr>
              <a:defRPr/>
            </a:lvl1pPr>
          </a:lstStyle>
          <a:p>
            <a:endParaRPr lang="en-GB" dirty="0"/>
          </a:p>
        </p:txBody>
      </p:sp>
      <p:sp>
        <p:nvSpPr>
          <p:cNvPr id="6" name="Slide Number Placeholder 5"/>
          <p:cNvSpPr>
            <a:spLocks noGrp="1"/>
          </p:cNvSpPr>
          <p:nvPr>
            <p:ph type="sldNum" sz="quarter" idx="12"/>
          </p:nvPr>
        </p:nvSpPr>
        <p:spPr/>
        <p:txBody>
          <a:bodyPr/>
          <a:lstStyle>
            <a:lvl1pPr>
              <a:defRPr/>
            </a:lvl1pPr>
          </a:lstStyle>
          <a:p>
            <a:fld id="{58FF8E4D-CDF4-4B1F-BD52-35BFB528DB87}" type="slidenum">
              <a:rPr lang="en-GB"/>
              <a:pPr/>
              <a:t>‹#›</a:t>
            </a:fld>
            <a:endParaRPr lang="en-GB"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56792"/>
            <a:ext cx="2057400" cy="4569371"/>
          </a:xfrm>
        </p:spPr>
        <p:txBody>
          <a:bodyPr vert="eaVert"/>
          <a:lstStyle>
            <a:lvl1pPr>
              <a:defRPr sz="3200"/>
            </a:lvl1pPr>
          </a:lstStyle>
          <a:p>
            <a:r>
              <a:rPr lang="en-US" dirty="0"/>
              <a:t>Click to edit Master title style</a:t>
            </a:r>
            <a:endParaRPr lang="en-GB" dirty="0"/>
          </a:p>
        </p:txBody>
      </p:sp>
      <p:sp>
        <p:nvSpPr>
          <p:cNvPr id="3" name="Vertical Text Placeholder 2"/>
          <p:cNvSpPr>
            <a:spLocks noGrp="1"/>
          </p:cNvSpPr>
          <p:nvPr>
            <p:ph type="body" orient="vert" idx="1"/>
          </p:nvPr>
        </p:nvSpPr>
        <p:spPr>
          <a:xfrm>
            <a:off x="457200" y="1556792"/>
            <a:ext cx="6019800" cy="4569371"/>
          </a:xfrm>
        </p:spPr>
        <p:txBody>
          <a:bodyPr vert="eaVert"/>
          <a:lstStyle>
            <a:lvl1pPr>
              <a:defRPr sz="2800"/>
            </a:lvl1pPr>
            <a:lvl2pPr>
              <a:defRPr sz="2400"/>
            </a:lvl2pPr>
            <a:lvl3pPr>
              <a:defRPr sz="2400"/>
            </a:lvl3pPr>
            <a:lvl4pPr>
              <a:defRPr sz="2400"/>
            </a:lvl4pPr>
            <a:lvl5pPr>
              <a:defRPr sz="2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p:cNvSpPr>
            <a:spLocks noGrp="1"/>
          </p:cNvSpPr>
          <p:nvPr>
            <p:ph type="dt" sz="half" idx="10"/>
          </p:nvPr>
        </p:nvSpPr>
        <p:spPr/>
        <p:txBody>
          <a:bodyPr/>
          <a:lstStyle>
            <a:lvl1pPr>
              <a:defRPr/>
            </a:lvl1pPr>
          </a:lstStyle>
          <a:p>
            <a:fld id="{08976883-B614-42E6-9595-363FA777B038}" type="datetimeFigureOut">
              <a:rPr lang="en-GB"/>
              <a:pPr/>
              <a:t>28/10/2026</a:t>
            </a:fld>
            <a:endParaRPr lang="en-GB" dirty="0"/>
          </a:p>
        </p:txBody>
      </p:sp>
      <p:sp>
        <p:nvSpPr>
          <p:cNvPr id="5" name="Footer Placeholder 4"/>
          <p:cNvSpPr>
            <a:spLocks noGrp="1"/>
          </p:cNvSpPr>
          <p:nvPr>
            <p:ph type="ftr" sz="quarter" idx="11"/>
          </p:nvPr>
        </p:nvSpPr>
        <p:spPr/>
        <p:txBody>
          <a:bodyPr/>
          <a:lstStyle>
            <a:lvl1pPr>
              <a:defRPr/>
            </a:lvl1pPr>
          </a:lstStyle>
          <a:p>
            <a:endParaRPr lang="en-GB" dirty="0"/>
          </a:p>
        </p:txBody>
      </p:sp>
      <p:sp>
        <p:nvSpPr>
          <p:cNvPr id="6" name="Slide Number Placeholder 5"/>
          <p:cNvSpPr>
            <a:spLocks noGrp="1"/>
          </p:cNvSpPr>
          <p:nvPr>
            <p:ph type="sldNum" sz="quarter" idx="12"/>
          </p:nvPr>
        </p:nvSpPr>
        <p:spPr/>
        <p:txBody>
          <a:bodyPr/>
          <a:lstStyle>
            <a:lvl1pPr>
              <a:defRPr/>
            </a:lvl1pPr>
          </a:lstStyle>
          <a:p>
            <a:fld id="{86915344-E335-44E9-ACDC-CB4826450486}" type="slidenum">
              <a:rPr lang="en-GB"/>
              <a:pPr/>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3" descr="brand_ppt_back.jpg"/>
          <p:cNvPicPr>
            <a:picLocks noChangeAspect="1"/>
          </p:cNvPicPr>
          <p:nvPr userDrawn="1"/>
        </p:nvPicPr>
        <p:blipFill>
          <a:blip r:embed="rId13" cstate="print"/>
          <a:srcRect/>
          <a:stretch>
            <a:fillRect/>
          </a:stretch>
        </p:blipFill>
        <p:spPr bwMode="auto">
          <a:xfrm>
            <a:off x="0" y="0"/>
            <a:ext cx="9229725" cy="6923088"/>
          </a:xfrm>
          <a:prstGeom prst="rect">
            <a:avLst/>
          </a:prstGeom>
          <a:noFill/>
          <a:ln w="9525">
            <a:noFill/>
            <a:miter lim="800000"/>
            <a:headEnd/>
            <a:tailEnd/>
          </a:ln>
        </p:spPr>
      </p:pic>
      <p:sp>
        <p:nvSpPr>
          <p:cNvPr id="1026" name="Title Placeholder 1"/>
          <p:cNvSpPr>
            <a:spLocks noGrp="1"/>
          </p:cNvSpPr>
          <p:nvPr>
            <p:ph type="title"/>
          </p:nvPr>
        </p:nvSpPr>
        <p:spPr bwMode="auto">
          <a:xfrm>
            <a:off x="467544" y="1268760"/>
            <a:ext cx="5842992"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endParaRPr lang="en-GB" dirty="0"/>
          </a:p>
        </p:txBody>
      </p:sp>
      <p:sp>
        <p:nvSpPr>
          <p:cNvPr id="1027" name="Text Placeholder 2"/>
          <p:cNvSpPr>
            <a:spLocks noGrp="1"/>
          </p:cNvSpPr>
          <p:nvPr>
            <p:ph type="body" idx="1"/>
          </p:nvPr>
        </p:nvSpPr>
        <p:spPr bwMode="auto">
          <a:xfrm>
            <a:off x="457200" y="2492896"/>
            <a:ext cx="8229600" cy="363326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p:cNvSpPr>
            <a:spLocks noGrp="1"/>
          </p:cNvSpPr>
          <p:nvPr>
            <p:ph type="dt" sz="half" idx="2"/>
          </p:nvPr>
        </p:nvSpPr>
        <p:spPr>
          <a:xfrm>
            <a:off x="457200" y="6356350"/>
            <a:ext cx="2133600" cy="365125"/>
          </a:xfrm>
          <a:prstGeom prst="rect">
            <a:avLst/>
          </a:prstGeom>
        </p:spPr>
        <p:txBody>
          <a:bodyPr vert="horz" wrap="square" lIns="91440" tIns="45720" rIns="91440" bIns="45720" numCol="1" anchor="ctr" anchorCtr="0" compatLnSpc="1">
            <a:prstTxWarp prst="textNoShape">
              <a:avLst/>
            </a:prstTxWarp>
          </a:bodyPr>
          <a:lstStyle>
            <a:lvl1pPr>
              <a:defRPr sz="1200" baseline="0">
                <a:solidFill>
                  <a:schemeClr val="bg1"/>
                </a:solidFill>
                <a:latin typeface="Arial" pitchFamily="34" charset="0"/>
                <a:cs typeface="Arial" pitchFamily="34" charset="0"/>
              </a:defRPr>
            </a:lvl1pPr>
          </a:lstStyle>
          <a:p>
            <a:fld id="{456A7D1D-6254-4063-974C-6A2AE04E4B91}" type="datetimeFigureOut">
              <a:rPr lang="en-GB" smtClean="0"/>
              <a:pPr/>
              <a:t>28/10/2026</a:t>
            </a:fld>
            <a:endParaRPr lang="en-GB"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200" baseline="0">
                <a:solidFill>
                  <a:schemeClr val="bg1"/>
                </a:solidFill>
                <a:latin typeface="Arial" pitchFamily="34" charset="0"/>
              </a:defRPr>
            </a:lvl1pPr>
          </a:lstStyle>
          <a:p>
            <a:endParaRPr lang="en-GB"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baseline="0">
                <a:solidFill>
                  <a:schemeClr val="bg1"/>
                </a:solidFill>
                <a:latin typeface="Arial" pitchFamily="34" charset="0"/>
              </a:defRPr>
            </a:lvl1pPr>
          </a:lstStyle>
          <a:p>
            <a:fld id="{26878614-5F41-4702-8E44-D9C8B2874F5D}" type="slidenum">
              <a:rPr lang="en-GB" smtClean="0"/>
              <a:pPr/>
              <a:t>‹#›</a:t>
            </a:fld>
            <a:endParaRPr lang="en-GB" dirty="0"/>
          </a:p>
        </p:txBody>
      </p:sp>
      <p:pic>
        <p:nvPicPr>
          <p:cNvPr id="11" name="Picture 1" descr="TAB_allwhite.eps"/>
          <p:cNvPicPr>
            <a:picLocks noChangeAspect="1"/>
          </p:cNvPicPr>
          <p:nvPr userDrawn="1"/>
        </p:nvPicPr>
        <p:blipFill>
          <a:blip r:embed="rId14" cstate="print"/>
          <a:srcRect/>
          <a:stretch>
            <a:fillRect/>
          </a:stretch>
        </p:blipFill>
        <p:spPr bwMode="auto">
          <a:xfrm>
            <a:off x="522288" y="509588"/>
            <a:ext cx="1663700" cy="711200"/>
          </a:xfrm>
          <a:prstGeom prst="rect">
            <a:avLst/>
          </a:prstGeom>
          <a:noFill/>
          <a:ln w="9525">
            <a:noFill/>
            <a:miter lim="800000"/>
            <a:headEnd/>
            <a:tailEnd/>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fontAlgn="base">
        <a:spcBef>
          <a:spcPct val="0"/>
        </a:spcBef>
        <a:spcAft>
          <a:spcPct val="0"/>
        </a:spcAft>
        <a:defRPr sz="3200" b="1" kern="1200">
          <a:solidFill>
            <a:schemeClr val="bg1"/>
          </a:solidFill>
          <a:latin typeface="Arial" pitchFamily="34" charset="0"/>
          <a:ea typeface="+mj-ea"/>
          <a:cs typeface="Arial" pitchFamily="34" charset="0"/>
        </a:defRPr>
      </a:lvl1pPr>
      <a:lvl2pPr algn="ctr" rtl="0" fontAlgn="base">
        <a:spcBef>
          <a:spcPct val="0"/>
        </a:spcBef>
        <a:spcAft>
          <a:spcPct val="0"/>
        </a:spcAft>
        <a:defRPr sz="4400">
          <a:solidFill>
            <a:schemeClr val="tx1"/>
          </a:solidFill>
          <a:latin typeface="Calibri" pitchFamily="34" charset="0"/>
        </a:defRPr>
      </a:lvl2pPr>
      <a:lvl3pPr algn="ctr" rtl="0" fontAlgn="base">
        <a:spcBef>
          <a:spcPct val="0"/>
        </a:spcBef>
        <a:spcAft>
          <a:spcPct val="0"/>
        </a:spcAft>
        <a:defRPr sz="4400">
          <a:solidFill>
            <a:schemeClr val="tx1"/>
          </a:solidFill>
          <a:latin typeface="Calibri" pitchFamily="34" charset="0"/>
        </a:defRPr>
      </a:lvl3pPr>
      <a:lvl4pPr algn="ctr" rtl="0" fontAlgn="base">
        <a:spcBef>
          <a:spcPct val="0"/>
        </a:spcBef>
        <a:spcAft>
          <a:spcPct val="0"/>
        </a:spcAft>
        <a:defRPr sz="4400">
          <a:solidFill>
            <a:schemeClr val="tx1"/>
          </a:solidFill>
          <a:latin typeface="Calibri" pitchFamily="34" charset="0"/>
        </a:defRPr>
      </a:lvl4pPr>
      <a:lvl5pPr algn="ctr" rtl="0" fontAlgn="base">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fontAlgn="base">
        <a:spcBef>
          <a:spcPct val="20000"/>
        </a:spcBef>
        <a:spcAft>
          <a:spcPct val="0"/>
        </a:spcAft>
        <a:buFont typeface="Arial" pitchFamily="34" charset="0"/>
        <a:buChar char="•"/>
        <a:defRPr sz="2800" kern="1200" baseline="0">
          <a:solidFill>
            <a:schemeClr val="bg1"/>
          </a:solidFill>
          <a:latin typeface="Arial" pitchFamily="34" charset="0"/>
          <a:ea typeface="+mn-ea"/>
          <a:cs typeface="Arial" pitchFamily="34" charset="0"/>
        </a:defRPr>
      </a:lvl1pPr>
      <a:lvl2pPr marL="742950" indent="-285750" algn="l" rtl="0" fontAlgn="base">
        <a:spcBef>
          <a:spcPct val="20000"/>
        </a:spcBef>
        <a:spcAft>
          <a:spcPct val="0"/>
        </a:spcAft>
        <a:buFont typeface="Arial" pitchFamily="34" charset="0"/>
        <a:buChar char="–"/>
        <a:defRPr sz="2800" kern="1200" baseline="0">
          <a:solidFill>
            <a:schemeClr val="bg1"/>
          </a:solidFill>
          <a:latin typeface="Arial" pitchFamily="34" charset="0"/>
          <a:ea typeface="+mn-ea"/>
          <a:cs typeface="Arial" pitchFamily="34" charset="0"/>
        </a:defRPr>
      </a:lvl2pPr>
      <a:lvl3pPr marL="1143000" indent="-228600" algn="l" rtl="0" fontAlgn="base">
        <a:spcBef>
          <a:spcPct val="20000"/>
        </a:spcBef>
        <a:spcAft>
          <a:spcPct val="0"/>
        </a:spcAft>
        <a:buFont typeface="Arial" pitchFamily="34" charset="0"/>
        <a:buChar char="•"/>
        <a:defRPr sz="2800" kern="1200" baseline="0">
          <a:solidFill>
            <a:schemeClr val="bg1"/>
          </a:solidFill>
          <a:latin typeface="Arial" pitchFamily="34" charset="0"/>
          <a:ea typeface="+mn-ea"/>
          <a:cs typeface="Arial" pitchFamily="34" charset="0"/>
        </a:defRPr>
      </a:lvl3pPr>
      <a:lvl4pPr marL="1600200" indent="-228600" algn="l" rtl="0" fontAlgn="base">
        <a:spcBef>
          <a:spcPct val="20000"/>
        </a:spcBef>
        <a:spcAft>
          <a:spcPct val="0"/>
        </a:spcAft>
        <a:buFont typeface="Arial" pitchFamily="34" charset="0"/>
        <a:buChar char="–"/>
        <a:defRPr sz="2800" kern="1200" baseline="0">
          <a:solidFill>
            <a:schemeClr val="bg1"/>
          </a:solidFill>
          <a:latin typeface="Arial" pitchFamily="34" charset="0"/>
          <a:ea typeface="+mn-ea"/>
          <a:cs typeface="Arial" pitchFamily="34" charset="0"/>
        </a:defRPr>
      </a:lvl4pPr>
      <a:lvl5pPr marL="2057400" indent="-228600" algn="l" rtl="0" fontAlgn="base">
        <a:spcBef>
          <a:spcPct val="20000"/>
        </a:spcBef>
        <a:spcAft>
          <a:spcPct val="0"/>
        </a:spcAft>
        <a:buFont typeface="Arial" pitchFamily="34" charset="0"/>
        <a:buChar char="»"/>
        <a:defRPr sz="2800" kern="1200" baseline="0">
          <a:solidFill>
            <a:schemeClr val="bg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7" name="Picture 3" descr="brand_ppt_back.jp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229725" cy="692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38" name="Rectangle 6"/>
          <p:cNvSpPr>
            <a:spLocks noChangeArrowheads="1"/>
          </p:cNvSpPr>
          <p:nvPr/>
        </p:nvSpPr>
        <p:spPr bwMode="auto">
          <a:xfrm>
            <a:off x="404813" y="1625600"/>
            <a:ext cx="725487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3000" b="1" dirty="0">
                <a:solidFill>
                  <a:schemeClr val="bg1"/>
                </a:solidFill>
              </a:rPr>
              <a:t>Pattern Classification of Stock Price Moving</a:t>
            </a:r>
            <a:endParaRPr lang="en-US" sz="3000" dirty="0">
              <a:solidFill>
                <a:schemeClr val="bg1"/>
              </a:solidFill>
            </a:endParaRPr>
          </a:p>
        </p:txBody>
      </p:sp>
      <p:sp>
        <p:nvSpPr>
          <p:cNvPr id="14339" name="Rectangle 7"/>
          <p:cNvSpPr>
            <a:spLocks noChangeArrowheads="1"/>
          </p:cNvSpPr>
          <p:nvPr/>
        </p:nvSpPr>
        <p:spPr bwMode="auto">
          <a:xfrm>
            <a:off x="404813" y="4295775"/>
            <a:ext cx="8487667"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indent="0">
              <a:buNone/>
            </a:pPr>
            <a:r>
              <a:rPr lang="en-US" sz="2400" dirty="0">
                <a:solidFill>
                  <a:schemeClr val="bg1"/>
                </a:solidFill>
              </a:rPr>
              <a:t>MSc Data Science, The University of Manchester, 2026</a:t>
            </a:r>
          </a:p>
          <a:p>
            <a:pPr marL="0" indent="0">
              <a:buNone/>
            </a:pPr>
            <a:r>
              <a:rPr lang="en-US" sz="2400" dirty="0">
                <a:solidFill>
                  <a:schemeClr val="bg1"/>
                </a:solidFill>
              </a:rPr>
              <a:t>Student ID : 14261808</a:t>
            </a:r>
          </a:p>
          <a:p>
            <a:pPr marL="0" indent="0">
              <a:buNone/>
            </a:pPr>
            <a:r>
              <a:rPr lang="en-US" sz="2400" dirty="0">
                <a:solidFill>
                  <a:schemeClr val="bg1"/>
                </a:solidFill>
              </a:rPr>
              <a:t>Name: Divyalakshmi Rama</a:t>
            </a:r>
          </a:p>
        </p:txBody>
      </p:sp>
      <p:cxnSp>
        <p:nvCxnSpPr>
          <p:cNvPr id="10" name="Straight Connector 9"/>
          <p:cNvCxnSpPr>
            <a:cxnSpLocks noChangeShapeType="1"/>
          </p:cNvCxnSpPr>
          <p:nvPr/>
        </p:nvCxnSpPr>
        <p:spPr bwMode="auto">
          <a:xfrm>
            <a:off x="517525" y="2809875"/>
            <a:ext cx="7013575" cy="0"/>
          </a:xfrm>
          <a:prstGeom prst="line">
            <a:avLst/>
          </a:prstGeom>
          <a:noFill/>
          <a:ln w="25400">
            <a:solidFill>
              <a:schemeClr val="bg1"/>
            </a:solidFill>
            <a:prstDash val="dot"/>
            <a:round/>
            <a:headEnd/>
            <a:tailEnd/>
          </a:ln>
          <a:effectLst>
            <a:outerShdw blurRad="63500" dist="20000" dir="5400000" rotWithShape="0">
              <a:srgbClr val="000000">
                <a:alpha val="37999"/>
              </a:srgbClr>
            </a:outerShdw>
          </a:effectLst>
          <a:extLst>
            <a:ext uri="{909E8E84-426E-40DD-AFC4-6F175D3DCCD1}">
              <a14:hiddenFill xmlns:a14="http://schemas.microsoft.com/office/drawing/2010/main">
                <a:noFill/>
              </a14:hiddenFill>
            </a:ext>
          </a:extLst>
        </p:spPr>
      </p:cxnSp>
      <p:pic>
        <p:nvPicPr>
          <p:cNvPr id="14341" name="Picture 1" descr="TAB_allwhite.eps"/>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22288" y="509588"/>
            <a:ext cx="1663700" cy="71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84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9552" y="1052736"/>
            <a:ext cx="8846640" cy="1080120"/>
          </a:xfrm>
        </p:spPr>
        <p:txBody>
          <a:bodyPr/>
          <a:lstStyle/>
          <a:p>
            <a:r>
              <a:rPr lang="en-IN" sz="2400" dirty="0"/>
              <a:t>Can we find hidden groups in noisy stock prices?</a:t>
            </a:r>
            <a:endParaRPr lang="en-GB" sz="2800" dirty="0">
              <a:solidFill>
                <a:schemeClr val="bg1">
                  <a:lumMod val="95000"/>
                </a:schemeClr>
              </a:solidFill>
            </a:endParaRPr>
          </a:p>
        </p:txBody>
      </p:sp>
      <p:pic>
        <p:nvPicPr>
          <p:cNvPr id="11" name="Picture 6" descr="438,000+ Stock Market Data Stock Photos and Royalty-Free Pictures - iStock">
            <a:extLst>
              <a:ext uri="{FF2B5EF4-FFF2-40B4-BE49-F238E27FC236}">
                <a16:creationId xmlns:a16="http://schemas.microsoft.com/office/drawing/2014/main" id="{563488FB-A671-2A16-2F4F-B66040AF7D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92080" y="2132856"/>
            <a:ext cx="3703966" cy="351112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3B78220D-87EB-AFF0-EF82-0E5F4B308F7C}"/>
              </a:ext>
            </a:extLst>
          </p:cNvPr>
          <p:cNvSpPr txBox="1"/>
          <p:nvPr/>
        </p:nvSpPr>
        <p:spPr>
          <a:xfrm>
            <a:off x="591016" y="2708920"/>
            <a:ext cx="4608512" cy="2800767"/>
          </a:xfrm>
          <a:prstGeom prst="rect">
            <a:avLst/>
          </a:prstGeom>
          <a:noFill/>
        </p:spPr>
        <p:txBody>
          <a:bodyPr wrap="square">
            <a:spAutoFit/>
          </a:bodyPr>
          <a:lstStyle/>
          <a:p>
            <a:r>
              <a:rPr lang="en-US" sz="2000" b="1" dirty="0">
                <a:solidFill>
                  <a:schemeClr val="bg1">
                    <a:lumMod val="95000"/>
                  </a:schemeClr>
                </a:solidFill>
              </a:rPr>
              <a:t>The Problem : </a:t>
            </a:r>
            <a:r>
              <a:rPr lang="en-US" sz="2000" dirty="0">
                <a:solidFill>
                  <a:schemeClr val="bg1">
                    <a:lumMod val="95000"/>
                  </a:schemeClr>
                </a:solidFill>
              </a:rPr>
              <a:t>Stock prices are noisy time series with no predefined labels, so this study compares three unsupervised clustering algorithms to identify stocks that move in similar ways and assess the meaningfulness and stability of the resulting clusters.</a:t>
            </a:r>
          </a:p>
          <a:p>
            <a:endParaRPr lang="en-US" dirty="0">
              <a:solidFill>
                <a:schemeClr val="bg1">
                  <a:lumMod val="95000"/>
                </a:schemeClr>
              </a:solidFill>
            </a:endParaRPr>
          </a:p>
          <a:p>
            <a:endParaRPr lang="en-IN" dirty="0"/>
          </a:p>
        </p:txBody>
      </p:sp>
    </p:spTree>
    <p:extLst>
      <p:ext uri="{BB962C8B-B14F-4D97-AF65-F5344CB8AC3E}">
        <p14:creationId xmlns:p14="http://schemas.microsoft.com/office/powerpoint/2010/main" val="15903021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750B367-F3FF-23E5-BF75-77C320509F29}"/>
              </a:ext>
            </a:extLst>
          </p:cNvPr>
          <p:cNvSpPr txBox="1"/>
          <p:nvPr/>
        </p:nvSpPr>
        <p:spPr>
          <a:xfrm>
            <a:off x="467544" y="1340768"/>
            <a:ext cx="6945465" cy="523220"/>
          </a:xfrm>
          <a:prstGeom prst="rect">
            <a:avLst/>
          </a:prstGeom>
          <a:noFill/>
        </p:spPr>
        <p:txBody>
          <a:bodyPr wrap="square">
            <a:spAutoFit/>
          </a:bodyPr>
          <a:lstStyle/>
          <a:p>
            <a:r>
              <a:rPr lang="en-GB" sz="2800" b="1" dirty="0">
                <a:solidFill>
                  <a:schemeClr val="bg1"/>
                </a:solidFill>
              </a:rPr>
              <a:t>Motivation:</a:t>
            </a:r>
            <a:endParaRPr lang="en-IN" b="1" dirty="0">
              <a:solidFill>
                <a:schemeClr val="bg1"/>
              </a:solidFill>
            </a:endParaRPr>
          </a:p>
        </p:txBody>
      </p:sp>
      <p:sp>
        <p:nvSpPr>
          <p:cNvPr id="4" name="TextBox 3">
            <a:extLst>
              <a:ext uri="{FF2B5EF4-FFF2-40B4-BE49-F238E27FC236}">
                <a16:creationId xmlns:a16="http://schemas.microsoft.com/office/drawing/2014/main" id="{AC77BCB0-2D16-45F1-1382-924E603973A8}"/>
              </a:ext>
            </a:extLst>
          </p:cNvPr>
          <p:cNvSpPr txBox="1"/>
          <p:nvPr/>
        </p:nvSpPr>
        <p:spPr>
          <a:xfrm>
            <a:off x="467544" y="3040073"/>
            <a:ext cx="8676456" cy="3416320"/>
          </a:xfrm>
          <a:prstGeom prst="rect">
            <a:avLst/>
          </a:prstGeom>
          <a:noFill/>
        </p:spPr>
        <p:txBody>
          <a:bodyPr wrap="square">
            <a:spAutoFit/>
          </a:bodyPr>
          <a:lstStyle/>
          <a:p>
            <a:pPr lvl="0"/>
            <a:r>
              <a:rPr lang="en-IN" b="1" dirty="0">
                <a:solidFill>
                  <a:schemeClr val="bg1"/>
                </a:solidFill>
              </a:rPr>
              <a:t>Stock Price Complexity:</a:t>
            </a:r>
            <a:r>
              <a:rPr lang="en-IN" dirty="0">
                <a:solidFill>
                  <a:schemeClr val="bg1"/>
                </a:solidFill>
              </a:rPr>
              <a:t> Volatile and noisy prices make patterns difficult to identify.</a:t>
            </a:r>
          </a:p>
          <a:p>
            <a:pPr lvl="0"/>
            <a:endParaRPr lang="en-IN" dirty="0">
              <a:solidFill>
                <a:schemeClr val="bg1"/>
              </a:solidFill>
            </a:endParaRPr>
          </a:p>
          <a:p>
            <a:pPr lvl="0"/>
            <a:r>
              <a:rPr lang="en-IN" b="1" dirty="0">
                <a:solidFill>
                  <a:schemeClr val="bg1"/>
                </a:solidFill>
              </a:rPr>
              <a:t>Classification Uncertainty:</a:t>
            </a:r>
            <a:r>
              <a:rPr lang="en-IN" dirty="0">
                <a:solidFill>
                  <a:schemeClr val="bg1"/>
                </a:solidFill>
              </a:rPr>
              <a:t> It is unclear whether clusters represent natural stock groups.</a:t>
            </a:r>
          </a:p>
          <a:p>
            <a:pPr lvl="0"/>
            <a:endParaRPr lang="en-IN" dirty="0">
              <a:solidFill>
                <a:schemeClr val="bg1"/>
              </a:solidFill>
            </a:endParaRPr>
          </a:p>
          <a:p>
            <a:pPr lvl="0"/>
            <a:r>
              <a:rPr lang="en-IN" b="1" dirty="0">
                <a:solidFill>
                  <a:schemeClr val="bg1"/>
                </a:solidFill>
              </a:rPr>
              <a:t>Research Gaps:</a:t>
            </a:r>
            <a:r>
              <a:rPr lang="en-IN" dirty="0">
                <a:solidFill>
                  <a:schemeClr val="bg1"/>
                </a:solidFill>
              </a:rPr>
              <a:t> Cluster quality, stability, and method comparisons remain challenging.</a:t>
            </a:r>
          </a:p>
          <a:p>
            <a:pPr lvl="0"/>
            <a:endParaRPr lang="en-IN" dirty="0">
              <a:solidFill>
                <a:schemeClr val="bg1"/>
              </a:solidFill>
            </a:endParaRPr>
          </a:p>
          <a:p>
            <a:pPr lvl="0"/>
            <a:r>
              <a:rPr lang="en-IN" b="1" dirty="0">
                <a:solidFill>
                  <a:schemeClr val="bg1"/>
                </a:solidFill>
              </a:rPr>
              <a:t>Practical Applications:</a:t>
            </a:r>
            <a:r>
              <a:rPr lang="en-IN" dirty="0">
                <a:solidFill>
                  <a:schemeClr val="bg1"/>
                </a:solidFill>
              </a:rPr>
              <a:t> Reliable patterns could support portfolio construction and pairs trading.</a:t>
            </a:r>
          </a:p>
          <a:p>
            <a:pPr>
              <a:buNone/>
            </a:pPr>
            <a:endParaRPr lang="en-IN" dirty="0"/>
          </a:p>
        </p:txBody>
      </p:sp>
      <p:sp>
        <p:nvSpPr>
          <p:cNvPr id="9" name="TextBox 8">
            <a:extLst>
              <a:ext uri="{FF2B5EF4-FFF2-40B4-BE49-F238E27FC236}">
                <a16:creationId xmlns:a16="http://schemas.microsoft.com/office/drawing/2014/main" id="{08AB3BE7-6532-3EF8-40D5-A67FC020DD97}"/>
              </a:ext>
            </a:extLst>
          </p:cNvPr>
          <p:cNvSpPr txBox="1"/>
          <p:nvPr/>
        </p:nvSpPr>
        <p:spPr>
          <a:xfrm>
            <a:off x="467544" y="1988840"/>
            <a:ext cx="8385625" cy="923330"/>
          </a:xfrm>
          <a:prstGeom prst="rect">
            <a:avLst/>
          </a:prstGeom>
          <a:noFill/>
        </p:spPr>
        <p:txBody>
          <a:bodyPr wrap="square">
            <a:spAutoFit/>
          </a:bodyPr>
          <a:lstStyle/>
          <a:p>
            <a:r>
              <a:rPr lang="en-IN" b="1" dirty="0">
                <a:solidFill>
                  <a:schemeClr val="bg1"/>
                </a:solidFill>
              </a:rPr>
              <a:t>The main motivation of the study is to investigate whether machine learning can identify meaningful groups of stocks based on their historical price movement patterns.</a:t>
            </a:r>
          </a:p>
        </p:txBody>
      </p:sp>
    </p:spTree>
    <p:extLst>
      <p:ext uri="{BB962C8B-B14F-4D97-AF65-F5344CB8AC3E}">
        <p14:creationId xmlns:p14="http://schemas.microsoft.com/office/powerpoint/2010/main" val="2968368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C00AA-97FF-1962-F1F4-A9D527926338}"/>
              </a:ext>
            </a:extLst>
          </p:cNvPr>
          <p:cNvSpPr>
            <a:spLocks noGrp="1"/>
          </p:cNvSpPr>
          <p:nvPr>
            <p:ph type="title"/>
          </p:nvPr>
        </p:nvSpPr>
        <p:spPr>
          <a:xfrm>
            <a:off x="413683" y="1273324"/>
            <a:ext cx="9062664" cy="1143000"/>
          </a:xfrm>
        </p:spPr>
        <p:txBody>
          <a:bodyPr/>
          <a:lstStyle/>
          <a:p>
            <a:r>
              <a:rPr lang="en-IN" sz="2800" dirty="0"/>
              <a:t>To study this, we apply three clustering algorithms to the FTSE data.</a:t>
            </a:r>
          </a:p>
        </p:txBody>
      </p:sp>
      <p:sp>
        <p:nvSpPr>
          <p:cNvPr id="3" name="Content Placeholder 2">
            <a:extLst>
              <a:ext uri="{FF2B5EF4-FFF2-40B4-BE49-F238E27FC236}">
                <a16:creationId xmlns:a16="http://schemas.microsoft.com/office/drawing/2014/main" id="{68B1397B-9936-9ACB-E640-CEDE52919C4A}"/>
              </a:ext>
            </a:extLst>
          </p:cNvPr>
          <p:cNvSpPr>
            <a:spLocks noGrp="1"/>
          </p:cNvSpPr>
          <p:nvPr>
            <p:ph idx="1"/>
          </p:nvPr>
        </p:nvSpPr>
        <p:spPr>
          <a:xfrm>
            <a:off x="413683" y="2636912"/>
            <a:ext cx="3959279" cy="1224136"/>
          </a:xfrm>
        </p:spPr>
        <p:txBody>
          <a:bodyPr/>
          <a:lstStyle/>
          <a:p>
            <a:pPr lvl="0"/>
            <a:r>
              <a:rPr lang="en-IN" sz="2400" dirty="0"/>
              <a:t>K-Means Clustering</a:t>
            </a:r>
          </a:p>
          <a:p>
            <a:pPr lvl="0"/>
            <a:r>
              <a:rPr lang="en-IN" sz="2400" dirty="0"/>
              <a:t>K-Medoids Clustering with Dynamic Time Warping</a:t>
            </a:r>
          </a:p>
          <a:p>
            <a:pPr lvl="0"/>
            <a:r>
              <a:rPr lang="en-IN" sz="2400" dirty="0"/>
              <a:t>Gaussian Mixture Model with Expectation-Maximisation</a:t>
            </a:r>
          </a:p>
          <a:p>
            <a:pPr marL="0" indent="0">
              <a:buNone/>
            </a:pPr>
            <a:endParaRPr lang="en-IN" sz="1600" i="1" dirty="0"/>
          </a:p>
        </p:txBody>
      </p:sp>
      <p:graphicFrame>
        <p:nvGraphicFramePr>
          <p:cNvPr id="7" name="Table 6">
            <a:extLst>
              <a:ext uri="{FF2B5EF4-FFF2-40B4-BE49-F238E27FC236}">
                <a16:creationId xmlns:a16="http://schemas.microsoft.com/office/drawing/2014/main" id="{2ACA8727-16D5-CE33-2E1B-9A62BB544817}"/>
              </a:ext>
            </a:extLst>
          </p:cNvPr>
          <p:cNvGraphicFramePr>
            <a:graphicFrameLocks noGrp="1"/>
          </p:cNvGraphicFramePr>
          <p:nvPr>
            <p:extLst>
              <p:ext uri="{D42A27DB-BD31-4B8C-83A1-F6EECF244321}">
                <p14:modId xmlns:p14="http://schemas.microsoft.com/office/powerpoint/2010/main" val="1485974679"/>
              </p:ext>
            </p:extLst>
          </p:nvPr>
        </p:nvGraphicFramePr>
        <p:xfrm>
          <a:off x="5004048" y="3129528"/>
          <a:ext cx="3668239" cy="2027664"/>
        </p:xfrm>
        <a:graphic>
          <a:graphicData uri="http://schemas.openxmlformats.org/drawingml/2006/table">
            <a:tbl>
              <a:tblPr>
                <a:tableStyleId>{00A15C55-8517-42AA-B614-E9B94910E393}</a:tableStyleId>
              </a:tblPr>
              <a:tblGrid>
                <a:gridCol w="1219967">
                  <a:extLst>
                    <a:ext uri="{9D8B030D-6E8A-4147-A177-3AD203B41FA5}">
                      <a16:colId xmlns:a16="http://schemas.microsoft.com/office/drawing/2014/main" val="3061890258"/>
                    </a:ext>
                  </a:extLst>
                </a:gridCol>
                <a:gridCol w="1224136">
                  <a:extLst>
                    <a:ext uri="{9D8B030D-6E8A-4147-A177-3AD203B41FA5}">
                      <a16:colId xmlns:a16="http://schemas.microsoft.com/office/drawing/2014/main" val="3459287382"/>
                    </a:ext>
                  </a:extLst>
                </a:gridCol>
                <a:gridCol w="1224136">
                  <a:extLst>
                    <a:ext uri="{9D8B030D-6E8A-4147-A177-3AD203B41FA5}">
                      <a16:colId xmlns:a16="http://schemas.microsoft.com/office/drawing/2014/main" val="3609285168"/>
                    </a:ext>
                  </a:extLst>
                </a:gridCol>
              </a:tblGrid>
              <a:tr h="506916">
                <a:tc>
                  <a:txBody>
                    <a:bodyPr/>
                    <a:lstStyle/>
                    <a:p>
                      <a:pPr>
                        <a:buNone/>
                      </a:pPr>
                      <a:r>
                        <a:rPr lang="en-IN" dirty="0"/>
                        <a:t>Period</a:t>
                      </a:r>
                    </a:p>
                  </a:txBody>
                  <a:tcPr anchor="ctr"/>
                </a:tc>
                <a:tc>
                  <a:txBody>
                    <a:bodyPr/>
                    <a:lstStyle/>
                    <a:p>
                      <a:pPr>
                        <a:buNone/>
                      </a:pPr>
                      <a:r>
                        <a:rPr lang="en-IN"/>
                        <a:t>Stocks</a:t>
                      </a:r>
                    </a:p>
                  </a:txBody>
                  <a:tcPr anchor="ctr"/>
                </a:tc>
                <a:tc>
                  <a:txBody>
                    <a:bodyPr/>
                    <a:lstStyle/>
                    <a:p>
                      <a:pPr>
                        <a:buNone/>
                      </a:pPr>
                      <a:r>
                        <a:rPr lang="en-IN"/>
                        <a:t>Days</a:t>
                      </a:r>
                    </a:p>
                  </a:txBody>
                  <a:tcPr anchor="ctr"/>
                </a:tc>
                <a:extLst>
                  <a:ext uri="{0D108BD9-81ED-4DB2-BD59-A6C34878D82A}">
                    <a16:rowId xmlns:a16="http://schemas.microsoft.com/office/drawing/2014/main" val="1368524552"/>
                  </a:ext>
                </a:extLst>
              </a:tr>
              <a:tr h="506916">
                <a:tc>
                  <a:txBody>
                    <a:bodyPr/>
                    <a:lstStyle/>
                    <a:p>
                      <a:pPr>
                        <a:buNone/>
                      </a:pPr>
                      <a:r>
                        <a:rPr lang="en-IN" dirty="0"/>
                        <a:t>11 years</a:t>
                      </a:r>
                    </a:p>
                  </a:txBody>
                  <a:tcPr anchor="ctr"/>
                </a:tc>
                <a:tc>
                  <a:txBody>
                    <a:bodyPr/>
                    <a:lstStyle/>
                    <a:p>
                      <a:pPr>
                        <a:buNone/>
                      </a:pPr>
                      <a:r>
                        <a:rPr lang="en-IN"/>
                        <a:t>103</a:t>
                      </a:r>
                    </a:p>
                  </a:txBody>
                  <a:tcPr anchor="ctr"/>
                </a:tc>
                <a:tc>
                  <a:txBody>
                    <a:bodyPr/>
                    <a:lstStyle/>
                    <a:p>
                      <a:pPr>
                        <a:buNone/>
                      </a:pPr>
                      <a:r>
                        <a:rPr lang="en-IN"/>
                        <a:t>2,779</a:t>
                      </a:r>
                    </a:p>
                  </a:txBody>
                  <a:tcPr anchor="ctr"/>
                </a:tc>
                <a:extLst>
                  <a:ext uri="{0D108BD9-81ED-4DB2-BD59-A6C34878D82A}">
                    <a16:rowId xmlns:a16="http://schemas.microsoft.com/office/drawing/2014/main" val="3279836652"/>
                  </a:ext>
                </a:extLst>
              </a:tr>
              <a:tr h="506916">
                <a:tc>
                  <a:txBody>
                    <a:bodyPr/>
                    <a:lstStyle/>
                    <a:p>
                      <a:pPr>
                        <a:buNone/>
                      </a:pPr>
                      <a:r>
                        <a:rPr lang="en-IN"/>
                        <a:t>4.5 years</a:t>
                      </a:r>
                    </a:p>
                  </a:txBody>
                  <a:tcPr anchor="ctr"/>
                </a:tc>
                <a:tc>
                  <a:txBody>
                    <a:bodyPr/>
                    <a:lstStyle/>
                    <a:p>
                      <a:pPr>
                        <a:buNone/>
                      </a:pPr>
                      <a:r>
                        <a:rPr lang="en-IN"/>
                        <a:t>241</a:t>
                      </a:r>
                    </a:p>
                  </a:txBody>
                  <a:tcPr anchor="ctr"/>
                </a:tc>
                <a:tc>
                  <a:txBody>
                    <a:bodyPr/>
                    <a:lstStyle/>
                    <a:p>
                      <a:pPr>
                        <a:buNone/>
                      </a:pPr>
                      <a:r>
                        <a:rPr lang="en-IN" dirty="0"/>
                        <a:t>1,153</a:t>
                      </a:r>
                    </a:p>
                  </a:txBody>
                  <a:tcPr anchor="ctr"/>
                </a:tc>
                <a:extLst>
                  <a:ext uri="{0D108BD9-81ED-4DB2-BD59-A6C34878D82A}">
                    <a16:rowId xmlns:a16="http://schemas.microsoft.com/office/drawing/2014/main" val="1043211382"/>
                  </a:ext>
                </a:extLst>
              </a:tr>
              <a:tr h="506916">
                <a:tc>
                  <a:txBody>
                    <a:bodyPr/>
                    <a:lstStyle/>
                    <a:p>
                      <a:pPr>
                        <a:buNone/>
                      </a:pPr>
                      <a:r>
                        <a:rPr lang="en-IN"/>
                        <a:t>1 year</a:t>
                      </a:r>
                    </a:p>
                  </a:txBody>
                  <a:tcPr anchor="ctr"/>
                </a:tc>
                <a:tc>
                  <a:txBody>
                    <a:bodyPr/>
                    <a:lstStyle/>
                    <a:p>
                      <a:pPr>
                        <a:buNone/>
                      </a:pPr>
                      <a:r>
                        <a:rPr lang="en-IN"/>
                        <a:t>248</a:t>
                      </a:r>
                    </a:p>
                  </a:txBody>
                  <a:tcPr anchor="ctr"/>
                </a:tc>
                <a:tc>
                  <a:txBody>
                    <a:bodyPr/>
                    <a:lstStyle/>
                    <a:p>
                      <a:pPr>
                        <a:buNone/>
                      </a:pPr>
                      <a:r>
                        <a:rPr lang="en-IN" dirty="0"/>
                        <a:t>273</a:t>
                      </a:r>
                    </a:p>
                  </a:txBody>
                  <a:tcPr anchor="ctr"/>
                </a:tc>
                <a:extLst>
                  <a:ext uri="{0D108BD9-81ED-4DB2-BD59-A6C34878D82A}">
                    <a16:rowId xmlns:a16="http://schemas.microsoft.com/office/drawing/2014/main" val="1515745889"/>
                  </a:ext>
                </a:extLst>
              </a:tr>
            </a:tbl>
          </a:graphicData>
        </a:graphic>
      </p:graphicFrame>
      <p:sp>
        <p:nvSpPr>
          <p:cNvPr id="11" name="TextBox 10">
            <a:extLst>
              <a:ext uri="{FF2B5EF4-FFF2-40B4-BE49-F238E27FC236}">
                <a16:creationId xmlns:a16="http://schemas.microsoft.com/office/drawing/2014/main" id="{8BA1F7AB-07F1-2D94-77F1-8D3E9D5ACA55}"/>
              </a:ext>
            </a:extLst>
          </p:cNvPr>
          <p:cNvSpPr txBox="1"/>
          <p:nvPr/>
        </p:nvSpPr>
        <p:spPr>
          <a:xfrm>
            <a:off x="4860032" y="2486192"/>
            <a:ext cx="4104456" cy="523220"/>
          </a:xfrm>
          <a:prstGeom prst="rect">
            <a:avLst/>
          </a:prstGeom>
          <a:noFill/>
        </p:spPr>
        <p:txBody>
          <a:bodyPr wrap="square">
            <a:spAutoFit/>
          </a:bodyPr>
          <a:lstStyle/>
          <a:p>
            <a:pPr>
              <a:buNone/>
            </a:pPr>
            <a:r>
              <a:rPr lang="en-IN" sz="1400" b="1" dirty="0">
                <a:solidFill>
                  <a:schemeClr val="bg1"/>
                </a:solidFill>
              </a:rPr>
              <a:t>FTSE 100 &amp; FTSE 250 - Daily Adjusted Closing Prices, Z-score Standardised</a:t>
            </a:r>
          </a:p>
        </p:txBody>
      </p:sp>
    </p:spTree>
    <p:extLst>
      <p:ext uri="{BB962C8B-B14F-4D97-AF65-F5344CB8AC3E}">
        <p14:creationId xmlns:p14="http://schemas.microsoft.com/office/powerpoint/2010/main" val="1581412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5880" y="1268760"/>
            <a:ext cx="8738120" cy="576064"/>
          </a:xfrm>
        </p:spPr>
        <p:txBody>
          <a:bodyPr/>
          <a:lstStyle/>
          <a:p>
            <a:r>
              <a:rPr lang="en-US" sz="2800" dirty="0">
                <a:solidFill>
                  <a:schemeClr val="bg1">
                    <a:lumMod val="95000"/>
                  </a:schemeClr>
                </a:solidFill>
              </a:rPr>
              <a:t>K-Means</a:t>
            </a:r>
            <a:endParaRPr lang="en-GB" sz="2800" dirty="0">
              <a:solidFill>
                <a:schemeClr val="bg1">
                  <a:lumMod val="95000"/>
                </a:schemeClr>
              </a:solidFill>
            </a:endParaRPr>
          </a:p>
        </p:txBody>
      </p:sp>
      <p:sp>
        <p:nvSpPr>
          <p:cNvPr id="16" name="Text 2">
            <a:extLst>
              <a:ext uri="{FF2B5EF4-FFF2-40B4-BE49-F238E27FC236}">
                <a16:creationId xmlns:a16="http://schemas.microsoft.com/office/drawing/2014/main" id="{30EDB651-3D21-AD34-0AED-343B7CA9A987}"/>
              </a:ext>
            </a:extLst>
          </p:cNvPr>
          <p:cNvSpPr txBox="1"/>
          <p:nvPr/>
        </p:nvSpPr>
        <p:spPr>
          <a:xfrm>
            <a:off x="3765884" y="1902622"/>
            <a:ext cx="5364088" cy="3474720"/>
          </a:xfrm>
          <a:prstGeom prst="rect">
            <a:avLst/>
          </a:prstGeom>
          <a:noFill/>
          <a:ln/>
        </p:spPr>
        <p:txBody>
          <a:bodyPr wrap="square" lIns="0" tIns="0" rIns="0" bIns="0" rtlCol="0" anchor="t"/>
          <a:lstStyle/>
          <a:p>
            <a:pPr lvl="0"/>
            <a:r>
              <a:rPr lang="en-IN" b="1" dirty="0">
                <a:solidFill>
                  <a:schemeClr val="bg1"/>
                </a:solidFill>
              </a:rPr>
              <a:t>Reduce</a:t>
            </a:r>
            <a:r>
              <a:rPr lang="en-IN" dirty="0">
                <a:solidFill>
                  <a:schemeClr val="bg1"/>
                </a:solidFill>
              </a:rPr>
              <a:t>: Use PCA to reduce the dimensionality of price data.</a:t>
            </a:r>
          </a:p>
          <a:p>
            <a:pPr lvl="0"/>
            <a:endParaRPr lang="en-IN" dirty="0">
              <a:solidFill>
                <a:schemeClr val="bg1"/>
              </a:solidFill>
            </a:endParaRPr>
          </a:p>
          <a:p>
            <a:pPr lvl="0"/>
            <a:r>
              <a:rPr lang="en-IN" b="1" dirty="0">
                <a:solidFill>
                  <a:schemeClr val="bg1"/>
                </a:solidFill>
              </a:rPr>
              <a:t>Assign</a:t>
            </a:r>
            <a:r>
              <a:rPr lang="en-IN" dirty="0">
                <a:solidFill>
                  <a:schemeClr val="bg1"/>
                </a:solidFill>
              </a:rPr>
              <a:t>: Assign each stock to its nearest cluster centre.</a:t>
            </a:r>
          </a:p>
          <a:p>
            <a:pPr lvl="0"/>
            <a:endParaRPr lang="en-IN" dirty="0">
              <a:solidFill>
                <a:schemeClr val="bg1"/>
              </a:solidFill>
            </a:endParaRPr>
          </a:p>
          <a:p>
            <a:pPr lvl="0"/>
            <a:r>
              <a:rPr lang="en-IN" b="1" dirty="0">
                <a:solidFill>
                  <a:schemeClr val="bg1"/>
                </a:solidFill>
              </a:rPr>
              <a:t>Update</a:t>
            </a:r>
            <a:r>
              <a:rPr lang="en-IN" dirty="0">
                <a:solidFill>
                  <a:schemeClr val="bg1"/>
                </a:solidFill>
              </a:rPr>
              <a:t>: Move each centre to its cluster’s mean.</a:t>
            </a:r>
          </a:p>
          <a:p>
            <a:pPr lvl="0"/>
            <a:endParaRPr lang="en-IN" dirty="0">
              <a:solidFill>
                <a:schemeClr val="bg1"/>
              </a:solidFill>
            </a:endParaRPr>
          </a:p>
          <a:p>
            <a:pPr lvl="0"/>
            <a:r>
              <a:rPr lang="en-IN" b="1" dirty="0">
                <a:solidFill>
                  <a:schemeClr val="bg1"/>
                </a:solidFill>
              </a:rPr>
              <a:t>Repeat</a:t>
            </a:r>
            <a:r>
              <a:rPr lang="en-IN" dirty="0">
                <a:solidFill>
                  <a:schemeClr val="bg1"/>
                </a:solidFill>
              </a:rPr>
              <a:t>: Repeat assignment and updating until clusters stabilise.</a:t>
            </a:r>
          </a:p>
          <a:p>
            <a:pPr lvl="0"/>
            <a:endParaRPr lang="en-IN" dirty="0">
              <a:solidFill>
                <a:schemeClr val="bg1"/>
              </a:solidFill>
            </a:endParaRPr>
          </a:p>
          <a:p>
            <a:pPr lvl="0"/>
            <a:r>
              <a:rPr lang="en-IN" b="1" dirty="0">
                <a:solidFill>
                  <a:schemeClr val="bg1"/>
                </a:solidFill>
              </a:rPr>
              <a:t>Choose k</a:t>
            </a:r>
            <a:r>
              <a:rPr lang="en-IN" dirty="0">
                <a:solidFill>
                  <a:schemeClr val="bg1"/>
                </a:solidFill>
              </a:rPr>
              <a:t>: Test k=2 to 10 using four validity indices: Silhouette, </a:t>
            </a:r>
            <a:r>
              <a:rPr lang="en-IN" dirty="0" err="1">
                <a:solidFill>
                  <a:schemeClr val="bg1"/>
                </a:solidFill>
              </a:rPr>
              <a:t>Calinski-Harabasz</a:t>
            </a:r>
            <a:r>
              <a:rPr lang="en-IN" dirty="0">
                <a:solidFill>
                  <a:schemeClr val="bg1"/>
                </a:solidFill>
              </a:rPr>
              <a:t>, Davies-Bouldin and Dunn</a:t>
            </a:r>
            <a:r>
              <a:rPr lang="en-IN" sz="1400" dirty="0">
                <a:solidFill>
                  <a:schemeClr val="bg1"/>
                </a:solidFill>
              </a:rPr>
              <a:t>.</a:t>
            </a:r>
          </a:p>
        </p:txBody>
      </p:sp>
      <p:pic>
        <p:nvPicPr>
          <p:cNvPr id="18" name="Image 0" descr="K-Means clusters on the first two principal components">
            <a:extLst>
              <a:ext uri="{FF2B5EF4-FFF2-40B4-BE49-F238E27FC236}">
                <a16:creationId xmlns:a16="http://schemas.microsoft.com/office/drawing/2014/main" id="{CEFCFC03-2427-C8FF-B96A-4AA64158CAEA}"/>
              </a:ext>
            </a:extLst>
          </p:cNvPr>
          <p:cNvPicPr>
            <a:picLocks noChangeAspect="1"/>
          </p:cNvPicPr>
          <p:nvPr/>
        </p:nvPicPr>
        <p:blipFill>
          <a:blip r:embed="rId2"/>
          <a:stretch>
            <a:fillRect/>
          </a:stretch>
        </p:blipFill>
        <p:spPr>
          <a:xfrm>
            <a:off x="405880" y="1994882"/>
            <a:ext cx="3086000" cy="3041626"/>
          </a:xfrm>
          <a:prstGeom prst="rect">
            <a:avLst/>
          </a:prstGeom>
        </p:spPr>
      </p:pic>
      <p:sp>
        <p:nvSpPr>
          <p:cNvPr id="22" name="TextBox 21">
            <a:extLst>
              <a:ext uri="{FF2B5EF4-FFF2-40B4-BE49-F238E27FC236}">
                <a16:creationId xmlns:a16="http://schemas.microsoft.com/office/drawing/2014/main" id="{F50D3D85-052A-1F3D-3CE1-9B8AAD761EA6}"/>
              </a:ext>
            </a:extLst>
          </p:cNvPr>
          <p:cNvSpPr txBox="1"/>
          <p:nvPr/>
        </p:nvSpPr>
        <p:spPr>
          <a:xfrm>
            <a:off x="405880" y="5058423"/>
            <a:ext cx="3086000" cy="430887"/>
          </a:xfrm>
          <a:prstGeom prst="rect">
            <a:avLst/>
          </a:prstGeom>
          <a:noFill/>
        </p:spPr>
        <p:txBody>
          <a:bodyPr wrap="square">
            <a:spAutoFit/>
          </a:bodyPr>
          <a:lstStyle/>
          <a:p>
            <a:pPr marL="0" indent="0">
              <a:buNone/>
            </a:pPr>
            <a:r>
              <a:rPr lang="en-US" sz="1100" dirty="0">
                <a:solidFill>
                  <a:schemeClr val="bg1">
                    <a:lumMod val="95000"/>
                  </a:schemeClr>
                </a:solidFill>
              </a:rPr>
              <a:t>PCA view of the 241 stocks, split into two </a:t>
            </a:r>
          </a:p>
          <a:p>
            <a:pPr marL="0" indent="0">
              <a:buNone/>
            </a:pPr>
            <a:r>
              <a:rPr lang="en-US" sz="1100" dirty="0">
                <a:solidFill>
                  <a:schemeClr val="bg1">
                    <a:lumMod val="95000"/>
                  </a:schemeClr>
                </a:solidFill>
              </a:rPr>
              <a:t>K-Means groups (k = 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5CE23-45E9-E49B-43F3-1AD5CD129C91}"/>
              </a:ext>
            </a:extLst>
          </p:cNvPr>
          <p:cNvSpPr>
            <a:spLocks noGrp="1"/>
          </p:cNvSpPr>
          <p:nvPr>
            <p:ph type="title"/>
          </p:nvPr>
        </p:nvSpPr>
        <p:spPr>
          <a:xfrm>
            <a:off x="405880" y="1268760"/>
            <a:ext cx="8738120" cy="1143000"/>
          </a:xfrm>
        </p:spPr>
        <p:txBody>
          <a:bodyPr/>
          <a:lstStyle/>
          <a:p>
            <a:r>
              <a:rPr lang="en-US" sz="2800" dirty="0">
                <a:solidFill>
                  <a:schemeClr val="bg1">
                    <a:lumMod val="95000"/>
                  </a:schemeClr>
                </a:solidFill>
              </a:rPr>
              <a:t>K-Medoids with Dynamic time </a:t>
            </a:r>
            <a:r>
              <a:rPr lang="en-US" sz="2800" dirty="0" err="1">
                <a:solidFill>
                  <a:schemeClr val="bg1">
                    <a:lumMod val="95000"/>
                  </a:schemeClr>
                </a:solidFill>
              </a:rPr>
              <a:t>wraping</a:t>
            </a:r>
            <a:endParaRPr lang="en-IN" sz="2800" dirty="0">
              <a:solidFill>
                <a:schemeClr val="bg1">
                  <a:lumMod val="95000"/>
                </a:schemeClr>
              </a:solidFill>
            </a:endParaRPr>
          </a:p>
        </p:txBody>
      </p:sp>
      <p:sp>
        <p:nvSpPr>
          <p:cNvPr id="4" name="Text 0">
            <a:extLst>
              <a:ext uri="{FF2B5EF4-FFF2-40B4-BE49-F238E27FC236}">
                <a16:creationId xmlns:a16="http://schemas.microsoft.com/office/drawing/2014/main" id="{67C43D37-8AFF-BD6F-35D3-8F6BE6628F75}"/>
              </a:ext>
            </a:extLst>
          </p:cNvPr>
          <p:cNvSpPr txBox="1">
            <a:spLocks/>
          </p:cNvSpPr>
          <p:nvPr/>
        </p:nvSpPr>
        <p:spPr>
          <a:xfrm>
            <a:off x="457200" y="274320"/>
            <a:ext cx="8229600" cy="685800"/>
          </a:xfrm>
          <a:prstGeom prst="rect">
            <a:avLst/>
          </a:prstGeom>
          <a:noFill/>
          <a:ln/>
        </p:spPr>
        <p:txBody>
          <a:bodyPr wrap="square" lIns="0" tIns="0" rIns="0" bIns="0" rtlCol="0" anchor="ctr"/>
          <a:lstStyle>
            <a:lvl1pPr algn="l" rtl="0" fontAlgn="base">
              <a:spcBef>
                <a:spcPct val="0"/>
              </a:spcBef>
              <a:spcAft>
                <a:spcPct val="0"/>
              </a:spcAft>
              <a:defRPr sz="3200" b="1" kern="1200">
                <a:solidFill>
                  <a:schemeClr val="bg1"/>
                </a:solidFill>
                <a:latin typeface="Arial" pitchFamily="34" charset="0"/>
                <a:ea typeface="+mj-ea"/>
                <a:cs typeface="Arial" pitchFamily="34" charset="0"/>
              </a:defRPr>
            </a:lvl1pPr>
            <a:lvl2pPr algn="ctr" rtl="0" fontAlgn="base">
              <a:spcBef>
                <a:spcPct val="0"/>
              </a:spcBef>
              <a:spcAft>
                <a:spcPct val="0"/>
              </a:spcAft>
              <a:defRPr sz="4400">
                <a:solidFill>
                  <a:schemeClr val="tx1"/>
                </a:solidFill>
                <a:latin typeface="Calibri" pitchFamily="34" charset="0"/>
              </a:defRPr>
            </a:lvl2pPr>
            <a:lvl3pPr algn="ctr" rtl="0" fontAlgn="base">
              <a:spcBef>
                <a:spcPct val="0"/>
              </a:spcBef>
              <a:spcAft>
                <a:spcPct val="0"/>
              </a:spcAft>
              <a:defRPr sz="4400">
                <a:solidFill>
                  <a:schemeClr val="tx1"/>
                </a:solidFill>
                <a:latin typeface="Calibri" pitchFamily="34" charset="0"/>
              </a:defRPr>
            </a:lvl3pPr>
            <a:lvl4pPr algn="ctr" rtl="0" fontAlgn="base">
              <a:spcBef>
                <a:spcPct val="0"/>
              </a:spcBef>
              <a:spcAft>
                <a:spcPct val="0"/>
              </a:spcAft>
              <a:defRPr sz="4400">
                <a:solidFill>
                  <a:schemeClr val="tx1"/>
                </a:solidFill>
                <a:latin typeface="Calibri" pitchFamily="34" charset="0"/>
              </a:defRPr>
            </a:lvl4pPr>
            <a:lvl5pPr algn="ctr" rtl="0" fontAlgn="base">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endParaRPr lang="en-US" sz="2800" dirty="0"/>
          </a:p>
        </p:txBody>
      </p:sp>
      <p:pic>
        <p:nvPicPr>
          <p:cNvPr id="5" name="Picture 2" descr="Dynamic time warping - Wikipedia">
            <a:extLst>
              <a:ext uri="{FF2B5EF4-FFF2-40B4-BE49-F238E27FC236}">
                <a16:creationId xmlns:a16="http://schemas.microsoft.com/office/drawing/2014/main" id="{7562361F-39C1-3A0E-8293-6D3728CAB8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5880" y="2411759"/>
            <a:ext cx="3446040" cy="203448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A866C59D-AE45-8DF1-8455-6CB7583CDE5F}"/>
              </a:ext>
            </a:extLst>
          </p:cNvPr>
          <p:cNvSpPr txBox="1"/>
          <p:nvPr/>
        </p:nvSpPr>
        <p:spPr>
          <a:xfrm>
            <a:off x="405880" y="4581128"/>
            <a:ext cx="4310136" cy="430887"/>
          </a:xfrm>
          <a:prstGeom prst="rect">
            <a:avLst/>
          </a:prstGeom>
          <a:noFill/>
        </p:spPr>
        <p:txBody>
          <a:bodyPr wrap="square">
            <a:spAutoFit/>
          </a:bodyPr>
          <a:lstStyle/>
          <a:p>
            <a:pPr marL="0" indent="0">
              <a:buNone/>
            </a:pPr>
            <a:r>
              <a:rPr lang="en-US" sz="1100" i="1" dirty="0">
                <a:solidFill>
                  <a:schemeClr val="bg1">
                    <a:lumMod val="95000"/>
                  </a:schemeClr>
                </a:solidFill>
              </a:rPr>
              <a:t>DTW stretches the time axis so that similar shapes</a:t>
            </a:r>
          </a:p>
          <a:p>
            <a:pPr marL="0" indent="0">
              <a:buNone/>
            </a:pPr>
            <a:r>
              <a:rPr lang="en-US" sz="1100" i="1" dirty="0">
                <a:solidFill>
                  <a:schemeClr val="bg1">
                    <a:lumMod val="95000"/>
                  </a:schemeClr>
                </a:solidFill>
              </a:rPr>
              <a:t>still match.</a:t>
            </a:r>
            <a:endParaRPr lang="en-US" sz="1100" dirty="0">
              <a:solidFill>
                <a:schemeClr val="bg1">
                  <a:lumMod val="95000"/>
                </a:schemeClr>
              </a:solidFill>
            </a:endParaRPr>
          </a:p>
        </p:txBody>
      </p:sp>
      <p:sp>
        <p:nvSpPr>
          <p:cNvPr id="11" name="TextBox 10">
            <a:extLst>
              <a:ext uri="{FF2B5EF4-FFF2-40B4-BE49-F238E27FC236}">
                <a16:creationId xmlns:a16="http://schemas.microsoft.com/office/drawing/2014/main" id="{05D46441-270D-C5B4-F090-9358FEEFFE2A}"/>
              </a:ext>
            </a:extLst>
          </p:cNvPr>
          <p:cNvSpPr txBox="1"/>
          <p:nvPr/>
        </p:nvSpPr>
        <p:spPr>
          <a:xfrm>
            <a:off x="3995534" y="2322581"/>
            <a:ext cx="5004851" cy="3847207"/>
          </a:xfrm>
          <a:prstGeom prst="rect">
            <a:avLst/>
          </a:prstGeom>
          <a:noFill/>
        </p:spPr>
        <p:txBody>
          <a:bodyPr wrap="square">
            <a:spAutoFit/>
          </a:bodyPr>
          <a:lstStyle/>
          <a:p>
            <a:r>
              <a:rPr lang="en-IN" sz="1600" b="1" dirty="0">
                <a:solidFill>
                  <a:schemeClr val="bg1"/>
                </a:solidFill>
              </a:rPr>
              <a:t>Measure similarity</a:t>
            </a:r>
            <a:r>
              <a:rPr lang="en-IN" sz="1600" dirty="0">
                <a:solidFill>
                  <a:schemeClr val="bg1"/>
                </a:solidFill>
              </a:rPr>
              <a:t>: DTW compares stock price series, allowing time shifts to calculate pairwise distances.</a:t>
            </a:r>
          </a:p>
          <a:p>
            <a:endParaRPr lang="en-IN" sz="1600" dirty="0">
              <a:solidFill>
                <a:schemeClr val="bg1"/>
              </a:solidFill>
            </a:endParaRPr>
          </a:p>
          <a:p>
            <a:r>
              <a:rPr lang="en-IN" sz="1600" b="1" dirty="0">
                <a:solidFill>
                  <a:schemeClr val="bg1"/>
                </a:solidFill>
              </a:rPr>
              <a:t>Build</a:t>
            </a:r>
            <a:r>
              <a:rPr lang="en-IN" sz="1600" dirty="0">
                <a:solidFill>
                  <a:schemeClr val="bg1"/>
                </a:solidFill>
              </a:rPr>
              <a:t>: Select k real stocks as initial medoids, minimising total distance.</a:t>
            </a:r>
          </a:p>
          <a:p>
            <a:endParaRPr lang="en-IN" sz="1600" dirty="0">
              <a:solidFill>
                <a:schemeClr val="bg1"/>
              </a:solidFill>
            </a:endParaRPr>
          </a:p>
          <a:p>
            <a:r>
              <a:rPr lang="en-IN" sz="1600" b="1" dirty="0">
                <a:solidFill>
                  <a:schemeClr val="bg1"/>
                </a:solidFill>
              </a:rPr>
              <a:t>Assign and Swap</a:t>
            </a:r>
            <a:r>
              <a:rPr lang="en-IN" sz="1600" dirty="0">
                <a:solidFill>
                  <a:schemeClr val="bg1"/>
                </a:solidFill>
              </a:rPr>
              <a:t>: Assign each stock to its nearest medoid, then swap medoids if total distance decreases.</a:t>
            </a:r>
          </a:p>
          <a:p>
            <a:endParaRPr lang="en-IN" sz="1600" dirty="0">
              <a:solidFill>
                <a:schemeClr val="bg1"/>
              </a:solidFill>
            </a:endParaRPr>
          </a:p>
          <a:p>
            <a:r>
              <a:rPr lang="en-IN" sz="1600" b="1" dirty="0">
                <a:solidFill>
                  <a:schemeClr val="bg1"/>
                </a:solidFill>
              </a:rPr>
              <a:t>Repeat</a:t>
            </a:r>
            <a:r>
              <a:rPr lang="en-IN" sz="1600" dirty="0">
                <a:solidFill>
                  <a:schemeClr val="bg1"/>
                </a:solidFill>
              </a:rPr>
              <a:t>: Reassign and swap until no improvement is possible.</a:t>
            </a:r>
          </a:p>
          <a:p>
            <a:endParaRPr lang="en-IN" dirty="0">
              <a:solidFill>
                <a:schemeClr val="bg1"/>
              </a:solidFill>
            </a:endParaRPr>
          </a:p>
          <a:p>
            <a:endParaRPr lang="en-IN" b="1" dirty="0">
              <a:solidFill>
                <a:schemeClr val="bg1"/>
              </a:solidFill>
            </a:endParaRPr>
          </a:p>
        </p:txBody>
      </p:sp>
    </p:spTree>
    <p:extLst>
      <p:ext uri="{BB962C8B-B14F-4D97-AF65-F5344CB8AC3E}">
        <p14:creationId xmlns:p14="http://schemas.microsoft.com/office/powerpoint/2010/main" val="3296721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75335-7529-C0D7-635E-6C6C5B755E90}"/>
              </a:ext>
            </a:extLst>
          </p:cNvPr>
          <p:cNvSpPr>
            <a:spLocks noGrp="1"/>
          </p:cNvSpPr>
          <p:nvPr>
            <p:ph type="title"/>
          </p:nvPr>
        </p:nvSpPr>
        <p:spPr>
          <a:xfrm>
            <a:off x="466274" y="1219053"/>
            <a:ext cx="8918648" cy="648072"/>
          </a:xfrm>
        </p:spPr>
        <p:txBody>
          <a:bodyPr/>
          <a:lstStyle/>
          <a:p>
            <a:pPr marL="0" indent="0">
              <a:buNone/>
            </a:pPr>
            <a:r>
              <a:rPr lang="en-US" sz="2400" dirty="0">
                <a:solidFill>
                  <a:schemeClr val="bg1">
                    <a:lumMod val="95000"/>
                  </a:schemeClr>
                </a:solidFill>
              </a:rPr>
              <a:t>Gaussian mixture model with Expectation </a:t>
            </a:r>
            <a:r>
              <a:rPr lang="en-US" sz="2400" dirty="0" err="1">
                <a:solidFill>
                  <a:schemeClr val="bg1">
                    <a:lumMod val="95000"/>
                  </a:schemeClr>
                </a:solidFill>
              </a:rPr>
              <a:t>Maximisation</a:t>
            </a:r>
            <a:r>
              <a:rPr lang="en-US" sz="2400" dirty="0">
                <a:solidFill>
                  <a:schemeClr val="bg1">
                    <a:lumMod val="95000"/>
                  </a:schemeClr>
                </a:solidFill>
              </a:rPr>
              <a:t> </a:t>
            </a:r>
          </a:p>
        </p:txBody>
      </p:sp>
      <p:sp>
        <p:nvSpPr>
          <p:cNvPr id="5" name="TextBox 4">
            <a:extLst>
              <a:ext uri="{FF2B5EF4-FFF2-40B4-BE49-F238E27FC236}">
                <a16:creationId xmlns:a16="http://schemas.microsoft.com/office/drawing/2014/main" id="{EAE6F5D0-5571-6B0E-4E9D-89E87D7A16F1}"/>
              </a:ext>
            </a:extLst>
          </p:cNvPr>
          <p:cNvSpPr txBox="1"/>
          <p:nvPr/>
        </p:nvSpPr>
        <p:spPr>
          <a:xfrm>
            <a:off x="466274" y="3164681"/>
            <a:ext cx="8676456" cy="3139321"/>
          </a:xfrm>
          <a:prstGeom prst="rect">
            <a:avLst/>
          </a:prstGeom>
          <a:noFill/>
        </p:spPr>
        <p:txBody>
          <a:bodyPr wrap="square">
            <a:spAutoFit/>
          </a:bodyPr>
          <a:lstStyle/>
          <a:p>
            <a:pPr lvl="0"/>
            <a:r>
              <a:rPr lang="en-IN" sz="1600" b="1" dirty="0">
                <a:solidFill>
                  <a:schemeClr val="bg1"/>
                </a:solidFill>
              </a:rPr>
              <a:t>Start</a:t>
            </a:r>
            <a:r>
              <a:rPr lang="en-IN" sz="1600" dirty="0">
                <a:solidFill>
                  <a:schemeClr val="bg1"/>
                </a:solidFill>
              </a:rPr>
              <a:t>: Initialise centres using K-Means (20 runs).</a:t>
            </a:r>
          </a:p>
          <a:p>
            <a:pPr lvl="0"/>
            <a:endParaRPr lang="en-IN" sz="1600" dirty="0">
              <a:solidFill>
                <a:schemeClr val="bg1"/>
              </a:solidFill>
            </a:endParaRPr>
          </a:p>
          <a:p>
            <a:pPr lvl="0"/>
            <a:r>
              <a:rPr lang="en-IN" sz="1600" b="1" dirty="0">
                <a:solidFill>
                  <a:schemeClr val="bg1"/>
                </a:solidFill>
              </a:rPr>
              <a:t>E-step</a:t>
            </a:r>
            <a:r>
              <a:rPr lang="en-IN" sz="1600" dirty="0">
                <a:solidFill>
                  <a:schemeClr val="bg1"/>
                </a:solidFill>
              </a:rPr>
              <a:t>: Calculate cluster membership probabilities.</a:t>
            </a:r>
          </a:p>
          <a:p>
            <a:pPr lvl="0"/>
            <a:endParaRPr lang="en-IN" sz="1600" dirty="0">
              <a:solidFill>
                <a:schemeClr val="bg1"/>
              </a:solidFill>
            </a:endParaRPr>
          </a:p>
          <a:p>
            <a:pPr lvl="0"/>
            <a:r>
              <a:rPr lang="en-IN" sz="1600" b="1" dirty="0">
                <a:solidFill>
                  <a:schemeClr val="bg1"/>
                </a:solidFill>
              </a:rPr>
              <a:t>M-step</a:t>
            </a:r>
            <a:r>
              <a:rPr lang="en-IN" sz="1600" dirty="0">
                <a:solidFill>
                  <a:schemeClr val="bg1"/>
                </a:solidFill>
              </a:rPr>
              <a:t>: Update cluster centres, spreads and sizes.</a:t>
            </a:r>
          </a:p>
          <a:p>
            <a:pPr lvl="0"/>
            <a:endParaRPr lang="en-IN" sz="1600" dirty="0">
              <a:solidFill>
                <a:schemeClr val="bg1"/>
              </a:solidFill>
            </a:endParaRPr>
          </a:p>
          <a:p>
            <a:pPr lvl="0"/>
            <a:r>
              <a:rPr lang="en-IN" sz="1600" b="1" dirty="0">
                <a:solidFill>
                  <a:schemeClr val="bg1"/>
                </a:solidFill>
              </a:rPr>
              <a:t>Repeat: </a:t>
            </a:r>
            <a:r>
              <a:rPr lang="en-IN" sz="1600" dirty="0">
                <a:solidFill>
                  <a:schemeClr val="bg1"/>
                </a:solidFill>
              </a:rPr>
              <a:t>Alternate steps until convergence or 500 iterations.</a:t>
            </a:r>
          </a:p>
          <a:p>
            <a:pPr lvl="0"/>
            <a:endParaRPr lang="en-IN" sz="1600" dirty="0">
              <a:solidFill>
                <a:schemeClr val="bg1"/>
              </a:solidFill>
            </a:endParaRPr>
          </a:p>
          <a:p>
            <a:pPr lvl="0"/>
            <a:r>
              <a:rPr lang="en-IN" sz="1600" b="1" dirty="0">
                <a:solidFill>
                  <a:schemeClr val="bg1"/>
                </a:solidFill>
              </a:rPr>
              <a:t>Choose model</a:t>
            </a:r>
            <a:r>
              <a:rPr lang="en-IN" sz="1600" dirty="0">
                <a:solidFill>
                  <a:schemeClr val="bg1"/>
                </a:solidFill>
              </a:rPr>
              <a:t>: Select the lowest BIC across cluster numbers and covariance shapes.</a:t>
            </a:r>
          </a:p>
          <a:p>
            <a:pPr lvl="0"/>
            <a:endParaRPr lang="en-IN" sz="1600" dirty="0">
              <a:solidFill>
                <a:schemeClr val="bg1"/>
              </a:solidFill>
            </a:endParaRPr>
          </a:p>
          <a:p>
            <a:pPr lvl="0"/>
            <a:r>
              <a:rPr lang="en-IN" sz="1600" b="1" dirty="0">
                <a:solidFill>
                  <a:schemeClr val="bg1"/>
                </a:solidFill>
              </a:rPr>
              <a:t>Assign clusters</a:t>
            </a:r>
            <a:r>
              <a:rPr lang="en-IN" sz="1600" dirty="0">
                <a:solidFill>
                  <a:schemeClr val="bg1"/>
                </a:solidFill>
              </a:rPr>
              <a:t>: Choose the most probable cluster; flag probabilities below 70% as uncertain.</a:t>
            </a:r>
          </a:p>
        </p:txBody>
      </p:sp>
      <p:sp>
        <p:nvSpPr>
          <p:cNvPr id="6" name="TextBox 5">
            <a:extLst>
              <a:ext uri="{FF2B5EF4-FFF2-40B4-BE49-F238E27FC236}">
                <a16:creationId xmlns:a16="http://schemas.microsoft.com/office/drawing/2014/main" id="{3A0CDE30-3CD9-F168-D304-47C2B007F625}"/>
              </a:ext>
            </a:extLst>
          </p:cNvPr>
          <p:cNvSpPr txBox="1"/>
          <p:nvPr/>
        </p:nvSpPr>
        <p:spPr>
          <a:xfrm>
            <a:off x="466274" y="2686078"/>
            <a:ext cx="2916183" cy="400110"/>
          </a:xfrm>
          <a:prstGeom prst="rect">
            <a:avLst/>
          </a:prstGeom>
          <a:noFill/>
        </p:spPr>
        <p:txBody>
          <a:bodyPr wrap="none" rtlCol="0">
            <a:spAutoFit/>
          </a:bodyPr>
          <a:lstStyle/>
          <a:p>
            <a:pPr marL="0" indent="0">
              <a:buNone/>
            </a:pPr>
            <a:r>
              <a:rPr lang="en-US" sz="2000" b="1" dirty="0">
                <a:solidFill>
                  <a:schemeClr val="bg1">
                    <a:lumMod val="95000"/>
                  </a:schemeClr>
                </a:solidFill>
              </a:rPr>
              <a:t>How EM fits the model</a:t>
            </a:r>
            <a:endParaRPr lang="en-US" sz="2000" dirty="0">
              <a:solidFill>
                <a:schemeClr val="bg1">
                  <a:lumMod val="95000"/>
                </a:schemeClr>
              </a:solidFill>
            </a:endParaRPr>
          </a:p>
        </p:txBody>
      </p:sp>
      <p:sp>
        <p:nvSpPr>
          <p:cNvPr id="8" name="TextBox 7">
            <a:extLst>
              <a:ext uri="{FF2B5EF4-FFF2-40B4-BE49-F238E27FC236}">
                <a16:creationId xmlns:a16="http://schemas.microsoft.com/office/drawing/2014/main" id="{30C4F5A6-4E3B-BE7A-FA75-F5DECA7EE31C}"/>
              </a:ext>
            </a:extLst>
          </p:cNvPr>
          <p:cNvSpPr txBox="1"/>
          <p:nvPr/>
        </p:nvSpPr>
        <p:spPr>
          <a:xfrm>
            <a:off x="466274" y="1885859"/>
            <a:ext cx="8375847" cy="800219"/>
          </a:xfrm>
          <a:prstGeom prst="rect">
            <a:avLst/>
          </a:prstGeom>
          <a:noFill/>
        </p:spPr>
        <p:txBody>
          <a:bodyPr wrap="square">
            <a:spAutoFit/>
          </a:bodyPr>
          <a:lstStyle/>
          <a:p>
            <a:r>
              <a:rPr lang="en-IN" sz="1600" dirty="0">
                <a:solidFill>
                  <a:schemeClr val="bg1">
                    <a:lumMod val="95000"/>
                  </a:schemeClr>
                </a:solidFill>
              </a:rPr>
              <a:t>GMM groups stocks into overlapping clusters, assigning each a membership probability. EM fits the clusters to the data.</a:t>
            </a:r>
          </a:p>
          <a:p>
            <a:endParaRPr lang="en-IN" sz="1400" dirty="0">
              <a:solidFill>
                <a:schemeClr val="bg1">
                  <a:lumMod val="95000"/>
                </a:schemeClr>
              </a:solidFill>
            </a:endParaRPr>
          </a:p>
        </p:txBody>
      </p:sp>
    </p:spTree>
    <p:extLst>
      <p:ext uri="{BB962C8B-B14F-4D97-AF65-F5344CB8AC3E}">
        <p14:creationId xmlns:p14="http://schemas.microsoft.com/office/powerpoint/2010/main" val="1341808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EFCAB-C63B-07AC-20B9-CE6766BCDC40}"/>
              </a:ext>
            </a:extLst>
          </p:cNvPr>
          <p:cNvSpPr>
            <a:spLocks noGrp="1"/>
          </p:cNvSpPr>
          <p:nvPr>
            <p:ph type="title"/>
          </p:nvPr>
        </p:nvSpPr>
        <p:spPr>
          <a:xfrm>
            <a:off x="405880" y="1268760"/>
            <a:ext cx="8918648" cy="1143000"/>
          </a:xfrm>
        </p:spPr>
        <p:txBody>
          <a:bodyPr/>
          <a:lstStyle/>
          <a:p>
            <a:r>
              <a:rPr lang="en-US" sz="2800" dirty="0">
                <a:solidFill>
                  <a:schemeClr val="bg1">
                    <a:lumMod val="95000"/>
                  </a:schemeClr>
                </a:solidFill>
              </a:rPr>
              <a:t>Consensus clustering: are the groups stable?</a:t>
            </a:r>
            <a:endParaRPr lang="en-IN" sz="2800" dirty="0">
              <a:solidFill>
                <a:schemeClr val="bg1">
                  <a:lumMod val="95000"/>
                </a:schemeClr>
              </a:solidFill>
            </a:endParaRPr>
          </a:p>
        </p:txBody>
      </p:sp>
      <p:sp>
        <p:nvSpPr>
          <p:cNvPr id="5" name="TextBox 4">
            <a:extLst>
              <a:ext uri="{FF2B5EF4-FFF2-40B4-BE49-F238E27FC236}">
                <a16:creationId xmlns:a16="http://schemas.microsoft.com/office/drawing/2014/main" id="{778D8149-154C-2AC7-3237-9908201A8C5F}"/>
              </a:ext>
            </a:extLst>
          </p:cNvPr>
          <p:cNvSpPr txBox="1"/>
          <p:nvPr/>
        </p:nvSpPr>
        <p:spPr>
          <a:xfrm>
            <a:off x="427161" y="2272142"/>
            <a:ext cx="4662236" cy="3970318"/>
          </a:xfrm>
          <a:prstGeom prst="rect">
            <a:avLst/>
          </a:prstGeom>
          <a:noFill/>
        </p:spPr>
        <p:txBody>
          <a:bodyPr wrap="square">
            <a:spAutoFit/>
          </a:bodyPr>
          <a:lstStyle/>
          <a:p>
            <a:r>
              <a:rPr lang="en-IN" b="1" dirty="0">
                <a:solidFill>
                  <a:schemeClr val="bg1"/>
                </a:solidFill>
              </a:rPr>
              <a:t>What it tests: Whether clusters remain stable when data changes.</a:t>
            </a:r>
          </a:p>
          <a:p>
            <a:endParaRPr lang="en-IN" b="1" dirty="0">
              <a:solidFill>
                <a:schemeClr val="bg1"/>
              </a:solidFill>
            </a:endParaRPr>
          </a:p>
          <a:p>
            <a:pPr lvl="0"/>
            <a:r>
              <a:rPr lang="en-IN" dirty="0">
                <a:solidFill>
                  <a:schemeClr val="bg1"/>
                </a:solidFill>
              </a:rPr>
              <a:t>Subsample: Draw 100 random samples, each containing 80% of stocks.</a:t>
            </a:r>
          </a:p>
          <a:p>
            <a:pPr lvl="0"/>
            <a:endParaRPr lang="en-IN" dirty="0">
              <a:solidFill>
                <a:schemeClr val="bg1"/>
              </a:solidFill>
            </a:endParaRPr>
          </a:p>
          <a:p>
            <a:pPr lvl="0"/>
            <a:r>
              <a:rPr lang="en-IN" dirty="0">
                <a:solidFill>
                  <a:schemeClr val="bg1"/>
                </a:solidFill>
              </a:rPr>
              <a:t>Cluster: Apply the same algorithm to each sample.</a:t>
            </a:r>
          </a:p>
          <a:p>
            <a:pPr lvl="0"/>
            <a:endParaRPr lang="en-IN" dirty="0">
              <a:solidFill>
                <a:schemeClr val="bg1"/>
              </a:solidFill>
            </a:endParaRPr>
          </a:p>
          <a:p>
            <a:pPr lvl="0"/>
            <a:r>
              <a:rPr lang="en-IN" dirty="0">
                <a:solidFill>
                  <a:schemeClr val="bg1"/>
                </a:solidFill>
              </a:rPr>
              <a:t>Count: Record how often each stock pair clusters together.</a:t>
            </a:r>
          </a:p>
          <a:p>
            <a:pPr lvl="0"/>
            <a:endParaRPr lang="en-IN" dirty="0">
              <a:solidFill>
                <a:schemeClr val="bg1"/>
              </a:solidFill>
            </a:endParaRPr>
          </a:p>
          <a:p>
            <a:pPr lvl="0"/>
            <a:r>
              <a:rPr lang="en-IN" dirty="0">
                <a:solidFill>
                  <a:schemeClr val="bg1"/>
                </a:solidFill>
              </a:rPr>
              <a:t>Interpret: 1 (dark red) means always together; 0 (white) means never together.</a:t>
            </a:r>
          </a:p>
        </p:txBody>
      </p:sp>
      <p:pic>
        <p:nvPicPr>
          <p:cNvPr id="4" name="Image 1" descr="Consensus matrix at the chosen k">
            <a:extLst>
              <a:ext uri="{FF2B5EF4-FFF2-40B4-BE49-F238E27FC236}">
                <a16:creationId xmlns:a16="http://schemas.microsoft.com/office/drawing/2014/main" id="{F2ED6225-B197-DCF3-833F-485E010EF81F}"/>
              </a:ext>
            </a:extLst>
          </p:cNvPr>
          <p:cNvPicPr>
            <a:picLocks noChangeAspect="1"/>
          </p:cNvPicPr>
          <p:nvPr/>
        </p:nvPicPr>
        <p:blipFill>
          <a:blip r:embed="rId2"/>
          <a:stretch>
            <a:fillRect/>
          </a:stretch>
        </p:blipFill>
        <p:spPr>
          <a:xfrm>
            <a:off x="5110678" y="2132858"/>
            <a:ext cx="3925818" cy="3600398"/>
          </a:xfrm>
          <a:prstGeom prst="rect">
            <a:avLst/>
          </a:prstGeom>
        </p:spPr>
      </p:pic>
    </p:spTree>
    <p:extLst>
      <p:ext uri="{BB962C8B-B14F-4D97-AF65-F5344CB8AC3E}">
        <p14:creationId xmlns:p14="http://schemas.microsoft.com/office/powerpoint/2010/main" val="4018252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B5DE3-D460-82CE-E112-CEB9EE1ABA84}"/>
              </a:ext>
            </a:extLst>
          </p:cNvPr>
          <p:cNvSpPr>
            <a:spLocks noGrp="1"/>
          </p:cNvSpPr>
          <p:nvPr>
            <p:ph type="title"/>
          </p:nvPr>
        </p:nvSpPr>
        <p:spPr>
          <a:xfrm>
            <a:off x="2627784" y="2857500"/>
            <a:ext cx="5842992" cy="1143000"/>
          </a:xfrm>
        </p:spPr>
        <p:txBody>
          <a:bodyPr/>
          <a:lstStyle/>
          <a:p>
            <a:r>
              <a:rPr lang="en-IN" sz="5400" dirty="0"/>
              <a:t>RESULTS</a:t>
            </a:r>
          </a:p>
        </p:txBody>
      </p:sp>
    </p:spTree>
    <p:extLst>
      <p:ext uri="{BB962C8B-B14F-4D97-AF65-F5344CB8AC3E}">
        <p14:creationId xmlns:p14="http://schemas.microsoft.com/office/powerpoint/2010/main" val="1078568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83FCC-7D56-F799-8093-0AB6FAC645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B902FB-1F71-DF17-45DB-4946D688ECE2}"/>
              </a:ext>
            </a:extLst>
          </p:cNvPr>
          <p:cNvSpPr txBox="1"/>
          <p:nvPr/>
        </p:nvSpPr>
        <p:spPr>
          <a:xfrm>
            <a:off x="446747" y="1268760"/>
            <a:ext cx="6153377" cy="461665"/>
          </a:xfrm>
          <a:prstGeom prst="rect">
            <a:avLst/>
          </a:prstGeom>
          <a:noFill/>
        </p:spPr>
        <p:txBody>
          <a:bodyPr wrap="square">
            <a:spAutoFit/>
          </a:bodyPr>
          <a:lstStyle/>
          <a:p>
            <a:r>
              <a:rPr lang="en-US" sz="2400" b="1" dirty="0">
                <a:solidFill>
                  <a:schemeClr val="bg1">
                    <a:lumMod val="95000"/>
                  </a:schemeClr>
                </a:solidFill>
              </a:rPr>
              <a:t>K-Means finds two stable groups</a:t>
            </a:r>
            <a:endParaRPr lang="en-IN" sz="1600" dirty="0">
              <a:solidFill>
                <a:schemeClr val="bg1">
                  <a:lumMod val="95000"/>
                </a:schemeClr>
              </a:solidFill>
            </a:endParaRPr>
          </a:p>
        </p:txBody>
      </p:sp>
      <p:sp>
        <p:nvSpPr>
          <p:cNvPr id="6" name="TextBox 5">
            <a:extLst>
              <a:ext uri="{FF2B5EF4-FFF2-40B4-BE49-F238E27FC236}">
                <a16:creationId xmlns:a16="http://schemas.microsoft.com/office/drawing/2014/main" id="{A4223B6B-F1A8-3D5A-9F2B-72AB91D732CF}"/>
              </a:ext>
            </a:extLst>
          </p:cNvPr>
          <p:cNvSpPr txBox="1"/>
          <p:nvPr/>
        </p:nvSpPr>
        <p:spPr>
          <a:xfrm>
            <a:off x="467544" y="1946449"/>
            <a:ext cx="8568952" cy="338554"/>
          </a:xfrm>
          <a:prstGeom prst="rect">
            <a:avLst/>
          </a:prstGeom>
          <a:noFill/>
        </p:spPr>
        <p:txBody>
          <a:bodyPr wrap="square">
            <a:spAutoFit/>
          </a:bodyPr>
          <a:lstStyle/>
          <a:p>
            <a:pPr marL="0" indent="0">
              <a:buNone/>
            </a:pPr>
            <a:r>
              <a:rPr lang="en-US" sz="1600" b="1" dirty="0">
                <a:solidFill>
                  <a:schemeClr val="bg1">
                    <a:lumMod val="95000"/>
                  </a:schemeClr>
                </a:solidFill>
              </a:rPr>
              <a:t>All four validity indices choose k = 2. </a:t>
            </a:r>
          </a:p>
        </p:txBody>
      </p:sp>
      <p:sp>
        <p:nvSpPr>
          <p:cNvPr id="8" name="Text 1">
            <a:extLst>
              <a:ext uri="{FF2B5EF4-FFF2-40B4-BE49-F238E27FC236}">
                <a16:creationId xmlns:a16="http://schemas.microsoft.com/office/drawing/2014/main" id="{A664B1B1-F064-D8EB-8B7E-1918DB46B198}"/>
              </a:ext>
            </a:extLst>
          </p:cNvPr>
          <p:cNvSpPr txBox="1"/>
          <p:nvPr/>
        </p:nvSpPr>
        <p:spPr>
          <a:xfrm>
            <a:off x="755576" y="2422024"/>
            <a:ext cx="8229600" cy="457200"/>
          </a:xfrm>
          <a:prstGeom prst="rect">
            <a:avLst/>
          </a:prstGeom>
          <a:noFill/>
          <a:ln/>
        </p:spPr>
        <p:txBody>
          <a:bodyPr wrap="square" lIns="0" tIns="0" rIns="0" bIns="0" rtlCol="0" anchor="t"/>
          <a:lstStyle/>
          <a:p>
            <a:pPr marL="0" indent="0">
              <a:buNone/>
            </a:pPr>
            <a:endParaRPr lang="en-US" sz="1300" dirty="0"/>
          </a:p>
        </p:txBody>
      </p:sp>
      <p:pic>
        <p:nvPicPr>
          <p:cNvPr id="10" name="Image 0" descr="Validity indices for K-Means">
            <a:extLst>
              <a:ext uri="{FF2B5EF4-FFF2-40B4-BE49-F238E27FC236}">
                <a16:creationId xmlns:a16="http://schemas.microsoft.com/office/drawing/2014/main" id="{58EDD7E3-01B5-19BB-0902-5262C8ABC13F}"/>
              </a:ext>
            </a:extLst>
          </p:cNvPr>
          <p:cNvPicPr>
            <a:picLocks noChangeAspect="1"/>
          </p:cNvPicPr>
          <p:nvPr/>
        </p:nvPicPr>
        <p:blipFill>
          <a:blip r:embed="rId2"/>
          <a:stretch>
            <a:fillRect/>
          </a:stretch>
        </p:blipFill>
        <p:spPr>
          <a:xfrm>
            <a:off x="1475656" y="2501026"/>
            <a:ext cx="6552728" cy="4024317"/>
          </a:xfrm>
          <a:prstGeom prst="rect">
            <a:avLst/>
          </a:prstGeom>
        </p:spPr>
      </p:pic>
    </p:spTree>
    <p:extLst>
      <p:ext uri="{BB962C8B-B14F-4D97-AF65-F5344CB8AC3E}">
        <p14:creationId xmlns:p14="http://schemas.microsoft.com/office/powerpoint/2010/main" val="1267514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ED180-DD34-3861-D313-68D5F595855D}"/>
            </a:ext>
          </a:extLst>
        </p:cNvPr>
        <p:cNvGrpSpPr/>
        <p:nvPr/>
      </p:nvGrpSpPr>
      <p:grpSpPr>
        <a:xfrm>
          <a:off x="0" y="0"/>
          <a:ext cx="0" cy="0"/>
          <a:chOff x="0" y="0"/>
          <a:chExt cx="0" cy="0"/>
        </a:xfrm>
      </p:grpSpPr>
      <p:pic>
        <p:nvPicPr>
          <p:cNvPr id="4" name="Image 1" descr="Standardised prices in each K-Means cluster">
            <a:extLst>
              <a:ext uri="{FF2B5EF4-FFF2-40B4-BE49-F238E27FC236}">
                <a16:creationId xmlns:a16="http://schemas.microsoft.com/office/drawing/2014/main" id="{377918C6-58F0-9EE1-0217-01C823815C90}"/>
              </a:ext>
            </a:extLst>
          </p:cNvPr>
          <p:cNvPicPr>
            <a:picLocks noChangeAspect="1"/>
          </p:cNvPicPr>
          <p:nvPr/>
        </p:nvPicPr>
        <p:blipFill>
          <a:blip r:embed="rId2"/>
          <a:stretch>
            <a:fillRect/>
          </a:stretch>
        </p:blipFill>
        <p:spPr>
          <a:xfrm>
            <a:off x="539552" y="1700808"/>
            <a:ext cx="8280920" cy="3072368"/>
          </a:xfrm>
          <a:prstGeom prst="rect">
            <a:avLst/>
          </a:prstGeom>
        </p:spPr>
      </p:pic>
      <p:sp>
        <p:nvSpPr>
          <p:cNvPr id="6" name="TextBox 5">
            <a:extLst>
              <a:ext uri="{FF2B5EF4-FFF2-40B4-BE49-F238E27FC236}">
                <a16:creationId xmlns:a16="http://schemas.microsoft.com/office/drawing/2014/main" id="{BFA05895-259B-81B8-5D43-F0D4EFB271BE}"/>
              </a:ext>
            </a:extLst>
          </p:cNvPr>
          <p:cNvSpPr txBox="1"/>
          <p:nvPr/>
        </p:nvSpPr>
        <p:spPr>
          <a:xfrm>
            <a:off x="539552" y="5445224"/>
            <a:ext cx="8064896" cy="992579"/>
          </a:xfrm>
          <a:prstGeom prst="rect">
            <a:avLst/>
          </a:prstGeom>
          <a:noFill/>
        </p:spPr>
        <p:txBody>
          <a:bodyPr wrap="square">
            <a:spAutoFit/>
          </a:bodyPr>
          <a:lstStyle/>
          <a:p>
            <a:pPr marL="0" indent="0">
              <a:spcAft>
                <a:spcPts val="300"/>
              </a:spcAft>
              <a:buNone/>
            </a:pPr>
            <a:r>
              <a:rPr lang="en-US" sz="1400" b="1" dirty="0">
                <a:solidFill>
                  <a:schemeClr val="bg1">
                    <a:lumMod val="95000"/>
                  </a:schemeClr>
                </a:solidFill>
              </a:rPr>
              <a:t>Cluster 0 (rising, 130 stocks): </a:t>
            </a:r>
            <a:r>
              <a:rPr lang="en-US" sz="1400" dirty="0">
                <a:solidFill>
                  <a:schemeClr val="bg1">
                    <a:lumMod val="95000"/>
                  </a:schemeClr>
                </a:solidFill>
              </a:rPr>
              <a:t>BlackRock World Mining Trust, JPMorgan Global Growth &amp; Income, AJ Bell, </a:t>
            </a:r>
            <a:r>
              <a:rPr lang="en-US" sz="1400" dirty="0" err="1">
                <a:solidFill>
                  <a:schemeClr val="bg1">
                    <a:lumMod val="95000"/>
                  </a:schemeClr>
                </a:solidFill>
              </a:rPr>
              <a:t>HgCapital</a:t>
            </a:r>
            <a:r>
              <a:rPr lang="en-US" sz="1400" dirty="0">
                <a:solidFill>
                  <a:schemeClr val="bg1">
                    <a:lumMod val="95000"/>
                  </a:schemeClr>
                </a:solidFill>
              </a:rPr>
              <a:t> Trust, 3i Infrastructure and Rotork.</a:t>
            </a:r>
          </a:p>
          <a:p>
            <a:pPr marL="0" indent="0">
              <a:spcAft>
                <a:spcPts val="300"/>
              </a:spcAft>
              <a:buNone/>
            </a:pPr>
            <a:r>
              <a:rPr lang="en-US" sz="1400" b="1" dirty="0">
                <a:solidFill>
                  <a:schemeClr val="bg1">
                    <a:lumMod val="95000"/>
                  </a:schemeClr>
                </a:solidFill>
              </a:rPr>
              <a:t>Cluster 1 (falling, 111 stocks): </a:t>
            </a:r>
            <a:r>
              <a:rPr lang="en-US" sz="1400" dirty="0">
                <a:solidFill>
                  <a:schemeClr val="bg1">
                    <a:lumMod val="95000"/>
                  </a:schemeClr>
                </a:solidFill>
              </a:rPr>
              <a:t>Spire Healthcare, easyJet, Frasers Group, J D Wetherspoon, Greggs and Taylor Wimpey.</a:t>
            </a:r>
          </a:p>
        </p:txBody>
      </p:sp>
      <p:sp>
        <p:nvSpPr>
          <p:cNvPr id="8" name="TextBox 7">
            <a:extLst>
              <a:ext uri="{FF2B5EF4-FFF2-40B4-BE49-F238E27FC236}">
                <a16:creationId xmlns:a16="http://schemas.microsoft.com/office/drawing/2014/main" id="{8DAB267A-018E-468B-CE36-2E64EC1EF112}"/>
              </a:ext>
            </a:extLst>
          </p:cNvPr>
          <p:cNvSpPr txBox="1"/>
          <p:nvPr/>
        </p:nvSpPr>
        <p:spPr>
          <a:xfrm>
            <a:off x="2339752" y="4862978"/>
            <a:ext cx="5721329" cy="246221"/>
          </a:xfrm>
          <a:prstGeom prst="rect">
            <a:avLst/>
          </a:prstGeom>
          <a:noFill/>
        </p:spPr>
        <p:txBody>
          <a:bodyPr wrap="square">
            <a:spAutoFit/>
          </a:bodyPr>
          <a:lstStyle/>
          <a:p>
            <a:pPr marL="0" indent="0">
              <a:buNone/>
            </a:pPr>
            <a:r>
              <a:rPr lang="en-US" sz="1000" i="1" dirty="0" err="1">
                <a:solidFill>
                  <a:schemeClr val="bg1">
                    <a:lumMod val="95000"/>
                  </a:schemeClr>
                </a:solidFill>
              </a:rPr>
              <a:t>Standardised</a:t>
            </a:r>
            <a:r>
              <a:rPr lang="en-US" sz="1000" i="1" dirty="0">
                <a:solidFill>
                  <a:schemeClr val="bg1">
                    <a:lumMod val="95000"/>
                  </a:schemeClr>
                </a:solidFill>
              </a:rPr>
              <a:t> prices: Cluster 0 rises and Cluster 1 falls (the red line is the cluster mean).</a:t>
            </a:r>
            <a:endParaRPr lang="en-US" sz="1000" dirty="0">
              <a:solidFill>
                <a:schemeClr val="bg1">
                  <a:lumMod val="95000"/>
                </a:schemeClr>
              </a:solidFill>
            </a:endParaRPr>
          </a:p>
        </p:txBody>
      </p:sp>
      <p:sp>
        <p:nvSpPr>
          <p:cNvPr id="10" name="TextBox 9">
            <a:extLst>
              <a:ext uri="{FF2B5EF4-FFF2-40B4-BE49-F238E27FC236}">
                <a16:creationId xmlns:a16="http://schemas.microsoft.com/office/drawing/2014/main" id="{C6A8A8D9-C958-1D54-5B34-237BADCDFF5A}"/>
              </a:ext>
            </a:extLst>
          </p:cNvPr>
          <p:cNvSpPr txBox="1"/>
          <p:nvPr/>
        </p:nvSpPr>
        <p:spPr>
          <a:xfrm>
            <a:off x="395536" y="1149341"/>
            <a:ext cx="6729442" cy="461665"/>
          </a:xfrm>
          <a:prstGeom prst="rect">
            <a:avLst/>
          </a:prstGeom>
          <a:noFill/>
        </p:spPr>
        <p:txBody>
          <a:bodyPr wrap="square">
            <a:spAutoFit/>
          </a:bodyPr>
          <a:lstStyle/>
          <a:p>
            <a:r>
              <a:rPr lang="en-US" sz="2400" b="1" dirty="0">
                <a:solidFill>
                  <a:schemeClr val="bg1">
                    <a:lumMod val="95000"/>
                  </a:schemeClr>
                </a:solidFill>
              </a:rPr>
              <a:t>The two clusters contain 130 and 111 stocks</a:t>
            </a:r>
            <a:endParaRPr lang="en-IN" sz="3600" b="1" dirty="0">
              <a:solidFill>
                <a:schemeClr val="bg1">
                  <a:lumMod val="95000"/>
                </a:schemeClr>
              </a:solidFill>
            </a:endParaRPr>
          </a:p>
        </p:txBody>
      </p:sp>
    </p:spTree>
    <p:extLst>
      <p:ext uri="{BB962C8B-B14F-4D97-AF65-F5344CB8AC3E}">
        <p14:creationId xmlns:p14="http://schemas.microsoft.com/office/powerpoint/2010/main" val="1600088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D503C-0D8B-4DA1-DD8F-CB8FF66A79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8DE9A69-567D-0B30-D90C-3A8B535F54D9}"/>
              </a:ext>
            </a:extLst>
          </p:cNvPr>
          <p:cNvSpPr txBox="1"/>
          <p:nvPr/>
        </p:nvSpPr>
        <p:spPr>
          <a:xfrm>
            <a:off x="539552" y="1412776"/>
            <a:ext cx="8208912" cy="461665"/>
          </a:xfrm>
          <a:prstGeom prst="rect">
            <a:avLst/>
          </a:prstGeom>
          <a:noFill/>
        </p:spPr>
        <p:txBody>
          <a:bodyPr wrap="square">
            <a:spAutoFit/>
          </a:bodyPr>
          <a:lstStyle/>
          <a:p>
            <a:r>
              <a:rPr lang="en-US" sz="2400" b="1" dirty="0">
                <a:solidFill>
                  <a:schemeClr val="bg1">
                    <a:lumMod val="95000"/>
                  </a:schemeClr>
                </a:solidFill>
              </a:rPr>
              <a:t>K-Means consensus: chosen k against all k</a:t>
            </a:r>
            <a:endParaRPr lang="en-IN" sz="2400" dirty="0">
              <a:solidFill>
                <a:schemeClr val="bg1">
                  <a:lumMod val="95000"/>
                </a:schemeClr>
              </a:solidFill>
            </a:endParaRPr>
          </a:p>
        </p:txBody>
      </p:sp>
      <p:sp>
        <p:nvSpPr>
          <p:cNvPr id="4" name="Text 0">
            <a:extLst>
              <a:ext uri="{FF2B5EF4-FFF2-40B4-BE49-F238E27FC236}">
                <a16:creationId xmlns:a16="http://schemas.microsoft.com/office/drawing/2014/main" id="{9C60350D-BEE0-9DCA-876C-0DBAADDF069F}"/>
              </a:ext>
            </a:extLst>
          </p:cNvPr>
          <p:cNvSpPr txBox="1">
            <a:spLocks/>
          </p:cNvSpPr>
          <p:nvPr/>
        </p:nvSpPr>
        <p:spPr>
          <a:xfrm>
            <a:off x="518864" y="1224877"/>
            <a:ext cx="8229600" cy="685800"/>
          </a:xfrm>
          <a:prstGeom prst="rect">
            <a:avLst/>
          </a:prstGeom>
          <a:noFill/>
          <a:ln/>
        </p:spPr>
        <p:txBody>
          <a:bodyPr wrap="square" lIns="0" tIns="0" rIns="0" bIns="0" rtlCol="0" anchor="ctr"/>
          <a:lstStyle>
            <a:lvl1pPr algn="l" rtl="0" fontAlgn="base">
              <a:spcBef>
                <a:spcPct val="0"/>
              </a:spcBef>
              <a:spcAft>
                <a:spcPct val="0"/>
              </a:spcAft>
              <a:defRPr sz="3200" b="1" kern="1200">
                <a:solidFill>
                  <a:schemeClr val="bg1"/>
                </a:solidFill>
                <a:latin typeface="Arial" pitchFamily="34" charset="0"/>
                <a:ea typeface="+mj-ea"/>
                <a:cs typeface="Arial" pitchFamily="34" charset="0"/>
              </a:defRPr>
            </a:lvl1pPr>
            <a:lvl2pPr algn="ctr" rtl="0" fontAlgn="base">
              <a:spcBef>
                <a:spcPct val="0"/>
              </a:spcBef>
              <a:spcAft>
                <a:spcPct val="0"/>
              </a:spcAft>
              <a:defRPr sz="4400">
                <a:solidFill>
                  <a:schemeClr val="tx1"/>
                </a:solidFill>
                <a:latin typeface="Calibri" pitchFamily="34" charset="0"/>
              </a:defRPr>
            </a:lvl2pPr>
            <a:lvl3pPr algn="ctr" rtl="0" fontAlgn="base">
              <a:spcBef>
                <a:spcPct val="0"/>
              </a:spcBef>
              <a:spcAft>
                <a:spcPct val="0"/>
              </a:spcAft>
              <a:defRPr sz="4400">
                <a:solidFill>
                  <a:schemeClr val="tx1"/>
                </a:solidFill>
                <a:latin typeface="Calibri" pitchFamily="34" charset="0"/>
              </a:defRPr>
            </a:lvl3pPr>
            <a:lvl4pPr algn="ctr" rtl="0" fontAlgn="base">
              <a:spcBef>
                <a:spcPct val="0"/>
              </a:spcBef>
              <a:spcAft>
                <a:spcPct val="0"/>
              </a:spcAft>
              <a:defRPr sz="4400">
                <a:solidFill>
                  <a:schemeClr val="tx1"/>
                </a:solidFill>
                <a:latin typeface="Calibri" pitchFamily="34" charset="0"/>
              </a:defRPr>
            </a:lvl4pPr>
            <a:lvl5pPr algn="ctr" rtl="0" fontAlgn="base">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endParaRPr lang="en-US" sz="1800" dirty="0"/>
          </a:p>
        </p:txBody>
      </p:sp>
      <p:pic>
        <p:nvPicPr>
          <p:cNvPr id="5" name="Image 0" descr="Consensus matrices for K-Means, k = 2 to 10">
            <a:extLst>
              <a:ext uri="{FF2B5EF4-FFF2-40B4-BE49-F238E27FC236}">
                <a16:creationId xmlns:a16="http://schemas.microsoft.com/office/drawing/2014/main" id="{851F26BF-D276-6FC5-A916-C537A6F40586}"/>
              </a:ext>
            </a:extLst>
          </p:cNvPr>
          <p:cNvPicPr>
            <a:picLocks noChangeAspect="1"/>
          </p:cNvPicPr>
          <p:nvPr/>
        </p:nvPicPr>
        <p:blipFill>
          <a:blip r:embed="rId2"/>
          <a:stretch>
            <a:fillRect/>
          </a:stretch>
        </p:blipFill>
        <p:spPr>
          <a:xfrm>
            <a:off x="569966" y="2132857"/>
            <a:ext cx="3925819" cy="3600399"/>
          </a:xfrm>
          <a:prstGeom prst="rect">
            <a:avLst/>
          </a:prstGeom>
        </p:spPr>
      </p:pic>
      <p:sp>
        <p:nvSpPr>
          <p:cNvPr id="7" name="TextBox 6">
            <a:extLst>
              <a:ext uri="{FF2B5EF4-FFF2-40B4-BE49-F238E27FC236}">
                <a16:creationId xmlns:a16="http://schemas.microsoft.com/office/drawing/2014/main" id="{F8D79C10-89E5-EC27-0169-1CD67550E519}"/>
              </a:ext>
            </a:extLst>
          </p:cNvPr>
          <p:cNvSpPr txBox="1"/>
          <p:nvPr/>
        </p:nvSpPr>
        <p:spPr>
          <a:xfrm>
            <a:off x="518864" y="5770092"/>
            <a:ext cx="4614110" cy="246221"/>
          </a:xfrm>
          <a:prstGeom prst="rect">
            <a:avLst/>
          </a:prstGeom>
          <a:noFill/>
        </p:spPr>
        <p:txBody>
          <a:bodyPr wrap="square">
            <a:spAutoFit/>
          </a:bodyPr>
          <a:lstStyle/>
          <a:p>
            <a:pPr marL="0" indent="0">
              <a:buNone/>
            </a:pPr>
            <a:r>
              <a:rPr lang="en-US" sz="1000" i="1" dirty="0">
                <a:solidFill>
                  <a:schemeClr val="bg1">
                    <a:lumMod val="95000"/>
                  </a:schemeClr>
                </a:solidFill>
              </a:rPr>
              <a:t>All values of k from 2 to 10: the blocks blur as k grows.</a:t>
            </a:r>
            <a:endParaRPr lang="en-US" sz="1000" dirty="0">
              <a:solidFill>
                <a:schemeClr val="bg1">
                  <a:lumMod val="95000"/>
                </a:schemeClr>
              </a:solidFill>
            </a:endParaRPr>
          </a:p>
        </p:txBody>
      </p:sp>
      <p:pic>
        <p:nvPicPr>
          <p:cNvPr id="9" name="Image 1" descr="Consensus matrix at the chosen k">
            <a:extLst>
              <a:ext uri="{FF2B5EF4-FFF2-40B4-BE49-F238E27FC236}">
                <a16:creationId xmlns:a16="http://schemas.microsoft.com/office/drawing/2014/main" id="{01412665-A2ED-37CA-1E66-8F38A31807A8}"/>
              </a:ext>
            </a:extLst>
          </p:cNvPr>
          <p:cNvPicPr>
            <a:picLocks noChangeAspect="1"/>
          </p:cNvPicPr>
          <p:nvPr/>
        </p:nvPicPr>
        <p:blipFill>
          <a:blip r:embed="rId3"/>
          <a:stretch>
            <a:fillRect/>
          </a:stretch>
        </p:blipFill>
        <p:spPr>
          <a:xfrm>
            <a:off x="5110678" y="2132858"/>
            <a:ext cx="3925818" cy="3600398"/>
          </a:xfrm>
          <a:prstGeom prst="rect">
            <a:avLst/>
          </a:prstGeom>
        </p:spPr>
      </p:pic>
      <p:sp>
        <p:nvSpPr>
          <p:cNvPr id="11" name="Text 1">
            <a:extLst>
              <a:ext uri="{FF2B5EF4-FFF2-40B4-BE49-F238E27FC236}">
                <a16:creationId xmlns:a16="http://schemas.microsoft.com/office/drawing/2014/main" id="{F2CBAE64-8C46-1D70-BE0C-27C5F5155977}"/>
              </a:ext>
            </a:extLst>
          </p:cNvPr>
          <p:cNvSpPr txBox="1"/>
          <p:nvPr/>
        </p:nvSpPr>
        <p:spPr>
          <a:xfrm>
            <a:off x="1727397" y="5501715"/>
            <a:ext cx="3501405" cy="506842"/>
          </a:xfrm>
          <a:prstGeom prst="rect">
            <a:avLst/>
          </a:prstGeom>
          <a:noFill/>
          <a:ln/>
        </p:spPr>
        <p:txBody>
          <a:bodyPr wrap="square" lIns="0" tIns="0" rIns="0" bIns="0" rtlCol="0" anchor="t"/>
          <a:lstStyle/>
          <a:p>
            <a:pPr marL="0" indent="0">
              <a:buNone/>
            </a:pPr>
            <a:endParaRPr lang="en-US" sz="1000" dirty="0"/>
          </a:p>
        </p:txBody>
      </p:sp>
      <p:sp>
        <p:nvSpPr>
          <p:cNvPr id="13" name="TextBox 12">
            <a:extLst>
              <a:ext uri="{FF2B5EF4-FFF2-40B4-BE49-F238E27FC236}">
                <a16:creationId xmlns:a16="http://schemas.microsoft.com/office/drawing/2014/main" id="{4D5E3FCE-69D7-DBBC-35FB-A4CAD90E6160}"/>
              </a:ext>
            </a:extLst>
          </p:cNvPr>
          <p:cNvSpPr txBox="1"/>
          <p:nvPr/>
        </p:nvSpPr>
        <p:spPr>
          <a:xfrm>
            <a:off x="5110678" y="5770092"/>
            <a:ext cx="4614110" cy="246221"/>
          </a:xfrm>
          <a:prstGeom prst="rect">
            <a:avLst/>
          </a:prstGeom>
          <a:noFill/>
        </p:spPr>
        <p:txBody>
          <a:bodyPr wrap="square">
            <a:spAutoFit/>
          </a:bodyPr>
          <a:lstStyle/>
          <a:p>
            <a:pPr marL="0" indent="0">
              <a:buNone/>
            </a:pPr>
            <a:r>
              <a:rPr lang="en-US" sz="1000" i="1" dirty="0">
                <a:solidFill>
                  <a:schemeClr val="bg1">
                    <a:lumMod val="95000"/>
                  </a:schemeClr>
                </a:solidFill>
              </a:rPr>
              <a:t>Chosen k = 2: two clean dark blocks.</a:t>
            </a:r>
            <a:endParaRPr lang="en-US" sz="1000" dirty="0">
              <a:solidFill>
                <a:schemeClr val="bg1">
                  <a:lumMod val="95000"/>
                </a:schemeClr>
              </a:solidFill>
            </a:endParaRPr>
          </a:p>
        </p:txBody>
      </p:sp>
      <p:sp>
        <p:nvSpPr>
          <p:cNvPr id="15" name="TextBox 14">
            <a:extLst>
              <a:ext uri="{FF2B5EF4-FFF2-40B4-BE49-F238E27FC236}">
                <a16:creationId xmlns:a16="http://schemas.microsoft.com/office/drawing/2014/main" id="{613F13A2-C42A-F120-E5E4-09FF74E278B7}"/>
              </a:ext>
            </a:extLst>
          </p:cNvPr>
          <p:cNvSpPr txBox="1"/>
          <p:nvPr/>
        </p:nvSpPr>
        <p:spPr>
          <a:xfrm>
            <a:off x="2339752" y="6284690"/>
            <a:ext cx="6119482" cy="584775"/>
          </a:xfrm>
          <a:prstGeom prst="rect">
            <a:avLst/>
          </a:prstGeom>
          <a:noFill/>
        </p:spPr>
        <p:txBody>
          <a:bodyPr wrap="square">
            <a:spAutoFit/>
          </a:bodyPr>
          <a:lstStyle/>
          <a:p>
            <a:r>
              <a:rPr lang="en-US" sz="1600" dirty="0">
                <a:solidFill>
                  <a:schemeClr val="bg1">
                    <a:lumMod val="95000"/>
                  </a:schemeClr>
                </a:solidFill>
              </a:rPr>
              <a:t>Conclusion. At k = 2 the cluster consensus is 0.992 and 0.980 and is stable</a:t>
            </a:r>
            <a:endParaRPr lang="en-IN" sz="2400" dirty="0">
              <a:solidFill>
                <a:schemeClr val="bg1">
                  <a:lumMod val="95000"/>
                </a:schemeClr>
              </a:solidFill>
            </a:endParaRPr>
          </a:p>
        </p:txBody>
      </p:sp>
    </p:spTree>
    <p:extLst>
      <p:ext uri="{BB962C8B-B14F-4D97-AF65-F5344CB8AC3E}">
        <p14:creationId xmlns:p14="http://schemas.microsoft.com/office/powerpoint/2010/main" val="23275878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6E348-D31B-8916-79FB-FEEF2D5FB3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734E042-744E-C62B-4DBA-4E62F1874CF9}"/>
              </a:ext>
            </a:extLst>
          </p:cNvPr>
          <p:cNvSpPr txBox="1"/>
          <p:nvPr/>
        </p:nvSpPr>
        <p:spPr>
          <a:xfrm>
            <a:off x="467544" y="1196752"/>
            <a:ext cx="6657433" cy="523220"/>
          </a:xfrm>
          <a:prstGeom prst="rect">
            <a:avLst/>
          </a:prstGeom>
          <a:noFill/>
        </p:spPr>
        <p:txBody>
          <a:bodyPr wrap="square">
            <a:spAutoFit/>
          </a:bodyPr>
          <a:lstStyle/>
          <a:p>
            <a:r>
              <a:rPr lang="en-US" sz="2800" b="1" dirty="0">
                <a:solidFill>
                  <a:schemeClr val="bg1">
                    <a:lumMod val="95000"/>
                  </a:schemeClr>
                </a:solidFill>
              </a:rPr>
              <a:t>K-Medoids agrees: rising and falling</a:t>
            </a:r>
            <a:endParaRPr lang="en-IN" sz="2800" dirty="0">
              <a:solidFill>
                <a:schemeClr val="bg1">
                  <a:lumMod val="95000"/>
                </a:schemeClr>
              </a:solidFill>
            </a:endParaRPr>
          </a:p>
        </p:txBody>
      </p:sp>
      <p:pic>
        <p:nvPicPr>
          <p:cNvPr id="5" name="Image 0" descr="Validity indices for K-Medoids with DTW">
            <a:extLst>
              <a:ext uri="{FF2B5EF4-FFF2-40B4-BE49-F238E27FC236}">
                <a16:creationId xmlns:a16="http://schemas.microsoft.com/office/drawing/2014/main" id="{04FD73E5-8DDC-8ACF-80B2-FF54B390C781}"/>
              </a:ext>
            </a:extLst>
          </p:cNvPr>
          <p:cNvPicPr>
            <a:picLocks noChangeAspect="1"/>
          </p:cNvPicPr>
          <p:nvPr/>
        </p:nvPicPr>
        <p:blipFill>
          <a:blip r:embed="rId2"/>
          <a:stretch>
            <a:fillRect/>
          </a:stretch>
        </p:blipFill>
        <p:spPr>
          <a:xfrm>
            <a:off x="1835695" y="1988840"/>
            <a:ext cx="5698976" cy="3528392"/>
          </a:xfrm>
          <a:prstGeom prst="rect">
            <a:avLst/>
          </a:prstGeom>
        </p:spPr>
      </p:pic>
      <p:sp>
        <p:nvSpPr>
          <p:cNvPr id="7" name="TextBox 6">
            <a:extLst>
              <a:ext uri="{FF2B5EF4-FFF2-40B4-BE49-F238E27FC236}">
                <a16:creationId xmlns:a16="http://schemas.microsoft.com/office/drawing/2014/main" id="{55AE172E-CC85-067D-4897-CF41AE3708C7}"/>
              </a:ext>
            </a:extLst>
          </p:cNvPr>
          <p:cNvSpPr txBox="1"/>
          <p:nvPr/>
        </p:nvSpPr>
        <p:spPr>
          <a:xfrm>
            <a:off x="742999" y="5877272"/>
            <a:ext cx="7884367" cy="584775"/>
          </a:xfrm>
          <a:prstGeom prst="rect">
            <a:avLst/>
          </a:prstGeom>
          <a:noFill/>
        </p:spPr>
        <p:txBody>
          <a:bodyPr wrap="square">
            <a:spAutoFit/>
          </a:bodyPr>
          <a:lstStyle/>
          <a:p>
            <a:r>
              <a:rPr lang="en-IN" sz="1600" dirty="0">
                <a:solidFill>
                  <a:schemeClr val="bg1">
                    <a:lumMod val="95000"/>
                  </a:schemeClr>
                </a:solidFill>
              </a:rPr>
              <a:t>Three indices selected K = 2, while the Dunn index selected K = 3. Therefore, K = 2 was chosen by majority vote.</a:t>
            </a:r>
          </a:p>
        </p:txBody>
      </p:sp>
    </p:spTree>
    <p:extLst>
      <p:ext uri="{BB962C8B-B14F-4D97-AF65-F5344CB8AC3E}">
        <p14:creationId xmlns:p14="http://schemas.microsoft.com/office/powerpoint/2010/main" val="19822811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AE1F3-0769-7C7B-6686-1F725D225AE7}"/>
            </a:ext>
          </a:extLst>
        </p:cNvPr>
        <p:cNvGrpSpPr/>
        <p:nvPr/>
      </p:nvGrpSpPr>
      <p:grpSpPr>
        <a:xfrm>
          <a:off x="0" y="0"/>
          <a:ext cx="0" cy="0"/>
          <a:chOff x="0" y="0"/>
          <a:chExt cx="0" cy="0"/>
        </a:xfrm>
      </p:grpSpPr>
      <p:pic>
        <p:nvPicPr>
          <p:cNvPr id="11" name="Image 1" descr="Standardised prices in each K-Medoids cluster">
            <a:extLst>
              <a:ext uri="{FF2B5EF4-FFF2-40B4-BE49-F238E27FC236}">
                <a16:creationId xmlns:a16="http://schemas.microsoft.com/office/drawing/2014/main" id="{9F6575D8-4727-0397-8502-D4A37E341E1E}"/>
              </a:ext>
            </a:extLst>
          </p:cNvPr>
          <p:cNvPicPr>
            <a:picLocks noChangeAspect="1"/>
          </p:cNvPicPr>
          <p:nvPr/>
        </p:nvPicPr>
        <p:blipFill>
          <a:blip r:embed="rId2"/>
          <a:stretch>
            <a:fillRect/>
          </a:stretch>
        </p:blipFill>
        <p:spPr>
          <a:xfrm>
            <a:off x="611560" y="1844824"/>
            <a:ext cx="8075240" cy="3384376"/>
          </a:xfrm>
          <a:prstGeom prst="rect">
            <a:avLst/>
          </a:prstGeom>
        </p:spPr>
      </p:pic>
      <p:sp>
        <p:nvSpPr>
          <p:cNvPr id="13" name="TextBox 12">
            <a:extLst>
              <a:ext uri="{FF2B5EF4-FFF2-40B4-BE49-F238E27FC236}">
                <a16:creationId xmlns:a16="http://schemas.microsoft.com/office/drawing/2014/main" id="{AE652382-59EE-44B3-6325-87DD6063CB86}"/>
              </a:ext>
            </a:extLst>
          </p:cNvPr>
          <p:cNvSpPr txBox="1"/>
          <p:nvPr/>
        </p:nvSpPr>
        <p:spPr>
          <a:xfrm>
            <a:off x="467544" y="1212721"/>
            <a:ext cx="6912768" cy="400110"/>
          </a:xfrm>
          <a:prstGeom prst="rect">
            <a:avLst/>
          </a:prstGeom>
          <a:noFill/>
        </p:spPr>
        <p:txBody>
          <a:bodyPr wrap="square">
            <a:spAutoFit/>
          </a:bodyPr>
          <a:lstStyle/>
          <a:p>
            <a:r>
              <a:rPr lang="en-US" sz="2000" b="1" dirty="0">
                <a:solidFill>
                  <a:schemeClr val="bg1">
                    <a:lumMod val="95000"/>
                  </a:schemeClr>
                </a:solidFill>
              </a:rPr>
              <a:t>The two clusters contain 138 and 103 stocks</a:t>
            </a:r>
            <a:endParaRPr lang="en-IN" sz="3200" b="1" dirty="0">
              <a:solidFill>
                <a:schemeClr val="bg1">
                  <a:lumMod val="95000"/>
                </a:schemeClr>
              </a:solidFill>
            </a:endParaRPr>
          </a:p>
        </p:txBody>
      </p:sp>
      <p:sp>
        <p:nvSpPr>
          <p:cNvPr id="15" name="TextBox 14">
            <a:extLst>
              <a:ext uri="{FF2B5EF4-FFF2-40B4-BE49-F238E27FC236}">
                <a16:creationId xmlns:a16="http://schemas.microsoft.com/office/drawing/2014/main" id="{909D1570-7163-F562-B3D3-2F55CD352DBF}"/>
              </a:ext>
            </a:extLst>
          </p:cNvPr>
          <p:cNvSpPr txBox="1"/>
          <p:nvPr/>
        </p:nvSpPr>
        <p:spPr>
          <a:xfrm>
            <a:off x="611560" y="5700136"/>
            <a:ext cx="8424936" cy="1115690"/>
          </a:xfrm>
          <a:prstGeom prst="rect">
            <a:avLst/>
          </a:prstGeom>
          <a:noFill/>
        </p:spPr>
        <p:txBody>
          <a:bodyPr wrap="square">
            <a:spAutoFit/>
          </a:bodyPr>
          <a:lstStyle/>
          <a:p>
            <a:pPr marL="0" indent="0">
              <a:spcAft>
                <a:spcPts val="300"/>
              </a:spcAft>
              <a:buNone/>
            </a:pPr>
            <a:r>
              <a:rPr lang="en-US" sz="1600" b="1" dirty="0">
                <a:solidFill>
                  <a:schemeClr val="bg1">
                    <a:lumMod val="95000"/>
                  </a:schemeClr>
                </a:solidFill>
              </a:rPr>
              <a:t>Cluster 0 (rising, 138 stocks, medoid ESCT.L): </a:t>
            </a:r>
            <a:r>
              <a:rPr lang="en-US" sz="1600" dirty="0">
                <a:solidFill>
                  <a:schemeClr val="bg1">
                    <a:lumMod val="95000"/>
                  </a:schemeClr>
                </a:solidFill>
              </a:rPr>
              <a:t>BlackRock World Mining Trust, JPMorgan Global Growth &amp; Income, AJ Bell, </a:t>
            </a:r>
            <a:r>
              <a:rPr lang="en-US" sz="1600" dirty="0" err="1">
                <a:solidFill>
                  <a:schemeClr val="bg1">
                    <a:lumMod val="95000"/>
                  </a:schemeClr>
                </a:solidFill>
              </a:rPr>
              <a:t>HgCapital</a:t>
            </a:r>
            <a:r>
              <a:rPr lang="en-US" sz="1600" dirty="0">
                <a:solidFill>
                  <a:schemeClr val="bg1">
                    <a:lumMod val="95000"/>
                  </a:schemeClr>
                </a:solidFill>
              </a:rPr>
              <a:t> Trust and Rotork.</a:t>
            </a:r>
          </a:p>
          <a:p>
            <a:pPr marL="0" indent="0">
              <a:spcAft>
                <a:spcPts val="300"/>
              </a:spcAft>
              <a:buNone/>
            </a:pPr>
            <a:r>
              <a:rPr lang="en-US" sz="1600" b="1" dirty="0">
                <a:solidFill>
                  <a:schemeClr val="bg1">
                    <a:lumMod val="95000"/>
                  </a:schemeClr>
                </a:solidFill>
              </a:rPr>
              <a:t>Cluster 1 (falling, 103 stocks, medoid DLN.L): </a:t>
            </a:r>
            <a:r>
              <a:rPr lang="en-US" sz="1600" dirty="0">
                <a:solidFill>
                  <a:schemeClr val="bg1">
                    <a:lumMod val="95000"/>
                  </a:schemeClr>
                </a:solidFill>
              </a:rPr>
              <a:t>Spire Healthcare, easyJet, Frasers Group, J D Wetherspoon and Greggs.</a:t>
            </a:r>
          </a:p>
        </p:txBody>
      </p:sp>
      <p:sp>
        <p:nvSpPr>
          <p:cNvPr id="17" name="TextBox 16">
            <a:extLst>
              <a:ext uri="{FF2B5EF4-FFF2-40B4-BE49-F238E27FC236}">
                <a16:creationId xmlns:a16="http://schemas.microsoft.com/office/drawing/2014/main" id="{D153E125-189A-ED56-0530-A614FEE6678D}"/>
              </a:ext>
            </a:extLst>
          </p:cNvPr>
          <p:cNvSpPr txBox="1"/>
          <p:nvPr/>
        </p:nvSpPr>
        <p:spPr>
          <a:xfrm>
            <a:off x="2264945" y="5253445"/>
            <a:ext cx="4614110" cy="246221"/>
          </a:xfrm>
          <a:prstGeom prst="rect">
            <a:avLst/>
          </a:prstGeom>
          <a:noFill/>
        </p:spPr>
        <p:txBody>
          <a:bodyPr wrap="square">
            <a:spAutoFit/>
          </a:bodyPr>
          <a:lstStyle/>
          <a:p>
            <a:pPr marL="0" indent="0">
              <a:buNone/>
            </a:pPr>
            <a:r>
              <a:rPr lang="en-US" sz="1000" i="1" dirty="0" err="1">
                <a:solidFill>
                  <a:schemeClr val="bg1">
                    <a:lumMod val="95000"/>
                  </a:schemeClr>
                </a:solidFill>
              </a:rPr>
              <a:t>Standardised</a:t>
            </a:r>
            <a:r>
              <a:rPr lang="en-US" sz="1000" i="1" dirty="0">
                <a:solidFill>
                  <a:schemeClr val="bg1">
                    <a:lumMod val="95000"/>
                  </a:schemeClr>
                </a:solidFill>
              </a:rPr>
              <a:t> prices in each cluster (the dashed black line is the medoid stock).</a:t>
            </a:r>
            <a:endParaRPr lang="en-US" sz="1000" dirty="0">
              <a:solidFill>
                <a:schemeClr val="bg1">
                  <a:lumMod val="95000"/>
                </a:schemeClr>
              </a:solidFill>
            </a:endParaRPr>
          </a:p>
        </p:txBody>
      </p:sp>
    </p:spTree>
    <p:extLst>
      <p:ext uri="{BB962C8B-B14F-4D97-AF65-F5344CB8AC3E}">
        <p14:creationId xmlns:p14="http://schemas.microsoft.com/office/powerpoint/2010/main" val="1095234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88B87-5A32-3581-CEDF-647BB1172F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16E990-8B45-B7B9-154E-4F4FF69B1913}"/>
              </a:ext>
            </a:extLst>
          </p:cNvPr>
          <p:cNvSpPr txBox="1"/>
          <p:nvPr/>
        </p:nvSpPr>
        <p:spPr>
          <a:xfrm>
            <a:off x="539552" y="1484784"/>
            <a:ext cx="6836945" cy="461665"/>
          </a:xfrm>
          <a:prstGeom prst="rect">
            <a:avLst/>
          </a:prstGeom>
          <a:noFill/>
        </p:spPr>
        <p:txBody>
          <a:bodyPr wrap="square">
            <a:spAutoFit/>
          </a:bodyPr>
          <a:lstStyle/>
          <a:p>
            <a:r>
              <a:rPr lang="en-US" sz="2400" b="1" dirty="0">
                <a:solidFill>
                  <a:schemeClr val="bg1">
                    <a:lumMod val="95000"/>
                  </a:schemeClr>
                </a:solidFill>
              </a:rPr>
              <a:t>K-Medoids consensus: chosen k against all k</a:t>
            </a:r>
            <a:endParaRPr lang="en-IN" dirty="0">
              <a:solidFill>
                <a:schemeClr val="bg1">
                  <a:lumMod val="95000"/>
                </a:schemeClr>
              </a:solidFill>
            </a:endParaRPr>
          </a:p>
        </p:txBody>
      </p:sp>
      <p:sp>
        <p:nvSpPr>
          <p:cNvPr id="4" name="Text 0">
            <a:extLst>
              <a:ext uri="{FF2B5EF4-FFF2-40B4-BE49-F238E27FC236}">
                <a16:creationId xmlns:a16="http://schemas.microsoft.com/office/drawing/2014/main" id="{B6F41D23-CF5C-3B24-A28E-2A0D5165052B}"/>
              </a:ext>
            </a:extLst>
          </p:cNvPr>
          <p:cNvSpPr txBox="1">
            <a:spLocks/>
          </p:cNvSpPr>
          <p:nvPr/>
        </p:nvSpPr>
        <p:spPr>
          <a:xfrm>
            <a:off x="557754" y="1617360"/>
            <a:ext cx="8229600" cy="685800"/>
          </a:xfrm>
          <a:prstGeom prst="rect">
            <a:avLst/>
          </a:prstGeom>
          <a:noFill/>
          <a:ln/>
        </p:spPr>
        <p:txBody>
          <a:bodyPr wrap="square" lIns="0" tIns="0" rIns="0" bIns="0" rtlCol="0" anchor="ctr"/>
          <a:lstStyle>
            <a:lvl1pPr algn="l" rtl="0" fontAlgn="base">
              <a:spcBef>
                <a:spcPct val="0"/>
              </a:spcBef>
              <a:spcAft>
                <a:spcPct val="0"/>
              </a:spcAft>
              <a:defRPr sz="3200" b="1" kern="1200">
                <a:solidFill>
                  <a:schemeClr val="bg1"/>
                </a:solidFill>
                <a:latin typeface="Arial" pitchFamily="34" charset="0"/>
                <a:ea typeface="+mj-ea"/>
                <a:cs typeface="Arial" pitchFamily="34" charset="0"/>
              </a:defRPr>
            </a:lvl1pPr>
            <a:lvl2pPr algn="ctr" rtl="0" fontAlgn="base">
              <a:spcBef>
                <a:spcPct val="0"/>
              </a:spcBef>
              <a:spcAft>
                <a:spcPct val="0"/>
              </a:spcAft>
              <a:defRPr sz="4400">
                <a:solidFill>
                  <a:schemeClr val="tx1"/>
                </a:solidFill>
                <a:latin typeface="Calibri" pitchFamily="34" charset="0"/>
              </a:defRPr>
            </a:lvl2pPr>
            <a:lvl3pPr algn="ctr" rtl="0" fontAlgn="base">
              <a:spcBef>
                <a:spcPct val="0"/>
              </a:spcBef>
              <a:spcAft>
                <a:spcPct val="0"/>
              </a:spcAft>
              <a:defRPr sz="4400">
                <a:solidFill>
                  <a:schemeClr val="tx1"/>
                </a:solidFill>
                <a:latin typeface="Calibri" pitchFamily="34" charset="0"/>
              </a:defRPr>
            </a:lvl3pPr>
            <a:lvl4pPr algn="ctr" rtl="0" fontAlgn="base">
              <a:spcBef>
                <a:spcPct val="0"/>
              </a:spcBef>
              <a:spcAft>
                <a:spcPct val="0"/>
              </a:spcAft>
              <a:defRPr sz="4400">
                <a:solidFill>
                  <a:schemeClr val="tx1"/>
                </a:solidFill>
                <a:latin typeface="Calibri" pitchFamily="34" charset="0"/>
              </a:defRPr>
            </a:lvl4pPr>
            <a:lvl5pPr algn="ctr" rtl="0" fontAlgn="base">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endParaRPr lang="en-US" sz="2400" dirty="0"/>
          </a:p>
        </p:txBody>
      </p:sp>
      <p:pic>
        <p:nvPicPr>
          <p:cNvPr id="5" name="Image 0" descr="Consensus matrices for K-Medoids with DTW, k = 2 to 10">
            <a:extLst>
              <a:ext uri="{FF2B5EF4-FFF2-40B4-BE49-F238E27FC236}">
                <a16:creationId xmlns:a16="http://schemas.microsoft.com/office/drawing/2014/main" id="{6FBFC0B8-BFE7-841B-9F7E-71B2A3E9F778}"/>
              </a:ext>
            </a:extLst>
          </p:cNvPr>
          <p:cNvPicPr>
            <a:picLocks noChangeAspect="1"/>
          </p:cNvPicPr>
          <p:nvPr/>
        </p:nvPicPr>
        <p:blipFill>
          <a:blip r:embed="rId2"/>
          <a:stretch>
            <a:fillRect/>
          </a:stretch>
        </p:blipFill>
        <p:spPr>
          <a:xfrm>
            <a:off x="683568" y="2303160"/>
            <a:ext cx="3816424" cy="3574112"/>
          </a:xfrm>
          <a:prstGeom prst="rect">
            <a:avLst/>
          </a:prstGeom>
        </p:spPr>
      </p:pic>
      <p:pic>
        <p:nvPicPr>
          <p:cNvPr id="10" name="Image 1" descr="Consensus matrix at the chosen k">
            <a:extLst>
              <a:ext uri="{FF2B5EF4-FFF2-40B4-BE49-F238E27FC236}">
                <a16:creationId xmlns:a16="http://schemas.microsoft.com/office/drawing/2014/main" id="{D8B072EC-A64E-E4B8-6A59-95E6C4A5ACF9}"/>
              </a:ext>
            </a:extLst>
          </p:cNvPr>
          <p:cNvPicPr>
            <a:picLocks noChangeAspect="1"/>
          </p:cNvPicPr>
          <p:nvPr/>
        </p:nvPicPr>
        <p:blipFill>
          <a:blip r:embed="rId3"/>
          <a:stretch>
            <a:fillRect/>
          </a:stretch>
        </p:blipFill>
        <p:spPr>
          <a:xfrm>
            <a:off x="5148064" y="2304612"/>
            <a:ext cx="3995935" cy="3572660"/>
          </a:xfrm>
          <a:prstGeom prst="rect">
            <a:avLst/>
          </a:prstGeom>
        </p:spPr>
      </p:pic>
      <p:sp>
        <p:nvSpPr>
          <p:cNvPr id="12" name="TextBox 11">
            <a:extLst>
              <a:ext uri="{FF2B5EF4-FFF2-40B4-BE49-F238E27FC236}">
                <a16:creationId xmlns:a16="http://schemas.microsoft.com/office/drawing/2014/main" id="{B27C5925-BC63-D899-0CCF-52579703C9B5}"/>
              </a:ext>
            </a:extLst>
          </p:cNvPr>
          <p:cNvSpPr txBox="1"/>
          <p:nvPr/>
        </p:nvSpPr>
        <p:spPr>
          <a:xfrm>
            <a:off x="557754" y="5877272"/>
            <a:ext cx="4632158" cy="246221"/>
          </a:xfrm>
          <a:prstGeom prst="rect">
            <a:avLst/>
          </a:prstGeom>
          <a:noFill/>
        </p:spPr>
        <p:txBody>
          <a:bodyPr wrap="square">
            <a:spAutoFit/>
          </a:bodyPr>
          <a:lstStyle/>
          <a:p>
            <a:pPr marL="0" indent="0">
              <a:buNone/>
            </a:pPr>
            <a:r>
              <a:rPr lang="en-US" sz="1000" i="1" dirty="0">
                <a:solidFill>
                  <a:schemeClr val="bg1">
                    <a:lumMod val="95000"/>
                  </a:schemeClr>
                </a:solidFill>
              </a:rPr>
              <a:t>All values of k from 2 to 10 with DTW: the blocks blur as k grows.</a:t>
            </a:r>
            <a:endParaRPr lang="en-US" sz="1000" dirty="0">
              <a:solidFill>
                <a:schemeClr val="bg1">
                  <a:lumMod val="95000"/>
                </a:schemeClr>
              </a:solidFill>
            </a:endParaRPr>
          </a:p>
        </p:txBody>
      </p:sp>
      <p:sp>
        <p:nvSpPr>
          <p:cNvPr id="14" name="TextBox 13">
            <a:extLst>
              <a:ext uri="{FF2B5EF4-FFF2-40B4-BE49-F238E27FC236}">
                <a16:creationId xmlns:a16="http://schemas.microsoft.com/office/drawing/2014/main" id="{D5469609-A458-2DF4-FF98-8FAC8C89F56B}"/>
              </a:ext>
            </a:extLst>
          </p:cNvPr>
          <p:cNvSpPr txBox="1"/>
          <p:nvPr/>
        </p:nvSpPr>
        <p:spPr>
          <a:xfrm>
            <a:off x="5069442" y="5853572"/>
            <a:ext cx="4614110" cy="246221"/>
          </a:xfrm>
          <a:prstGeom prst="rect">
            <a:avLst/>
          </a:prstGeom>
          <a:noFill/>
        </p:spPr>
        <p:txBody>
          <a:bodyPr wrap="square">
            <a:spAutoFit/>
          </a:bodyPr>
          <a:lstStyle/>
          <a:p>
            <a:pPr marL="0" indent="0">
              <a:buNone/>
            </a:pPr>
            <a:r>
              <a:rPr lang="en-US" sz="1000" i="1" dirty="0">
                <a:solidFill>
                  <a:schemeClr val="bg1">
                    <a:lumMod val="95000"/>
                  </a:schemeClr>
                </a:solidFill>
              </a:rPr>
              <a:t>Chosen k = 2: two clean dark blocks.</a:t>
            </a:r>
            <a:endParaRPr lang="en-US" sz="1000" dirty="0">
              <a:solidFill>
                <a:schemeClr val="bg1">
                  <a:lumMod val="95000"/>
                </a:schemeClr>
              </a:solidFill>
            </a:endParaRPr>
          </a:p>
        </p:txBody>
      </p:sp>
      <p:sp>
        <p:nvSpPr>
          <p:cNvPr id="16" name="TextBox 15">
            <a:extLst>
              <a:ext uri="{FF2B5EF4-FFF2-40B4-BE49-F238E27FC236}">
                <a16:creationId xmlns:a16="http://schemas.microsoft.com/office/drawing/2014/main" id="{CFD5A330-8AB5-4F5D-CDC1-B2C5D5F189F1}"/>
              </a:ext>
            </a:extLst>
          </p:cNvPr>
          <p:cNvSpPr txBox="1"/>
          <p:nvPr/>
        </p:nvSpPr>
        <p:spPr>
          <a:xfrm>
            <a:off x="1187624" y="6381328"/>
            <a:ext cx="7302103" cy="338554"/>
          </a:xfrm>
          <a:prstGeom prst="rect">
            <a:avLst/>
          </a:prstGeom>
          <a:noFill/>
        </p:spPr>
        <p:txBody>
          <a:bodyPr wrap="square">
            <a:spAutoFit/>
          </a:bodyPr>
          <a:lstStyle/>
          <a:p>
            <a:r>
              <a:rPr lang="en-US" sz="1600" b="1" dirty="0">
                <a:solidFill>
                  <a:schemeClr val="bg1">
                    <a:lumMod val="95000"/>
                  </a:schemeClr>
                </a:solidFill>
              </a:rPr>
              <a:t>Conclusion. </a:t>
            </a:r>
            <a:r>
              <a:rPr lang="en-US" sz="1600" dirty="0">
                <a:solidFill>
                  <a:schemeClr val="bg1">
                    <a:lumMod val="95000"/>
                  </a:schemeClr>
                </a:solidFill>
              </a:rPr>
              <a:t>At k = 2 the cluster consensus is 0.989 and 0.965 and is stable</a:t>
            </a:r>
            <a:endParaRPr lang="en-IN" sz="2400" dirty="0">
              <a:solidFill>
                <a:schemeClr val="bg1">
                  <a:lumMod val="95000"/>
                </a:schemeClr>
              </a:solidFill>
            </a:endParaRPr>
          </a:p>
        </p:txBody>
      </p:sp>
    </p:spTree>
    <p:extLst>
      <p:ext uri="{BB962C8B-B14F-4D97-AF65-F5344CB8AC3E}">
        <p14:creationId xmlns:p14="http://schemas.microsoft.com/office/powerpoint/2010/main" val="34568154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F05FF-E070-6DBF-1AC4-8EA9F6A60B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A37103E-0E5A-9F99-C45D-F693FAB2B87D}"/>
              </a:ext>
            </a:extLst>
          </p:cNvPr>
          <p:cNvSpPr txBox="1"/>
          <p:nvPr/>
        </p:nvSpPr>
        <p:spPr>
          <a:xfrm>
            <a:off x="467544" y="1340768"/>
            <a:ext cx="5865345" cy="461665"/>
          </a:xfrm>
          <a:prstGeom prst="rect">
            <a:avLst/>
          </a:prstGeom>
          <a:noFill/>
        </p:spPr>
        <p:txBody>
          <a:bodyPr wrap="square">
            <a:spAutoFit/>
          </a:bodyPr>
          <a:lstStyle/>
          <a:p>
            <a:r>
              <a:rPr lang="en-US" sz="2400" b="1" dirty="0">
                <a:solidFill>
                  <a:schemeClr val="bg1">
                    <a:lumMod val="95000"/>
                  </a:schemeClr>
                </a:solidFill>
              </a:rPr>
              <a:t>GMM adds a third, mixed group</a:t>
            </a:r>
            <a:endParaRPr lang="en-IN" sz="2000" dirty="0">
              <a:solidFill>
                <a:schemeClr val="bg1">
                  <a:lumMod val="95000"/>
                </a:schemeClr>
              </a:solidFill>
            </a:endParaRPr>
          </a:p>
        </p:txBody>
      </p:sp>
      <p:pic>
        <p:nvPicPr>
          <p:cNvPr id="7" name="Picture 6">
            <a:extLst>
              <a:ext uri="{FF2B5EF4-FFF2-40B4-BE49-F238E27FC236}">
                <a16:creationId xmlns:a16="http://schemas.microsoft.com/office/drawing/2014/main" id="{1585F30A-3329-0F96-77C7-CDEABE4810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060849"/>
            <a:ext cx="8208912" cy="3456384"/>
          </a:xfrm>
          <a:prstGeom prst="rect">
            <a:avLst/>
          </a:prstGeom>
        </p:spPr>
      </p:pic>
      <p:sp>
        <p:nvSpPr>
          <p:cNvPr id="9" name="TextBox 8">
            <a:extLst>
              <a:ext uri="{FF2B5EF4-FFF2-40B4-BE49-F238E27FC236}">
                <a16:creationId xmlns:a16="http://schemas.microsoft.com/office/drawing/2014/main" id="{216DC157-C9FE-5419-88BD-CC95FD9D4F3F}"/>
              </a:ext>
            </a:extLst>
          </p:cNvPr>
          <p:cNvSpPr txBox="1"/>
          <p:nvPr/>
        </p:nvSpPr>
        <p:spPr>
          <a:xfrm>
            <a:off x="463861" y="5741732"/>
            <a:ext cx="8572636" cy="923330"/>
          </a:xfrm>
          <a:prstGeom prst="rect">
            <a:avLst/>
          </a:prstGeom>
          <a:noFill/>
        </p:spPr>
        <p:txBody>
          <a:bodyPr wrap="square">
            <a:spAutoFit/>
          </a:bodyPr>
          <a:lstStyle/>
          <a:p>
            <a:r>
              <a:rPr lang="en-IN" dirty="0">
                <a:solidFill>
                  <a:schemeClr val="bg1">
                    <a:lumMod val="95000"/>
                  </a:schemeClr>
                </a:solidFill>
              </a:rPr>
              <a:t>We chose k = 3 with diagonal covariance because it has the lowest BIC, meaning it gives the best balance between fitting the data well and keeping the model simple, even though other models have a higher log-likelihood.</a:t>
            </a:r>
          </a:p>
        </p:txBody>
      </p:sp>
    </p:spTree>
    <p:extLst>
      <p:ext uri="{BB962C8B-B14F-4D97-AF65-F5344CB8AC3E}">
        <p14:creationId xmlns:p14="http://schemas.microsoft.com/office/powerpoint/2010/main" val="21298999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CFF19-2793-E72B-AD07-D8EC8EBACA11}"/>
            </a:ext>
          </a:extLst>
        </p:cNvPr>
        <p:cNvGrpSpPr/>
        <p:nvPr/>
      </p:nvGrpSpPr>
      <p:grpSpPr>
        <a:xfrm>
          <a:off x="0" y="0"/>
          <a:ext cx="0" cy="0"/>
          <a:chOff x="0" y="0"/>
          <a:chExt cx="0" cy="0"/>
        </a:xfrm>
      </p:grpSpPr>
      <p:pic>
        <p:nvPicPr>
          <p:cNvPr id="3" name="Image 1" descr="Standardised prices in each GMM cluster">
            <a:extLst>
              <a:ext uri="{FF2B5EF4-FFF2-40B4-BE49-F238E27FC236}">
                <a16:creationId xmlns:a16="http://schemas.microsoft.com/office/drawing/2014/main" id="{E7D31A93-EDD1-A0A8-A34B-3755FF13262C}"/>
              </a:ext>
            </a:extLst>
          </p:cNvPr>
          <p:cNvPicPr>
            <a:picLocks noChangeAspect="1"/>
          </p:cNvPicPr>
          <p:nvPr/>
        </p:nvPicPr>
        <p:blipFill>
          <a:blip r:embed="rId2"/>
          <a:stretch>
            <a:fillRect/>
          </a:stretch>
        </p:blipFill>
        <p:spPr>
          <a:xfrm>
            <a:off x="683568" y="1988840"/>
            <a:ext cx="8003232" cy="3288392"/>
          </a:xfrm>
          <a:prstGeom prst="rect">
            <a:avLst/>
          </a:prstGeom>
        </p:spPr>
      </p:pic>
      <p:sp>
        <p:nvSpPr>
          <p:cNvPr id="5" name="TextBox 4">
            <a:extLst>
              <a:ext uri="{FF2B5EF4-FFF2-40B4-BE49-F238E27FC236}">
                <a16:creationId xmlns:a16="http://schemas.microsoft.com/office/drawing/2014/main" id="{7DBD4BB8-0C44-7332-6E43-7706B0162FC4}"/>
              </a:ext>
            </a:extLst>
          </p:cNvPr>
          <p:cNvSpPr txBox="1"/>
          <p:nvPr/>
        </p:nvSpPr>
        <p:spPr>
          <a:xfrm>
            <a:off x="539552" y="1196752"/>
            <a:ext cx="8291264" cy="523220"/>
          </a:xfrm>
          <a:prstGeom prst="rect">
            <a:avLst/>
          </a:prstGeom>
          <a:noFill/>
        </p:spPr>
        <p:txBody>
          <a:bodyPr wrap="square">
            <a:spAutoFit/>
          </a:bodyPr>
          <a:lstStyle/>
          <a:p>
            <a:r>
              <a:rPr lang="en-US" b="1" dirty="0">
                <a:solidFill>
                  <a:schemeClr val="bg1">
                    <a:lumMod val="95000"/>
                  </a:schemeClr>
                </a:solidFill>
              </a:rPr>
              <a:t>The GMM finds three groups: 47 falling, 79 rising and 115 mixed stocks</a:t>
            </a:r>
            <a:endParaRPr lang="en-IN" sz="2800" b="1" dirty="0">
              <a:solidFill>
                <a:schemeClr val="bg1">
                  <a:lumMod val="95000"/>
                </a:schemeClr>
              </a:solidFill>
            </a:endParaRPr>
          </a:p>
        </p:txBody>
      </p:sp>
      <p:sp>
        <p:nvSpPr>
          <p:cNvPr id="6" name="TextBox 5">
            <a:extLst>
              <a:ext uri="{FF2B5EF4-FFF2-40B4-BE49-F238E27FC236}">
                <a16:creationId xmlns:a16="http://schemas.microsoft.com/office/drawing/2014/main" id="{A313F3AA-AD00-B4E5-0FB2-697837E40484}"/>
              </a:ext>
            </a:extLst>
          </p:cNvPr>
          <p:cNvSpPr txBox="1"/>
          <p:nvPr/>
        </p:nvSpPr>
        <p:spPr>
          <a:xfrm>
            <a:off x="2055848" y="5269101"/>
            <a:ext cx="6393097" cy="553998"/>
          </a:xfrm>
          <a:prstGeom prst="rect">
            <a:avLst/>
          </a:prstGeom>
          <a:noFill/>
        </p:spPr>
        <p:txBody>
          <a:bodyPr wrap="none" rtlCol="0">
            <a:spAutoFit/>
          </a:bodyPr>
          <a:lstStyle/>
          <a:p>
            <a:r>
              <a:rPr lang="en-US" sz="1200" i="1" dirty="0" err="1">
                <a:solidFill>
                  <a:schemeClr val="bg1">
                    <a:lumMod val="95000"/>
                  </a:schemeClr>
                </a:solidFill>
              </a:rPr>
              <a:t>Standardised</a:t>
            </a:r>
            <a:r>
              <a:rPr lang="en-US" sz="1200" i="1" dirty="0">
                <a:solidFill>
                  <a:schemeClr val="bg1">
                    <a:lumMod val="95000"/>
                  </a:schemeClr>
                </a:solidFill>
              </a:rPr>
              <a:t> prices in the falling, rising and mixed groups (the red line is the cluster mean).</a:t>
            </a:r>
            <a:endParaRPr lang="en-US" sz="1200" dirty="0">
              <a:solidFill>
                <a:schemeClr val="bg1">
                  <a:lumMod val="95000"/>
                </a:schemeClr>
              </a:solidFill>
            </a:endParaRPr>
          </a:p>
          <a:p>
            <a:endParaRPr lang="en-IN" dirty="0"/>
          </a:p>
        </p:txBody>
      </p:sp>
      <p:sp>
        <p:nvSpPr>
          <p:cNvPr id="8" name="TextBox 7">
            <a:extLst>
              <a:ext uri="{FF2B5EF4-FFF2-40B4-BE49-F238E27FC236}">
                <a16:creationId xmlns:a16="http://schemas.microsoft.com/office/drawing/2014/main" id="{73B11F63-393C-1DE2-6647-289B3792485B}"/>
              </a:ext>
            </a:extLst>
          </p:cNvPr>
          <p:cNvSpPr txBox="1"/>
          <p:nvPr/>
        </p:nvSpPr>
        <p:spPr>
          <a:xfrm>
            <a:off x="542456" y="5692080"/>
            <a:ext cx="8702623" cy="1031051"/>
          </a:xfrm>
          <a:prstGeom prst="rect">
            <a:avLst/>
          </a:prstGeom>
          <a:noFill/>
        </p:spPr>
        <p:txBody>
          <a:bodyPr wrap="square">
            <a:spAutoFit/>
          </a:bodyPr>
          <a:lstStyle/>
          <a:p>
            <a:pPr marL="0" indent="0">
              <a:spcAft>
                <a:spcPts val="300"/>
              </a:spcAft>
              <a:buNone/>
            </a:pPr>
            <a:r>
              <a:rPr lang="en-US" sz="1400" b="1" dirty="0">
                <a:solidFill>
                  <a:schemeClr val="bg1">
                    <a:lumMod val="95000"/>
                  </a:schemeClr>
                </a:solidFill>
              </a:rPr>
              <a:t>Cluster 0 (falling, 47 stocks): </a:t>
            </a:r>
            <a:r>
              <a:rPr lang="en-US" sz="1400" dirty="0">
                <a:solidFill>
                  <a:schemeClr val="bg1">
                    <a:lumMod val="95000"/>
                  </a:schemeClr>
                </a:solidFill>
              </a:rPr>
              <a:t>Aston Martin, Ocado, WH Smith and Unite Group.</a:t>
            </a:r>
          </a:p>
          <a:p>
            <a:pPr marL="0" indent="0">
              <a:spcAft>
                <a:spcPts val="300"/>
              </a:spcAft>
              <a:buNone/>
            </a:pPr>
            <a:r>
              <a:rPr lang="en-US" sz="1400" b="1" dirty="0">
                <a:solidFill>
                  <a:schemeClr val="bg1">
                    <a:lumMod val="95000"/>
                  </a:schemeClr>
                </a:solidFill>
              </a:rPr>
              <a:t>Cluster 1 (rising, 79 stocks): </a:t>
            </a:r>
            <a:r>
              <a:rPr lang="en-US" sz="1400" dirty="0">
                <a:solidFill>
                  <a:schemeClr val="bg1">
                    <a:lumMod val="95000"/>
                  </a:schemeClr>
                </a:solidFill>
              </a:rPr>
              <a:t>AJ Bell, JPMorgan Global Growth &amp; Income, Serco and Plus500.</a:t>
            </a:r>
          </a:p>
          <a:p>
            <a:pPr marL="0" indent="0">
              <a:spcAft>
                <a:spcPts val="300"/>
              </a:spcAft>
              <a:buNone/>
            </a:pPr>
            <a:r>
              <a:rPr lang="en-US" sz="1400" b="1" dirty="0">
                <a:solidFill>
                  <a:schemeClr val="bg1">
                    <a:lumMod val="95000"/>
                  </a:schemeClr>
                </a:solidFill>
              </a:rPr>
              <a:t>Cluster 2 (mixed, 115 stocks): </a:t>
            </a:r>
            <a:r>
              <a:rPr lang="en-US" sz="1400" dirty="0">
                <a:solidFill>
                  <a:schemeClr val="bg1">
                    <a:lumMod val="95000"/>
                  </a:schemeClr>
                </a:solidFill>
              </a:rPr>
              <a:t>Spire Healthcare, BlackRock World Mining Trust, easyJet and Frasers Group.</a:t>
            </a:r>
          </a:p>
        </p:txBody>
      </p:sp>
    </p:spTree>
    <p:extLst>
      <p:ext uri="{BB962C8B-B14F-4D97-AF65-F5344CB8AC3E}">
        <p14:creationId xmlns:p14="http://schemas.microsoft.com/office/powerpoint/2010/main" val="8373439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97E39-508C-B3B2-0B3D-C68B2BFDA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AA9F581-C8A3-0667-5CBE-55AE11362683}"/>
              </a:ext>
            </a:extLst>
          </p:cNvPr>
          <p:cNvSpPr txBox="1"/>
          <p:nvPr/>
        </p:nvSpPr>
        <p:spPr>
          <a:xfrm>
            <a:off x="539552" y="1412776"/>
            <a:ext cx="6513417" cy="400110"/>
          </a:xfrm>
          <a:prstGeom prst="rect">
            <a:avLst/>
          </a:prstGeom>
          <a:noFill/>
        </p:spPr>
        <p:txBody>
          <a:bodyPr wrap="square">
            <a:spAutoFit/>
          </a:bodyPr>
          <a:lstStyle/>
          <a:p>
            <a:r>
              <a:rPr lang="en-US" sz="2000" b="1" dirty="0">
                <a:solidFill>
                  <a:schemeClr val="bg1">
                    <a:lumMod val="95000"/>
                  </a:schemeClr>
                </a:solidFill>
              </a:rPr>
              <a:t>GMM consensus: chosen k = 3 against all k</a:t>
            </a:r>
            <a:endParaRPr lang="en-IN" sz="2000" dirty="0">
              <a:solidFill>
                <a:schemeClr val="bg1">
                  <a:lumMod val="95000"/>
                </a:schemeClr>
              </a:solidFill>
            </a:endParaRPr>
          </a:p>
        </p:txBody>
      </p:sp>
      <p:sp>
        <p:nvSpPr>
          <p:cNvPr id="4" name="Text 0">
            <a:extLst>
              <a:ext uri="{FF2B5EF4-FFF2-40B4-BE49-F238E27FC236}">
                <a16:creationId xmlns:a16="http://schemas.microsoft.com/office/drawing/2014/main" id="{AF5D61DE-E10D-E60B-0B3D-5D06B2CEFCD1}"/>
              </a:ext>
            </a:extLst>
          </p:cNvPr>
          <p:cNvSpPr txBox="1">
            <a:spLocks/>
          </p:cNvSpPr>
          <p:nvPr/>
        </p:nvSpPr>
        <p:spPr>
          <a:xfrm>
            <a:off x="683568" y="1550811"/>
            <a:ext cx="8229600" cy="685800"/>
          </a:xfrm>
          <a:prstGeom prst="rect">
            <a:avLst/>
          </a:prstGeom>
          <a:noFill/>
          <a:ln/>
        </p:spPr>
        <p:txBody>
          <a:bodyPr wrap="square" lIns="0" tIns="0" rIns="0" bIns="0" rtlCol="0" anchor="ctr"/>
          <a:lstStyle>
            <a:lvl1pPr algn="l" rtl="0" fontAlgn="base">
              <a:spcBef>
                <a:spcPct val="0"/>
              </a:spcBef>
              <a:spcAft>
                <a:spcPct val="0"/>
              </a:spcAft>
              <a:defRPr sz="3200" b="1" kern="1200">
                <a:solidFill>
                  <a:schemeClr val="bg1"/>
                </a:solidFill>
                <a:latin typeface="Arial" pitchFamily="34" charset="0"/>
                <a:ea typeface="+mj-ea"/>
                <a:cs typeface="Arial" pitchFamily="34" charset="0"/>
              </a:defRPr>
            </a:lvl1pPr>
            <a:lvl2pPr algn="ctr" rtl="0" fontAlgn="base">
              <a:spcBef>
                <a:spcPct val="0"/>
              </a:spcBef>
              <a:spcAft>
                <a:spcPct val="0"/>
              </a:spcAft>
              <a:defRPr sz="4400">
                <a:solidFill>
                  <a:schemeClr val="tx1"/>
                </a:solidFill>
                <a:latin typeface="Calibri" pitchFamily="34" charset="0"/>
              </a:defRPr>
            </a:lvl2pPr>
            <a:lvl3pPr algn="ctr" rtl="0" fontAlgn="base">
              <a:spcBef>
                <a:spcPct val="0"/>
              </a:spcBef>
              <a:spcAft>
                <a:spcPct val="0"/>
              </a:spcAft>
              <a:defRPr sz="4400">
                <a:solidFill>
                  <a:schemeClr val="tx1"/>
                </a:solidFill>
                <a:latin typeface="Calibri" pitchFamily="34" charset="0"/>
              </a:defRPr>
            </a:lvl3pPr>
            <a:lvl4pPr algn="ctr" rtl="0" fontAlgn="base">
              <a:spcBef>
                <a:spcPct val="0"/>
              </a:spcBef>
              <a:spcAft>
                <a:spcPct val="0"/>
              </a:spcAft>
              <a:defRPr sz="4400">
                <a:solidFill>
                  <a:schemeClr val="tx1"/>
                </a:solidFill>
                <a:latin typeface="Calibri" pitchFamily="34" charset="0"/>
              </a:defRPr>
            </a:lvl4pPr>
            <a:lvl5pPr algn="ctr" rtl="0" fontAlgn="base">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endParaRPr lang="en-US" sz="1800" dirty="0"/>
          </a:p>
        </p:txBody>
      </p:sp>
      <p:pic>
        <p:nvPicPr>
          <p:cNvPr id="5" name="Image 0" descr="Consensus matrices for the diagonal GMM, k = 2 to 8">
            <a:extLst>
              <a:ext uri="{FF2B5EF4-FFF2-40B4-BE49-F238E27FC236}">
                <a16:creationId xmlns:a16="http://schemas.microsoft.com/office/drawing/2014/main" id="{B4B7A339-C6DC-1E3A-5C32-6C0AB95CAE8B}"/>
              </a:ext>
            </a:extLst>
          </p:cNvPr>
          <p:cNvPicPr>
            <a:picLocks noChangeAspect="1"/>
          </p:cNvPicPr>
          <p:nvPr/>
        </p:nvPicPr>
        <p:blipFill>
          <a:blip r:embed="rId2"/>
          <a:stretch>
            <a:fillRect/>
          </a:stretch>
        </p:blipFill>
        <p:spPr>
          <a:xfrm>
            <a:off x="683568" y="1950921"/>
            <a:ext cx="3672408" cy="3710327"/>
          </a:xfrm>
          <a:prstGeom prst="rect">
            <a:avLst/>
          </a:prstGeom>
        </p:spPr>
      </p:pic>
      <p:sp>
        <p:nvSpPr>
          <p:cNvPr id="11" name="TextBox 10">
            <a:extLst>
              <a:ext uri="{FF2B5EF4-FFF2-40B4-BE49-F238E27FC236}">
                <a16:creationId xmlns:a16="http://schemas.microsoft.com/office/drawing/2014/main" id="{70A57EB8-347D-0730-F545-5FD7E2467798}"/>
              </a:ext>
            </a:extLst>
          </p:cNvPr>
          <p:cNvSpPr txBox="1"/>
          <p:nvPr/>
        </p:nvSpPr>
        <p:spPr>
          <a:xfrm>
            <a:off x="539552" y="5677689"/>
            <a:ext cx="3888432" cy="738664"/>
          </a:xfrm>
          <a:prstGeom prst="rect">
            <a:avLst/>
          </a:prstGeom>
          <a:noFill/>
        </p:spPr>
        <p:txBody>
          <a:bodyPr wrap="square" rtlCol="0">
            <a:spAutoFit/>
          </a:bodyPr>
          <a:lstStyle/>
          <a:p>
            <a:r>
              <a:rPr lang="en-US" sz="1200" i="1" dirty="0">
                <a:solidFill>
                  <a:schemeClr val="bg1">
                    <a:lumMod val="95000"/>
                  </a:schemeClr>
                </a:solidFill>
              </a:rPr>
              <a:t>All values of k from 2 to 10 with DTW: the blocks blur as k grows.</a:t>
            </a:r>
            <a:endParaRPr lang="en-US" sz="1200" dirty="0">
              <a:solidFill>
                <a:schemeClr val="bg1">
                  <a:lumMod val="95000"/>
                </a:schemeClr>
              </a:solidFill>
            </a:endParaRPr>
          </a:p>
          <a:p>
            <a:endParaRPr lang="en-IN" dirty="0"/>
          </a:p>
        </p:txBody>
      </p:sp>
      <p:pic>
        <p:nvPicPr>
          <p:cNvPr id="13" name="Image 1" descr="Consensus matrix at the chosen k">
            <a:extLst>
              <a:ext uri="{FF2B5EF4-FFF2-40B4-BE49-F238E27FC236}">
                <a16:creationId xmlns:a16="http://schemas.microsoft.com/office/drawing/2014/main" id="{04EFA4CD-644B-A036-04EB-644DF6AB7CD5}"/>
              </a:ext>
            </a:extLst>
          </p:cNvPr>
          <p:cNvPicPr>
            <a:picLocks noChangeAspect="1"/>
          </p:cNvPicPr>
          <p:nvPr/>
        </p:nvPicPr>
        <p:blipFill>
          <a:blip r:embed="rId3"/>
          <a:stretch>
            <a:fillRect/>
          </a:stretch>
        </p:blipFill>
        <p:spPr>
          <a:xfrm>
            <a:off x="5096314" y="1950921"/>
            <a:ext cx="3960869" cy="3710327"/>
          </a:xfrm>
          <a:prstGeom prst="rect">
            <a:avLst/>
          </a:prstGeom>
        </p:spPr>
      </p:pic>
      <p:sp>
        <p:nvSpPr>
          <p:cNvPr id="14" name="TextBox 13">
            <a:extLst>
              <a:ext uri="{FF2B5EF4-FFF2-40B4-BE49-F238E27FC236}">
                <a16:creationId xmlns:a16="http://schemas.microsoft.com/office/drawing/2014/main" id="{D815BDCA-320C-62F0-56D4-4C30F65B6ADE}"/>
              </a:ext>
            </a:extLst>
          </p:cNvPr>
          <p:cNvSpPr txBox="1"/>
          <p:nvPr/>
        </p:nvSpPr>
        <p:spPr>
          <a:xfrm>
            <a:off x="5070073" y="5754633"/>
            <a:ext cx="2392001" cy="553998"/>
          </a:xfrm>
          <a:prstGeom prst="rect">
            <a:avLst/>
          </a:prstGeom>
          <a:noFill/>
        </p:spPr>
        <p:txBody>
          <a:bodyPr wrap="none" rtlCol="0">
            <a:spAutoFit/>
          </a:bodyPr>
          <a:lstStyle/>
          <a:p>
            <a:r>
              <a:rPr lang="en-US" sz="1200" i="1" dirty="0">
                <a:solidFill>
                  <a:schemeClr val="bg1">
                    <a:lumMod val="95000"/>
                  </a:schemeClr>
                </a:solidFill>
              </a:rPr>
              <a:t>Chosen k = 3: three dark blocks.</a:t>
            </a:r>
            <a:endParaRPr lang="en-US" sz="1200" dirty="0">
              <a:solidFill>
                <a:schemeClr val="bg1">
                  <a:lumMod val="95000"/>
                </a:schemeClr>
              </a:solidFill>
            </a:endParaRPr>
          </a:p>
          <a:p>
            <a:endParaRPr lang="en-IN" dirty="0"/>
          </a:p>
        </p:txBody>
      </p:sp>
      <p:sp>
        <p:nvSpPr>
          <p:cNvPr id="16" name="TextBox 15">
            <a:extLst>
              <a:ext uri="{FF2B5EF4-FFF2-40B4-BE49-F238E27FC236}">
                <a16:creationId xmlns:a16="http://schemas.microsoft.com/office/drawing/2014/main" id="{EAB887BF-A68F-851E-C94D-FE3905726A83}"/>
              </a:ext>
            </a:extLst>
          </p:cNvPr>
          <p:cNvSpPr txBox="1"/>
          <p:nvPr/>
        </p:nvSpPr>
        <p:spPr>
          <a:xfrm>
            <a:off x="1331640" y="6217350"/>
            <a:ext cx="7920880" cy="523220"/>
          </a:xfrm>
          <a:prstGeom prst="rect">
            <a:avLst/>
          </a:prstGeom>
          <a:noFill/>
        </p:spPr>
        <p:txBody>
          <a:bodyPr wrap="square">
            <a:spAutoFit/>
          </a:bodyPr>
          <a:lstStyle/>
          <a:p>
            <a:r>
              <a:rPr lang="en-US" sz="1400" b="1" dirty="0">
                <a:solidFill>
                  <a:schemeClr val="bg1">
                    <a:lumMod val="95000"/>
                  </a:schemeClr>
                </a:solidFill>
              </a:rPr>
              <a:t>Conclusion. </a:t>
            </a:r>
            <a:r>
              <a:rPr lang="en-US" sz="1400" dirty="0">
                <a:solidFill>
                  <a:schemeClr val="bg1">
                    <a:lumMod val="95000"/>
                  </a:schemeClr>
                </a:solidFill>
              </a:rPr>
              <a:t>At k = 3 the cluster consensus is 0.989, 0.981 and 0.949. The model with k = 2 is slightly more stable, but BIC chooses k = 3.</a:t>
            </a:r>
            <a:endParaRPr lang="en-IN" sz="1400" dirty="0">
              <a:solidFill>
                <a:schemeClr val="bg1">
                  <a:lumMod val="95000"/>
                </a:schemeClr>
              </a:solidFill>
            </a:endParaRPr>
          </a:p>
        </p:txBody>
      </p:sp>
    </p:spTree>
    <p:extLst>
      <p:ext uri="{BB962C8B-B14F-4D97-AF65-F5344CB8AC3E}">
        <p14:creationId xmlns:p14="http://schemas.microsoft.com/office/powerpoint/2010/main" val="2325006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E3DEC-4442-27AA-29BF-451F398D611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BD488E6-2ED3-4FF7-D685-366944FB47B9}"/>
              </a:ext>
            </a:extLst>
          </p:cNvPr>
          <p:cNvSpPr txBox="1"/>
          <p:nvPr/>
        </p:nvSpPr>
        <p:spPr>
          <a:xfrm>
            <a:off x="467544" y="1123133"/>
            <a:ext cx="6221805" cy="461665"/>
          </a:xfrm>
          <a:prstGeom prst="rect">
            <a:avLst/>
          </a:prstGeom>
          <a:noFill/>
        </p:spPr>
        <p:txBody>
          <a:bodyPr wrap="square">
            <a:spAutoFit/>
          </a:bodyPr>
          <a:lstStyle/>
          <a:p>
            <a:r>
              <a:rPr lang="en-US" sz="2400" b="1" dirty="0">
                <a:solidFill>
                  <a:schemeClr val="bg1">
                    <a:lumMod val="95000"/>
                  </a:schemeClr>
                </a:solidFill>
              </a:rPr>
              <a:t>Spire Healthcare: grouped as falling.</a:t>
            </a:r>
            <a:endParaRPr lang="en-IN" sz="2000" dirty="0">
              <a:solidFill>
                <a:schemeClr val="bg1">
                  <a:lumMod val="95000"/>
                </a:schemeClr>
              </a:solidFill>
            </a:endParaRPr>
          </a:p>
        </p:txBody>
      </p:sp>
      <p:sp>
        <p:nvSpPr>
          <p:cNvPr id="6" name="TextBox 5">
            <a:extLst>
              <a:ext uri="{FF2B5EF4-FFF2-40B4-BE49-F238E27FC236}">
                <a16:creationId xmlns:a16="http://schemas.microsoft.com/office/drawing/2014/main" id="{45CE8A20-3084-0B1E-0D25-9D79E87D5A26}"/>
              </a:ext>
            </a:extLst>
          </p:cNvPr>
          <p:cNvSpPr txBox="1"/>
          <p:nvPr/>
        </p:nvSpPr>
        <p:spPr>
          <a:xfrm>
            <a:off x="1465371" y="1798604"/>
            <a:ext cx="3574193" cy="615553"/>
          </a:xfrm>
          <a:prstGeom prst="rect">
            <a:avLst/>
          </a:prstGeom>
          <a:noFill/>
        </p:spPr>
        <p:txBody>
          <a:bodyPr wrap="square" rtlCol="0">
            <a:spAutoFit/>
          </a:bodyPr>
          <a:lstStyle/>
          <a:p>
            <a:r>
              <a:rPr lang="en-US" sz="1600" b="1" dirty="0">
                <a:solidFill>
                  <a:schemeClr val="bg1">
                    <a:lumMod val="95000"/>
                  </a:schemeClr>
                </a:solidFill>
              </a:rPr>
              <a:t>Spire Healthcare Group (SPI.L)</a:t>
            </a:r>
            <a:endParaRPr lang="en-US" sz="1600" dirty="0">
              <a:solidFill>
                <a:schemeClr val="bg1">
                  <a:lumMod val="95000"/>
                </a:schemeClr>
              </a:solidFill>
            </a:endParaRPr>
          </a:p>
          <a:p>
            <a:endParaRPr lang="en-IN" dirty="0"/>
          </a:p>
        </p:txBody>
      </p:sp>
      <p:pic>
        <p:nvPicPr>
          <p:cNvPr id="12" name="Picture 11">
            <a:extLst>
              <a:ext uri="{FF2B5EF4-FFF2-40B4-BE49-F238E27FC236}">
                <a16:creationId xmlns:a16="http://schemas.microsoft.com/office/drawing/2014/main" id="{1807578E-6FAD-D7BD-1349-52E954529C76}"/>
              </a:ext>
            </a:extLst>
          </p:cNvPr>
          <p:cNvPicPr>
            <a:picLocks noChangeAspect="1"/>
          </p:cNvPicPr>
          <p:nvPr/>
        </p:nvPicPr>
        <p:blipFill>
          <a:blip r:embed="rId2"/>
          <a:stretch>
            <a:fillRect/>
          </a:stretch>
        </p:blipFill>
        <p:spPr>
          <a:xfrm>
            <a:off x="603947" y="1772816"/>
            <a:ext cx="725721" cy="537571"/>
          </a:xfrm>
          <a:prstGeom prst="rect">
            <a:avLst/>
          </a:prstGeom>
        </p:spPr>
      </p:pic>
      <p:graphicFrame>
        <p:nvGraphicFramePr>
          <p:cNvPr id="14" name="Table 0">
            <a:extLst>
              <a:ext uri="{FF2B5EF4-FFF2-40B4-BE49-F238E27FC236}">
                <a16:creationId xmlns:a16="http://schemas.microsoft.com/office/drawing/2014/main" id="{B4A4F623-F0CA-3EBB-7185-9F5D51BC13A9}"/>
              </a:ext>
            </a:extLst>
          </p:cNvPr>
          <p:cNvGraphicFramePr>
            <a:graphicFrameLocks noGrp="1"/>
          </p:cNvGraphicFramePr>
          <p:nvPr>
            <p:extLst>
              <p:ext uri="{D42A27DB-BD31-4B8C-83A1-F6EECF244321}">
                <p14:modId xmlns:p14="http://schemas.microsoft.com/office/powerpoint/2010/main" val="3478290322"/>
              </p:ext>
            </p:extLst>
          </p:nvPr>
        </p:nvGraphicFramePr>
        <p:xfrm>
          <a:off x="649592" y="2605896"/>
          <a:ext cx="4101183" cy="1615192"/>
        </p:xfrm>
        <a:graphic>
          <a:graphicData uri="http://schemas.openxmlformats.org/drawingml/2006/table">
            <a:tbl>
              <a:tblPr>
                <a:tableStyleId>{E8034E78-7F5D-4C2E-B375-FC64B27BC917}</a:tableStyleId>
              </a:tblPr>
              <a:tblGrid>
                <a:gridCol w="1857568">
                  <a:extLst>
                    <a:ext uri="{9D8B030D-6E8A-4147-A177-3AD203B41FA5}">
                      <a16:colId xmlns:a16="http://schemas.microsoft.com/office/drawing/2014/main" val="20000"/>
                    </a:ext>
                  </a:extLst>
                </a:gridCol>
                <a:gridCol w="2243615">
                  <a:extLst>
                    <a:ext uri="{9D8B030D-6E8A-4147-A177-3AD203B41FA5}">
                      <a16:colId xmlns:a16="http://schemas.microsoft.com/office/drawing/2014/main" val="20001"/>
                    </a:ext>
                  </a:extLst>
                </a:gridCol>
              </a:tblGrid>
              <a:tr h="403798">
                <a:tc>
                  <a:txBody>
                    <a:bodyPr/>
                    <a:lstStyle/>
                    <a:p>
                      <a:pPr marL="0" indent="0">
                        <a:buNone/>
                      </a:pPr>
                      <a:r>
                        <a:rPr lang="en-US" sz="1200" b="1" dirty="0">
                          <a:solidFill>
                            <a:schemeClr val="tx1"/>
                          </a:solidFill>
                        </a:rPr>
                        <a:t>Method</a:t>
                      </a:r>
                      <a:endParaRPr lang="en-US" sz="1200" dirty="0">
                        <a:solidFill>
                          <a:schemeClr val="tx1"/>
                        </a:solidFill>
                      </a:endParaRPr>
                    </a:p>
                  </a:txBody>
                  <a:tcPr marL="38100" marR="38100" marT="38100" marB="38100" anchor="ctr"/>
                </a:tc>
                <a:tc>
                  <a:txBody>
                    <a:bodyPr/>
                    <a:lstStyle/>
                    <a:p>
                      <a:pPr marL="0" indent="0">
                        <a:buNone/>
                      </a:pPr>
                      <a:r>
                        <a:rPr lang="en-US" sz="1200" b="1" dirty="0">
                          <a:solidFill>
                            <a:schemeClr val="tx1"/>
                          </a:solidFill>
                        </a:rPr>
                        <a:t>Group for Spire</a:t>
                      </a:r>
                      <a:endParaRPr lang="en-US" sz="1200" dirty="0">
                        <a:solidFill>
                          <a:schemeClr val="tx1"/>
                        </a:solidFill>
                      </a:endParaRPr>
                    </a:p>
                  </a:txBody>
                  <a:tcPr marL="38100" marR="38100" marT="38100" marB="38100" anchor="ctr"/>
                </a:tc>
                <a:extLst>
                  <a:ext uri="{0D108BD9-81ED-4DB2-BD59-A6C34878D82A}">
                    <a16:rowId xmlns:a16="http://schemas.microsoft.com/office/drawing/2014/main" val="10000"/>
                  </a:ext>
                </a:extLst>
              </a:tr>
              <a:tr h="403798">
                <a:tc>
                  <a:txBody>
                    <a:bodyPr/>
                    <a:lstStyle/>
                    <a:p>
                      <a:pPr marL="0" indent="0">
                        <a:buNone/>
                      </a:pPr>
                      <a:r>
                        <a:rPr lang="en-US" sz="1200" dirty="0">
                          <a:solidFill>
                            <a:srgbClr val="111111"/>
                          </a:solidFill>
                        </a:rPr>
                        <a:t>K-Means</a:t>
                      </a:r>
                      <a:endParaRPr lang="en-US" sz="1200" dirty="0"/>
                    </a:p>
                  </a:txBody>
                  <a:tcPr marL="38100" marR="38100" marT="38100" marB="38100" anchor="ctr"/>
                </a:tc>
                <a:tc>
                  <a:txBody>
                    <a:bodyPr/>
                    <a:lstStyle/>
                    <a:p>
                      <a:pPr marL="0" indent="0">
                        <a:buNone/>
                      </a:pPr>
                      <a:r>
                        <a:rPr lang="en-US" sz="1200" dirty="0">
                          <a:solidFill>
                            <a:srgbClr val="111111"/>
                          </a:solidFill>
                        </a:rPr>
                        <a:t>Falling</a:t>
                      </a:r>
                      <a:endParaRPr lang="en-US" sz="1200" dirty="0"/>
                    </a:p>
                  </a:txBody>
                  <a:tcPr marL="38100" marR="38100" marT="38100" marB="38100" anchor="ctr"/>
                </a:tc>
                <a:extLst>
                  <a:ext uri="{0D108BD9-81ED-4DB2-BD59-A6C34878D82A}">
                    <a16:rowId xmlns:a16="http://schemas.microsoft.com/office/drawing/2014/main" val="10001"/>
                  </a:ext>
                </a:extLst>
              </a:tr>
              <a:tr h="403798">
                <a:tc>
                  <a:txBody>
                    <a:bodyPr/>
                    <a:lstStyle/>
                    <a:p>
                      <a:pPr marL="0" indent="0">
                        <a:buNone/>
                      </a:pPr>
                      <a:r>
                        <a:rPr lang="en-US" sz="1200" dirty="0">
                          <a:solidFill>
                            <a:srgbClr val="111111"/>
                          </a:solidFill>
                        </a:rPr>
                        <a:t>K-Medoids with DTW</a:t>
                      </a:r>
                      <a:endParaRPr lang="en-US" sz="1200" dirty="0"/>
                    </a:p>
                  </a:txBody>
                  <a:tcPr marL="38100" marR="38100" marT="38100" marB="38100" anchor="ctr"/>
                </a:tc>
                <a:tc>
                  <a:txBody>
                    <a:bodyPr/>
                    <a:lstStyle/>
                    <a:p>
                      <a:pPr marL="0" indent="0">
                        <a:buNone/>
                      </a:pPr>
                      <a:r>
                        <a:rPr lang="en-US" sz="1200" dirty="0">
                          <a:solidFill>
                            <a:srgbClr val="111111"/>
                          </a:solidFill>
                        </a:rPr>
                        <a:t>Falling</a:t>
                      </a:r>
                      <a:endParaRPr lang="en-US" sz="1200" dirty="0"/>
                    </a:p>
                  </a:txBody>
                  <a:tcPr marL="38100" marR="38100" marT="38100" marB="38100" anchor="ctr"/>
                </a:tc>
                <a:extLst>
                  <a:ext uri="{0D108BD9-81ED-4DB2-BD59-A6C34878D82A}">
                    <a16:rowId xmlns:a16="http://schemas.microsoft.com/office/drawing/2014/main" val="10002"/>
                  </a:ext>
                </a:extLst>
              </a:tr>
              <a:tr h="403798">
                <a:tc>
                  <a:txBody>
                    <a:bodyPr/>
                    <a:lstStyle/>
                    <a:p>
                      <a:pPr marL="0" indent="0">
                        <a:buNone/>
                      </a:pPr>
                      <a:r>
                        <a:rPr lang="en-US" sz="1200" b="1" dirty="0">
                          <a:solidFill>
                            <a:srgbClr val="7030A0"/>
                          </a:solidFill>
                        </a:rPr>
                        <a:t>GMM</a:t>
                      </a:r>
                      <a:endParaRPr lang="en-US" sz="1200" dirty="0">
                        <a:solidFill>
                          <a:srgbClr val="7030A0"/>
                        </a:solidFill>
                      </a:endParaRPr>
                    </a:p>
                  </a:txBody>
                  <a:tcPr marL="38100" marR="38100" marT="38100" marB="38100" anchor="ctr"/>
                </a:tc>
                <a:tc>
                  <a:txBody>
                    <a:bodyPr/>
                    <a:lstStyle/>
                    <a:p>
                      <a:pPr marL="0" indent="0">
                        <a:buNone/>
                      </a:pPr>
                      <a:r>
                        <a:rPr lang="en-US" sz="1200" b="1" dirty="0">
                          <a:solidFill>
                            <a:srgbClr val="7030A0"/>
                          </a:solidFill>
                        </a:rPr>
                        <a:t>Mixed</a:t>
                      </a:r>
                      <a:endParaRPr lang="en-US" sz="1200" dirty="0">
                        <a:solidFill>
                          <a:srgbClr val="7030A0"/>
                        </a:solidFill>
                      </a:endParaRPr>
                    </a:p>
                  </a:txBody>
                  <a:tcPr marL="38100" marR="38100" marT="38100" marB="38100" anchor="ctr"/>
                </a:tc>
                <a:extLst>
                  <a:ext uri="{0D108BD9-81ED-4DB2-BD59-A6C34878D82A}">
                    <a16:rowId xmlns:a16="http://schemas.microsoft.com/office/drawing/2014/main" val="10003"/>
                  </a:ext>
                </a:extLst>
              </a:tr>
            </a:tbl>
          </a:graphicData>
        </a:graphic>
      </p:graphicFrame>
      <p:sp>
        <p:nvSpPr>
          <p:cNvPr id="16" name="TextBox 15">
            <a:extLst>
              <a:ext uri="{FF2B5EF4-FFF2-40B4-BE49-F238E27FC236}">
                <a16:creationId xmlns:a16="http://schemas.microsoft.com/office/drawing/2014/main" id="{BBAA9D50-98B8-B737-0539-3EF9B116F916}"/>
              </a:ext>
            </a:extLst>
          </p:cNvPr>
          <p:cNvSpPr txBox="1"/>
          <p:nvPr/>
        </p:nvSpPr>
        <p:spPr>
          <a:xfrm>
            <a:off x="603947" y="4462670"/>
            <a:ext cx="4435617" cy="1754326"/>
          </a:xfrm>
          <a:prstGeom prst="rect">
            <a:avLst/>
          </a:prstGeom>
          <a:noFill/>
        </p:spPr>
        <p:txBody>
          <a:bodyPr wrap="square">
            <a:spAutoFit/>
          </a:bodyPr>
          <a:lstStyle/>
          <a:p>
            <a:r>
              <a:rPr lang="en-IN" b="1" dirty="0">
                <a:solidFill>
                  <a:schemeClr val="bg1"/>
                </a:solidFill>
              </a:rPr>
              <a:t>Price trend</a:t>
            </a:r>
            <a:r>
              <a:rPr lang="en-IN" dirty="0">
                <a:solidFill>
                  <a:schemeClr val="bg1"/>
                </a:solidFill>
              </a:rPr>
              <a:t>: K-Means and K-Medoids classify Spire as falling, while GMM places it in a mixed group, potentially capturing more nuance after the 2026 takeover and price rise. However, one example does not prove GMM is better.</a:t>
            </a:r>
          </a:p>
        </p:txBody>
      </p:sp>
      <p:pic>
        <p:nvPicPr>
          <p:cNvPr id="4" name="Picture 3">
            <a:extLst>
              <a:ext uri="{FF2B5EF4-FFF2-40B4-BE49-F238E27FC236}">
                <a16:creationId xmlns:a16="http://schemas.microsoft.com/office/drawing/2014/main" id="{0FA77165-1D8E-C051-0BD4-587991FFAA2D}"/>
              </a:ext>
            </a:extLst>
          </p:cNvPr>
          <p:cNvPicPr>
            <a:picLocks noChangeAspect="1"/>
          </p:cNvPicPr>
          <p:nvPr/>
        </p:nvPicPr>
        <p:blipFill>
          <a:blip r:embed="rId3"/>
          <a:stretch>
            <a:fillRect/>
          </a:stretch>
        </p:blipFill>
        <p:spPr>
          <a:xfrm>
            <a:off x="4932040" y="1616774"/>
            <a:ext cx="4101183" cy="5067320"/>
          </a:xfrm>
          <a:prstGeom prst="rect">
            <a:avLst/>
          </a:prstGeom>
        </p:spPr>
      </p:pic>
    </p:spTree>
    <p:extLst>
      <p:ext uri="{BB962C8B-B14F-4D97-AF65-F5344CB8AC3E}">
        <p14:creationId xmlns:p14="http://schemas.microsoft.com/office/powerpoint/2010/main" val="35493647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63821-C348-9CD2-CA61-C8D7604193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178583-6BC3-CC29-CB48-4A8CB185E07D}"/>
              </a:ext>
            </a:extLst>
          </p:cNvPr>
          <p:cNvSpPr txBox="1"/>
          <p:nvPr/>
        </p:nvSpPr>
        <p:spPr>
          <a:xfrm>
            <a:off x="449796" y="1340768"/>
            <a:ext cx="8244408" cy="523220"/>
          </a:xfrm>
          <a:prstGeom prst="rect">
            <a:avLst/>
          </a:prstGeom>
          <a:noFill/>
        </p:spPr>
        <p:txBody>
          <a:bodyPr wrap="square">
            <a:spAutoFit/>
          </a:bodyPr>
          <a:lstStyle/>
          <a:p>
            <a:r>
              <a:rPr lang="en-US" sz="2800" b="1" dirty="0">
                <a:solidFill>
                  <a:schemeClr val="bg1"/>
                </a:solidFill>
              </a:rPr>
              <a:t>More companies across the three methods</a:t>
            </a:r>
            <a:endParaRPr lang="en-IN" sz="2400" dirty="0">
              <a:solidFill>
                <a:schemeClr val="bg1"/>
              </a:solidFill>
            </a:endParaRPr>
          </a:p>
        </p:txBody>
      </p:sp>
      <p:sp>
        <p:nvSpPr>
          <p:cNvPr id="9" name="TextBox 8">
            <a:extLst>
              <a:ext uri="{FF2B5EF4-FFF2-40B4-BE49-F238E27FC236}">
                <a16:creationId xmlns:a16="http://schemas.microsoft.com/office/drawing/2014/main" id="{AA058DBD-CA55-F271-8900-888841553DD7}"/>
              </a:ext>
            </a:extLst>
          </p:cNvPr>
          <p:cNvSpPr txBox="1"/>
          <p:nvPr/>
        </p:nvSpPr>
        <p:spPr>
          <a:xfrm>
            <a:off x="2307055" y="3105136"/>
            <a:ext cx="4614110" cy="369332"/>
          </a:xfrm>
          <a:prstGeom prst="rect">
            <a:avLst/>
          </a:prstGeom>
          <a:noFill/>
        </p:spPr>
        <p:txBody>
          <a:bodyPr wrap="square">
            <a:spAutoFit/>
          </a:bodyPr>
          <a:lstStyle/>
          <a:p>
            <a:endParaRPr lang="en-IN" dirty="0"/>
          </a:p>
        </p:txBody>
      </p:sp>
      <p:graphicFrame>
        <p:nvGraphicFramePr>
          <p:cNvPr id="11" name="Table 1">
            <a:extLst>
              <a:ext uri="{FF2B5EF4-FFF2-40B4-BE49-F238E27FC236}">
                <a16:creationId xmlns:a16="http://schemas.microsoft.com/office/drawing/2014/main" id="{3FEB3A3C-C900-A50A-E7B6-B657825B4F04}"/>
              </a:ext>
            </a:extLst>
          </p:cNvPr>
          <p:cNvGraphicFramePr>
            <a:graphicFrameLocks noGrp="1"/>
          </p:cNvGraphicFramePr>
          <p:nvPr>
            <p:extLst>
              <p:ext uri="{D42A27DB-BD31-4B8C-83A1-F6EECF244321}">
                <p14:modId xmlns:p14="http://schemas.microsoft.com/office/powerpoint/2010/main" val="3871251333"/>
              </p:ext>
            </p:extLst>
          </p:nvPr>
        </p:nvGraphicFramePr>
        <p:xfrm>
          <a:off x="4932040" y="2348880"/>
          <a:ext cx="3636897" cy="3168351"/>
        </p:xfrm>
        <a:graphic>
          <a:graphicData uri="http://schemas.openxmlformats.org/drawingml/2006/table">
            <a:tbl>
              <a:tblPr>
                <a:tableStyleId>{D7AC3CCA-C797-4891-BE02-D94E43425B78}</a:tableStyleId>
              </a:tblPr>
              <a:tblGrid>
                <a:gridCol w="1281180">
                  <a:extLst>
                    <a:ext uri="{9D8B030D-6E8A-4147-A177-3AD203B41FA5}">
                      <a16:colId xmlns:a16="http://schemas.microsoft.com/office/drawing/2014/main" val="20000"/>
                    </a:ext>
                  </a:extLst>
                </a:gridCol>
                <a:gridCol w="785239">
                  <a:extLst>
                    <a:ext uri="{9D8B030D-6E8A-4147-A177-3AD203B41FA5}">
                      <a16:colId xmlns:a16="http://schemas.microsoft.com/office/drawing/2014/main" val="20001"/>
                    </a:ext>
                  </a:extLst>
                </a:gridCol>
                <a:gridCol w="785239">
                  <a:extLst>
                    <a:ext uri="{9D8B030D-6E8A-4147-A177-3AD203B41FA5}">
                      <a16:colId xmlns:a16="http://schemas.microsoft.com/office/drawing/2014/main" val="20002"/>
                    </a:ext>
                  </a:extLst>
                </a:gridCol>
                <a:gridCol w="785239">
                  <a:extLst>
                    <a:ext uri="{9D8B030D-6E8A-4147-A177-3AD203B41FA5}">
                      <a16:colId xmlns:a16="http://schemas.microsoft.com/office/drawing/2014/main" val="20003"/>
                    </a:ext>
                  </a:extLst>
                </a:gridCol>
              </a:tblGrid>
              <a:tr h="352039">
                <a:tc>
                  <a:txBody>
                    <a:bodyPr/>
                    <a:lstStyle/>
                    <a:p>
                      <a:pPr marL="0" indent="0">
                        <a:buNone/>
                      </a:pPr>
                      <a:r>
                        <a:rPr lang="en-US" sz="1100" b="1" dirty="0">
                          <a:solidFill>
                            <a:schemeClr val="tx1"/>
                          </a:solidFill>
                        </a:rPr>
                        <a:t>Company</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K-Means</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K-Medoids</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GMM</a:t>
                      </a:r>
                      <a:endParaRPr lang="en-US" sz="1100" dirty="0">
                        <a:solidFill>
                          <a:schemeClr val="tx1"/>
                        </a:solidFill>
                      </a:endParaRPr>
                    </a:p>
                  </a:txBody>
                  <a:tcPr marL="38100" marR="38100" marT="38100" marB="38100" anchor="ctr"/>
                </a:tc>
                <a:extLst>
                  <a:ext uri="{0D108BD9-81ED-4DB2-BD59-A6C34878D82A}">
                    <a16:rowId xmlns:a16="http://schemas.microsoft.com/office/drawing/2014/main" val="10000"/>
                  </a:ext>
                </a:extLst>
              </a:tr>
              <a:tr h="352039">
                <a:tc>
                  <a:txBody>
                    <a:bodyPr/>
                    <a:lstStyle/>
                    <a:p>
                      <a:pPr marL="0" indent="0">
                        <a:buNone/>
                      </a:pPr>
                      <a:r>
                        <a:rPr lang="en-US" sz="1100" dirty="0">
                          <a:solidFill>
                            <a:srgbClr val="111111"/>
                          </a:solidFill>
                        </a:rPr>
                        <a:t>Serco</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extLst>
                  <a:ext uri="{0D108BD9-81ED-4DB2-BD59-A6C34878D82A}">
                    <a16:rowId xmlns:a16="http://schemas.microsoft.com/office/drawing/2014/main" val="10001"/>
                  </a:ext>
                </a:extLst>
              </a:tr>
              <a:tr h="352039">
                <a:tc>
                  <a:txBody>
                    <a:bodyPr/>
                    <a:lstStyle/>
                    <a:p>
                      <a:pPr marL="0" indent="0">
                        <a:buNone/>
                      </a:pPr>
                      <a:r>
                        <a:rPr lang="en-US" sz="1100" dirty="0">
                          <a:solidFill>
                            <a:srgbClr val="111111"/>
                          </a:solidFill>
                        </a:rPr>
                        <a:t>Currys</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extLst>
                  <a:ext uri="{0D108BD9-81ED-4DB2-BD59-A6C34878D82A}">
                    <a16:rowId xmlns:a16="http://schemas.microsoft.com/office/drawing/2014/main" val="10002"/>
                  </a:ext>
                </a:extLst>
              </a:tr>
              <a:tr h="352039">
                <a:tc>
                  <a:txBody>
                    <a:bodyPr/>
                    <a:lstStyle/>
                    <a:p>
                      <a:pPr marL="0" indent="0">
                        <a:buNone/>
                      </a:pPr>
                      <a:r>
                        <a:rPr lang="en-US" sz="1100" dirty="0">
                          <a:solidFill>
                            <a:srgbClr val="111111"/>
                          </a:solidFill>
                        </a:rPr>
                        <a:t>Cranswick</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extLst>
                  <a:ext uri="{0D108BD9-81ED-4DB2-BD59-A6C34878D82A}">
                    <a16:rowId xmlns:a16="http://schemas.microsoft.com/office/drawing/2014/main" val="10003"/>
                  </a:ext>
                </a:extLst>
              </a:tr>
              <a:tr h="352039">
                <a:tc>
                  <a:txBody>
                    <a:bodyPr/>
                    <a:lstStyle/>
                    <a:p>
                      <a:pPr marL="0" indent="0">
                        <a:buNone/>
                      </a:pPr>
                      <a:r>
                        <a:rPr lang="en-US" sz="1100" dirty="0">
                          <a:solidFill>
                            <a:srgbClr val="111111"/>
                          </a:solidFill>
                        </a:rPr>
                        <a:t>Premier Foods</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extLst>
                  <a:ext uri="{0D108BD9-81ED-4DB2-BD59-A6C34878D82A}">
                    <a16:rowId xmlns:a16="http://schemas.microsoft.com/office/drawing/2014/main" val="10004"/>
                  </a:ext>
                </a:extLst>
              </a:tr>
              <a:tr h="352039">
                <a:tc>
                  <a:txBody>
                    <a:bodyPr/>
                    <a:lstStyle/>
                    <a:p>
                      <a:pPr marL="0" indent="0">
                        <a:buNone/>
                      </a:pPr>
                      <a:r>
                        <a:rPr lang="en-US" sz="1100" dirty="0">
                          <a:solidFill>
                            <a:srgbClr val="111111"/>
                          </a:solidFill>
                        </a:rPr>
                        <a:t>Drax</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5"/>
                  </a:ext>
                </a:extLst>
              </a:tr>
              <a:tr h="352039">
                <a:tc>
                  <a:txBody>
                    <a:bodyPr/>
                    <a:lstStyle/>
                    <a:p>
                      <a:pPr marL="0" indent="0">
                        <a:buNone/>
                      </a:pPr>
                      <a:r>
                        <a:rPr lang="en-US" sz="1100" dirty="0">
                          <a:solidFill>
                            <a:srgbClr val="111111"/>
                          </a:solidFill>
                        </a:rPr>
                        <a:t>Saga</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6"/>
                  </a:ext>
                </a:extLst>
              </a:tr>
              <a:tr h="352039">
                <a:tc>
                  <a:txBody>
                    <a:bodyPr/>
                    <a:lstStyle/>
                    <a:p>
                      <a:pPr marL="0" indent="0">
                        <a:buNone/>
                      </a:pPr>
                      <a:r>
                        <a:rPr lang="en-US" sz="1100" dirty="0">
                          <a:solidFill>
                            <a:srgbClr val="111111"/>
                          </a:solidFill>
                        </a:rPr>
                        <a:t>Man Group</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7"/>
                  </a:ext>
                </a:extLst>
              </a:tr>
              <a:tr h="352039">
                <a:tc>
                  <a:txBody>
                    <a:bodyPr/>
                    <a:lstStyle/>
                    <a:p>
                      <a:pPr marL="0" indent="0">
                        <a:buNone/>
                      </a:pPr>
                      <a:r>
                        <a:rPr lang="en-US" sz="1100" dirty="0">
                          <a:solidFill>
                            <a:srgbClr val="111111"/>
                          </a:solidFill>
                        </a:rPr>
                        <a:t>Johnson Matthey</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chemeClr val="tx1"/>
                          </a:solidFill>
                        </a:rPr>
                        <a:t>Rising</a:t>
                      </a:r>
                      <a:endParaRPr lang="en-US" sz="1100" dirty="0">
                        <a:solidFill>
                          <a:schemeClr val="tx1"/>
                        </a:solidFill>
                      </a:endParaRPr>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8"/>
                  </a:ext>
                </a:extLst>
              </a:tr>
            </a:tbl>
          </a:graphicData>
        </a:graphic>
      </p:graphicFrame>
      <p:graphicFrame>
        <p:nvGraphicFramePr>
          <p:cNvPr id="20" name="Table 0">
            <a:extLst>
              <a:ext uri="{FF2B5EF4-FFF2-40B4-BE49-F238E27FC236}">
                <a16:creationId xmlns:a16="http://schemas.microsoft.com/office/drawing/2014/main" id="{55B5552E-5E4C-7830-8C71-E542D0374D40}"/>
              </a:ext>
            </a:extLst>
          </p:cNvPr>
          <p:cNvGraphicFramePr>
            <a:graphicFrameLocks noGrp="1"/>
          </p:cNvGraphicFramePr>
          <p:nvPr>
            <p:extLst>
              <p:ext uri="{D42A27DB-BD31-4B8C-83A1-F6EECF244321}">
                <p14:modId xmlns:p14="http://schemas.microsoft.com/office/powerpoint/2010/main" val="3994493851"/>
              </p:ext>
            </p:extLst>
          </p:nvPr>
        </p:nvGraphicFramePr>
        <p:xfrm>
          <a:off x="659280" y="2348878"/>
          <a:ext cx="3912720" cy="3168351"/>
        </p:xfrm>
        <a:graphic>
          <a:graphicData uri="http://schemas.openxmlformats.org/drawingml/2006/table">
            <a:tbl>
              <a:tblPr>
                <a:tableStyleId>{D7AC3CCA-C797-4891-BE02-D94E43425B78}</a:tableStyleId>
              </a:tblPr>
              <a:tblGrid>
                <a:gridCol w="1378344">
                  <a:extLst>
                    <a:ext uri="{9D8B030D-6E8A-4147-A177-3AD203B41FA5}">
                      <a16:colId xmlns:a16="http://schemas.microsoft.com/office/drawing/2014/main" val="20000"/>
                    </a:ext>
                  </a:extLst>
                </a:gridCol>
                <a:gridCol w="844792">
                  <a:extLst>
                    <a:ext uri="{9D8B030D-6E8A-4147-A177-3AD203B41FA5}">
                      <a16:colId xmlns:a16="http://schemas.microsoft.com/office/drawing/2014/main" val="20001"/>
                    </a:ext>
                  </a:extLst>
                </a:gridCol>
                <a:gridCol w="844792">
                  <a:extLst>
                    <a:ext uri="{9D8B030D-6E8A-4147-A177-3AD203B41FA5}">
                      <a16:colId xmlns:a16="http://schemas.microsoft.com/office/drawing/2014/main" val="20002"/>
                    </a:ext>
                  </a:extLst>
                </a:gridCol>
                <a:gridCol w="844792">
                  <a:extLst>
                    <a:ext uri="{9D8B030D-6E8A-4147-A177-3AD203B41FA5}">
                      <a16:colId xmlns:a16="http://schemas.microsoft.com/office/drawing/2014/main" val="20003"/>
                    </a:ext>
                  </a:extLst>
                </a:gridCol>
              </a:tblGrid>
              <a:tr h="352039">
                <a:tc>
                  <a:txBody>
                    <a:bodyPr/>
                    <a:lstStyle/>
                    <a:p>
                      <a:pPr marL="0" indent="0">
                        <a:buNone/>
                      </a:pPr>
                      <a:r>
                        <a:rPr lang="en-US" sz="1100" b="1" dirty="0">
                          <a:solidFill>
                            <a:schemeClr val="tx1"/>
                          </a:solidFill>
                        </a:rPr>
                        <a:t>Company</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K-Means</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K-Medoids</a:t>
                      </a:r>
                      <a:endParaRPr lang="en-US" sz="1100" dirty="0">
                        <a:solidFill>
                          <a:schemeClr val="tx1"/>
                        </a:solidFill>
                      </a:endParaRPr>
                    </a:p>
                  </a:txBody>
                  <a:tcPr marL="38100" marR="38100" marT="38100" marB="38100" anchor="ctr"/>
                </a:tc>
                <a:tc>
                  <a:txBody>
                    <a:bodyPr/>
                    <a:lstStyle/>
                    <a:p>
                      <a:pPr marL="0" indent="0" algn="ctr">
                        <a:buNone/>
                      </a:pPr>
                      <a:r>
                        <a:rPr lang="en-US" sz="1100" b="1" dirty="0">
                          <a:solidFill>
                            <a:schemeClr val="tx1"/>
                          </a:solidFill>
                        </a:rPr>
                        <a:t>GMM</a:t>
                      </a:r>
                      <a:endParaRPr lang="en-US" sz="1100" dirty="0">
                        <a:solidFill>
                          <a:schemeClr val="tx1"/>
                        </a:solidFill>
                      </a:endParaRPr>
                    </a:p>
                  </a:txBody>
                  <a:tcPr marL="38100" marR="38100" marT="38100" marB="38100" anchor="ctr"/>
                </a:tc>
                <a:extLst>
                  <a:ext uri="{0D108BD9-81ED-4DB2-BD59-A6C34878D82A}">
                    <a16:rowId xmlns:a16="http://schemas.microsoft.com/office/drawing/2014/main" val="10000"/>
                  </a:ext>
                </a:extLst>
              </a:tr>
              <a:tr h="352039">
                <a:tc>
                  <a:txBody>
                    <a:bodyPr/>
                    <a:lstStyle/>
                    <a:p>
                      <a:pPr marL="0" indent="0">
                        <a:buNone/>
                      </a:pPr>
                      <a:r>
                        <a:rPr lang="en-US" sz="1100" dirty="0">
                          <a:solidFill>
                            <a:srgbClr val="111111"/>
                          </a:solidFill>
                        </a:rPr>
                        <a:t>Taylor Wimpey</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1"/>
                  </a:ext>
                </a:extLst>
              </a:tr>
              <a:tr h="352039">
                <a:tc>
                  <a:txBody>
                    <a:bodyPr/>
                    <a:lstStyle/>
                    <a:p>
                      <a:pPr marL="0" indent="0">
                        <a:buNone/>
                      </a:pPr>
                      <a:r>
                        <a:rPr lang="en-US" sz="1100" dirty="0">
                          <a:solidFill>
                            <a:srgbClr val="111111"/>
                          </a:solidFill>
                        </a:rPr>
                        <a:t>Greggs</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2"/>
                  </a:ext>
                </a:extLst>
              </a:tr>
              <a:tr h="352039">
                <a:tc>
                  <a:txBody>
                    <a:bodyPr/>
                    <a:lstStyle/>
                    <a:p>
                      <a:pPr marL="0" indent="0">
                        <a:buNone/>
                      </a:pPr>
                      <a:r>
                        <a:rPr lang="en-US" sz="1100" dirty="0">
                          <a:solidFill>
                            <a:srgbClr val="111111"/>
                          </a:solidFill>
                        </a:rPr>
                        <a:t>ITV</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3"/>
                  </a:ext>
                </a:extLst>
              </a:tr>
              <a:tr h="352039">
                <a:tc>
                  <a:txBody>
                    <a:bodyPr/>
                    <a:lstStyle/>
                    <a:p>
                      <a:pPr marL="0" indent="0">
                        <a:buNone/>
                      </a:pPr>
                      <a:r>
                        <a:rPr lang="en-US" sz="1100" dirty="0">
                          <a:solidFill>
                            <a:srgbClr val="111111"/>
                          </a:solidFill>
                        </a:rPr>
                        <a:t>Rightmove</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i="1" dirty="0">
                          <a:solidFill>
                            <a:srgbClr val="111111"/>
                          </a:solidFill>
                        </a:rPr>
                        <a:t>Mixed</a:t>
                      </a:r>
                      <a:endParaRPr lang="en-US" sz="1100" i="1" dirty="0"/>
                    </a:p>
                  </a:txBody>
                  <a:tcPr marL="38100" marR="38100" marT="38100" marB="38100" anchor="ctr"/>
                </a:tc>
                <a:extLst>
                  <a:ext uri="{0D108BD9-81ED-4DB2-BD59-A6C34878D82A}">
                    <a16:rowId xmlns:a16="http://schemas.microsoft.com/office/drawing/2014/main" val="10004"/>
                  </a:ext>
                </a:extLst>
              </a:tr>
              <a:tr h="352039">
                <a:tc>
                  <a:txBody>
                    <a:bodyPr/>
                    <a:lstStyle/>
                    <a:p>
                      <a:pPr marL="0" indent="0">
                        <a:buNone/>
                      </a:pPr>
                      <a:r>
                        <a:rPr lang="en-US" sz="1100" dirty="0">
                          <a:solidFill>
                            <a:srgbClr val="111111"/>
                          </a:solidFill>
                        </a:rPr>
                        <a:t>Ocado</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extLst>
                  <a:ext uri="{0D108BD9-81ED-4DB2-BD59-A6C34878D82A}">
                    <a16:rowId xmlns:a16="http://schemas.microsoft.com/office/drawing/2014/main" val="10005"/>
                  </a:ext>
                </a:extLst>
              </a:tr>
              <a:tr h="352039">
                <a:tc>
                  <a:txBody>
                    <a:bodyPr/>
                    <a:lstStyle/>
                    <a:p>
                      <a:pPr marL="0" indent="0">
                        <a:buNone/>
                      </a:pPr>
                      <a:r>
                        <a:rPr lang="en-US" sz="1100" dirty="0">
                          <a:solidFill>
                            <a:srgbClr val="111111"/>
                          </a:solidFill>
                        </a:rPr>
                        <a:t>Aston Martin</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extLst>
                  <a:ext uri="{0D108BD9-81ED-4DB2-BD59-A6C34878D82A}">
                    <a16:rowId xmlns:a16="http://schemas.microsoft.com/office/drawing/2014/main" val="10006"/>
                  </a:ext>
                </a:extLst>
              </a:tr>
              <a:tr h="352039">
                <a:tc>
                  <a:txBody>
                    <a:bodyPr/>
                    <a:lstStyle/>
                    <a:p>
                      <a:pPr marL="0" indent="0">
                        <a:buNone/>
                      </a:pPr>
                      <a:r>
                        <a:rPr lang="en-US" sz="1100" dirty="0">
                          <a:solidFill>
                            <a:srgbClr val="111111"/>
                          </a:solidFill>
                        </a:rPr>
                        <a:t>WH Smith</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extLst>
                  <a:ext uri="{0D108BD9-81ED-4DB2-BD59-A6C34878D82A}">
                    <a16:rowId xmlns:a16="http://schemas.microsoft.com/office/drawing/2014/main" val="10007"/>
                  </a:ext>
                </a:extLst>
              </a:tr>
              <a:tr h="352039">
                <a:tc>
                  <a:txBody>
                    <a:bodyPr/>
                    <a:lstStyle/>
                    <a:p>
                      <a:pPr marL="0" indent="0">
                        <a:buNone/>
                      </a:pPr>
                      <a:r>
                        <a:rPr lang="en-US" sz="1100" dirty="0">
                          <a:solidFill>
                            <a:srgbClr val="111111"/>
                          </a:solidFill>
                        </a:rPr>
                        <a:t>Wizz Air</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tc>
                  <a:txBody>
                    <a:bodyPr/>
                    <a:lstStyle/>
                    <a:p>
                      <a:pPr marL="0" indent="0" algn="ctr">
                        <a:buNone/>
                      </a:pPr>
                      <a:r>
                        <a:rPr lang="en-US" sz="1100" b="1" dirty="0">
                          <a:solidFill>
                            <a:srgbClr val="111111"/>
                          </a:solidFill>
                        </a:rPr>
                        <a:t>Falling</a:t>
                      </a:r>
                      <a:endParaRPr lang="en-US" sz="1100" dirty="0"/>
                    </a:p>
                  </a:txBody>
                  <a:tcPr marL="38100" marR="38100" marT="38100" marB="38100" anchor="ctr"/>
                </a:tc>
                <a:extLst>
                  <a:ext uri="{0D108BD9-81ED-4DB2-BD59-A6C34878D82A}">
                    <a16:rowId xmlns:a16="http://schemas.microsoft.com/office/drawing/2014/main" val="10008"/>
                  </a:ext>
                </a:extLst>
              </a:tr>
            </a:tbl>
          </a:graphicData>
        </a:graphic>
      </p:graphicFrame>
      <p:sp>
        <p:nvSpPr>
          <p:cNvPr id="22" name="TextBox 21">
            <a:extLst>
              <a:ext uri="{FF2B5EF4-FFF2-40B4-BE49-F238E27FC236}">
                <a16:creationId xmlns:a16="http://schemas.microsoft.com/office/drawing/2014/main" id="{D64AC931-64FC-3C24-2ABB-9F5F1B27FE76}"/>
              </a:ext>
            </a:extLst>
          </p:cNvPr>
          <p:cNvSpPr txBox="1"/>
          <p:nvPr/>
        </p:nvSpPr>
        <p:spPr>
          <a:xfrm>
            <a:off x="593518" y="5799945"/>
            <a:ext cx="8514692" cy="738664"/>
          </a:xfrm>
          <a:prstGeom prst="rect">
            <a:avLst/>
          </a:prstGeom>
          <a:noFill/>
        </p:spPr>
        <p:txBody>
          <a:bodyPr wrap="square">
            <a:spAutoFit/>
          </a:bodyPr>
          <a:lstStyle/>
          <a:p>
            <a:pPr marL="0" indent="0">
              <a:buNone/>
            </a:pPr>
            <a:r>
              <a:rPr lang="en-US" sz="1400" b="1" dirty="0">
                <a:solidFill>
                  <a:schemeClr val="bg1"/>
                </a:solidFill>
              </a:rPr>
              <a:t>Where the methods differ. </a:t>
            </a:r>
            <a:r>
              <a:rPr lang="en-US" sz="1400" dirty="0">
                <a:solidFill>
                  <a:schemeClr val="bg1"/>
                </a:solidFill>
              </a:rPr>
              <a:t>Among these companies, K-Means and K-Medoids disagree only on Man Group and Johnson Matthey. GMM moves several other companies, such as Taylor Wimpey and Drax, into its mixed group.</a:t>
            </a:r>
          </a:p>
        </p:txBody>
      </p:sp>
    </p:spTree>
    <p:extLst>
      <p:ext uri="{BB962C8B-B14F-4D97-AF65-F5344CB8AC3E}">
        <p14:creationId xmlns:p14="http://schemas.microsoft.com/office/powerpoint/2010/main" val="36840674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7A1BA-E12A-EE9E-C0C5-BDCAB081603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65FDBB4-87FB-3327-5590-5E919E4C66FB}"/>
              </a:ext>
            </a:extLst>
          </p:cNvPr>
          <p:cNvSpPr txBox="1"/>
          <p:nvPr/>
        </p:nvSpPr>
        <p:spPr>
          <a:xfrm>
            <a:off x="323528" y="1484784"/>
            <a:ext cx="8496944" cy="461665"/>
          </a:xfrm>
          <a:prstGeom prst="rect">
            <a:avLst/>
          </a:prstGeom>
          <a:noFill/>
        </p:spPr>
        <p:txBody>
          <a:bodyPr wrap="square">
            <a:spAutoFit/>
          </a:bodyPr>
          <a:lstStyle/>
          <a:p>
            <a:r>
              <a:rPr lang="en-IN" sz="2400" b="1" dirty="0">
                <a:solidFill>
                  <a:schemeClr val="bg1"/>
                </a:solidFill>
              </a:rPr>
              <a:t>KEY RESULTS: </a:t>
            </a:r>
          </a:p>
        </p:txBody>
      </p:sp>
      <p:sp>
        <p:nvSpPr>
          <p:cNvPr id="5" name="TextBox 4">
            <a:extLst>
              <a:ext uri="{FF2B5EF4-FFF2-40B4-BE49-F238E27FC236}">
                <a16:creationId xmlns:a16="http://schemas.microsoft.com/office/drawing/2014/main" id="{87C82A55-A579-2C19-8F7E-A27DD28B5F41}"/>
              </a:ext>
            </a:extLst>
          </p:cNvPr>
          <p:cNvSpPr txBox="1"/>
          <p:nvPr/>
        </p:nvSpPr>
        <p:spPr>
          <a:xfrm>
            <a:off x="323528" y="2276872"/>
            <a:ext cx="8496944" cy="3416320"/>
          </a:xfrm>
          <a:prstGeom prst="rect">
            <a:avLst/>
          </a:prstGeom>
          <a:noFill/>
        </p:spPr>
        <p:txBody>
          <a:bodyPr wrap="square">
            <a:spAutoFit/>
          </a:bodyPr>
          <a:lstStyle/>
          <a:p>
            <a:pPr lvl="0"/>
            <a:r>
              <a:rPr lang="en-IN" b="1" dirty="0">
                <a:solidFill>
                  <a:schemeClr val="bg1"/>
                </a:solidFill>
              </a:rPr>
              <a:t>Method Agreement</a:t>
            </a:r>
            <a:r>
              <a:rPr lang="en-IN" dirty="0">
                <a:solidFill>
                  <a:schemeClr val="bg1"/>
                </a:solidFill>
              </a:rPr>
              <a:t>: K-Means and K-Medoids showed 96% agreement, while GMM classified 48% of stocks as mixed.</a:t>
            </a:r>
          </a:p>
          <a:p>
            <a:pPr lvl="0"/>
            <a:endParaRPr lang="en-IN" dirty="0">
              <a:solidFill>
                <a:schemeClr val="bg1"/>
              </a:solidFill>
            </a:endParaRPr>
          </a:p>
          <a:p>
            <a:pPr lvl="0"/>
            <a:r>
              <a:rPr lang="en-IN" b="1" dirty="0">
                <a:solidFill>
                  <a:schemeClr val="bg1"/>
                </a:solidFill>
              </a:rPr>
              <a:t>GMM Insights</a:t>
            </a:r>
            <a:r>
              <a:rPr lang="en-IN" dirty="0">
                <a:solidFill>
                  <a:schemeClr val="bg1"/>
                </a:solidFill>
              </a:rPr>
              <a:t>: GMM identified a mixed group, highlighting stocks with uncertain trends.</a:t>
            </a:r>
          </a:p>
          <a:p>
            <a:pPr lvl="0"/>
            <a:endParaRPr lang="en-IN" dirty="0">
              <a:solidFill>
                <a:schemeClr val="bg1"/>
              </a:solidFill>
            </a:endParaRPr>
          </a:p>
          <a:p>
            <a:pPr lvl="0"/>
            <a:r>
              <a:rPr lang="en-IN" b="1" dirty="0">
                <a:solidFill>
                  <a:schemeClr val="bg1"/>
                </a:solidFill>
              </a:rPr>
              <a:t>Cluster Stability</a:t>
            </a:r>
            <a:r>
              <a:rPr lang="en-IN" dirty="0">
                <a:solidFill>
                  <a:schemeClr val="bg1"/>
                </a:solidFill>
              </a:rPr>
              <a:t>: Clusters were stable within each period, but results varied across algorithms and over time.</a:t>
            </a:r>
          </a:p>
          <a:p>
            <a:pPr lvl="0"/>
            <a:endParaRPr lang="en-IN" dirty="0">
              <a:solidFill>
                <a:schemeClr val="bg1"/>
              </a:solidFill>
            </a:endParaRPr>
          </a:p>
          <a:p>
            <a:pPr lvl="0"/>
            <a:r>
              <a:rPr lang="en-IN" b="1" dirty="0">
                <a:solidFill>
                  <a:schemeClr val="bg1"/>
                </a:solidFill>
              </a:rPr>
              <a:t>Price-Driven Clustering</a:t>
            </a:r>
            <a:r>
              <a:rPr lang="en-IN" dirty="0">
                <a:solidFill>
                  <a:schemeClr val="bg1"/>
                </a:solidFill>
              </a:rPr>
              <a:t>: Stocks grouped by similar price movements, regardless of industry.</a:t>
            </a:r>
          </a:p>
          <a:p>
            <a:pPr lvl="0"/>
            <a:endParaRPr lang="en-IN" dirty="0">
              <a:solidFill>
                <a:schemeClr val="bg1"/>
              </a:solidFill>
            </a:endParaRPr>
          </a:p>
        </p:txBody>
      </p:sp>
    </p:spTree>
    <p:extLst>
      <p:ext uri="{BB962C8B-B14F-4D97-AF65-F5344CB8AC3E}">
        <p14:creationId xmlns:p14="http://schemas.microsoft.com/office/powerpoint/2010/main" val="4162292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8CAA55F-6602-8663-41B9-61E7C57106D7}"/>
              </a:ext>
            </a:extLst>
          </p:cNvPr>
          <p:cNvSpPr txBox="1"/>
          <p:nvPr/>
        </p:nvSpPr>
        <p:spPr>
          <a:xfrm>
            <a:off x="395536" y="2403704"/>
            <a:ext cx="8200230" cy="3416320"/>
          </a:xfrm>
          <a:prstGeom prst="rect">
            <a:avLst/>
          </a:prstGeom>
          <a:noFill/>
        </p:spPr>
        <p:txBody>
          <a:bodyPr wrap="square">
            <a:spAutoFit/>
          </a:bodyPr>
          <a:lstStyle/>
          <a:p>
            <a:pPr lvl="0"/>
            <a:r>
              <a:rPr lang="en-IN" dirty="0">
                <a:solidFill>
                  <a:schemeClr val="bg1"/>
                </a:solidFill>
              </a:rPr>
              <a:t>Clustering can identify similar stocks based on historical price movements.</a:t>
            </a:r>
          </a:p>
          <a:p>
            <a:pPr lvl="0"/>
            <a:endParaRPr lang="en-IN" dirty="0">
              <a:solidFill>
                <a:schemeClr val="bg1"/>
              </a:solidFill>
            </a:endParaRPr>
          </a:p>
          <a:p>
            <a:pPr lvl="0"/>
            <a:r>
              <a:rPr lang="en-IN" dirty="0">
                <a:solidFill>
                  <a:schemeClr val="bg1"/>
                </a:solidFill>
              </a:rPr>
              <a:t>Results may vary across different clustering algorithms and time periods.</a:t>
            </a:r>
          </a:p>
          <a:p>
            <a:pPr lvl="0"/>
            <a:endParaRPr lang="en-IN" dirty="0">
              <a:solidFill>
                <a:schemeClr val="bg1"/>
              </a:solidFill>
            </a:endParaRPr>
          </a:p>
          <a:p>
            <a:pPr lvl="0"/>
            <a:r>
              <a:rPr lang="en-IN" dirty="0">
                <a:solidFill>
                  <a:schemeClr val="bg1"/>
                </a:solidFill>
              </a:rPr>
              <a:t>Similar price movements do not guarantee similar future performance or profitable trades.</a:t>
            </a:r>
          </a:p>
          <a:p>
            <a:pPr lvl="0"/>
            <a:endParaRPr lang="en-IN" dirty="0">
              <a:solidFill>
                <a:schemeClr val="bg1"/>
              </a:solidFill>
            </a:endParaRPr>
          </a:p>
          <a:p>
            <a:pPr lvl="0"/>
            <a:r>
              <a:rPr lang="en-IN" dirty="0">
                <a:solidFill>
                  <a:schemeClr val="bg1"/>
                </a:solidFill>
              </a:rPr>
              <a:t>Clustering is a supporting tool for portfolio construction and understanding market behaviour.</a:t>
            </a:r>
          </a:p>
          <a:p>
            <a:pPr lvl="0"/>
            <a:endParaRPr lang="en-IN" dirty="0">
              <a:solidFill>
                <a:schemeClr val="bg1"/>
              </a:solidFill>
            </a:endParaRPr>
          </a:p>
          <a:p>
            <a:pPr lvl="0"/>
            <a:r>
              <a:rPr lang="en-IN" dirty="0">
                <a:solidFill>
                  <a:schemeClr val="bg1"/>
                </a:solidFill>
              </a:rPr>
              <a:t>Overall, clustering provides useful insights, but its results should be interpreted with caution.</a:t>
            </a:r>
          </a:p>
        </p:txBody>
      </p:sp>
      <p:sp>
        <p:nvSpPr>
          <p:cNvPr id="7" name="TextBox 6">
            <a:extLst>
              <a:ext uri="{FF2B5EF4-FFF2-40B4-BE49-F238E27FC236}">
                <a16:creationId xmlns:a16="http://schemas.microsoft.com/office/drawing/2014/main" id="{7DEA78A5-EA8C-265C-158E-D2C4C2C3DD54}"/>
              </a:ext>
            </a:extLst>
          </p:cNvPr>
          <p:cNvSpPr txBox="1"/>
          <p:nvPr/>
        </p:nvSpPr>
        <p:spPr>
          <a:xfrm>
            <a:off x="395536" y="1908240"/>
            <a:ext cx="9361040" cy="400110"/>
          </a:xfrm>
          <a:prstGeom prst="rect">
            <a:avLst/>
          </a:prstGeom>
          <a:noFill/>
        </p:spPr>
        <p:txBody>
          <a:bodyPr wrap="square">
            <a:spAutoFit/>
          </a:bodyPr>
          <a:lstStyle/>
          <a:p>
            <a:r>
              <a:rPr lang="en-US" sz="2000" b="1" dirty="0">
                <a:solidFill>
                  <a:schemeClr val="bg1"/>
                </a:solidFill>
              </a:rPr>
              <a:t>Groups exist, but they mostly reflect price direction</a:t>
            </a:r>
            <a:endParaRPr lang="en-IN" sz="1400" dirty="0"/>
          </a:p>
        </p:txBody>
      </p:sp>
      <p:sp>
        <p:nvSpPr>
          <p:cNvPr id="9" name="TextBox 8">
            <a:extLst>
              <a:ext uri="{FF2B5EF4-FFF2-40B4-BE49-F238E27FC236}">
                <a16:creationId xmlns:a16="http://schemas.microsoft.com/office/drawing/2014/main" id="{30AB7723-5529-4ED9-A600-CA1B361C7C3E}"/>
              </a:ext>
            </a:extLst>
          </p:cNvPr>
          <p:cNvSpPr txBox="1"/>
          <p:nvPr/>
        </p:nvSpPr>
        <p:spPr>
          <a:xfrm>
            <a:off x="395536" y="1351221"/>
            <a:ext cx="4951476" cy="461665"/>
          </a:xfrm>
          <a:prstGeom prst="rect">
            <a:avLst/>
          </a:prstGeom>
          <a:noFill/>
        </p:spPr>
        <p:txBody>
          <a:bodyPr wrap="square">
            <a:spAutoFit/>
          </a:bodyPr>
          <a:lstStyle/>
          <a:p>
            <a:r>
              <a:rPr lang="en-IN" sz="2400" b="1" dirty="0">
                <a:solidFill>
                  <a:schemeClr val="bg1"/>
                </a:solidFill>
              </a:rPr>
              <a:t>CONCLUSION</a:t>
            </a:r>
          </a:p>
        </p:txBody>
      </p:sp>
    </p:spTree>
    <p:extLst>
      <p:ext uri="{BB962C8B-B14F-4D97-AF65-F5344CB8AC3E}">
        <p14:creationId xmlns:p14="http://schemas.microsoft.com/office/powerpoint/2010/main" val="19906753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FE6776B-2334-69DA-D099-364113479965}"/>
              </a:ext>
            </a:extLst>
          </p:cNvPr>
          <p:cNvSpPr txBox="1"/>
          <p:nvPr/>
        </p:nvSpPr>
        <p:spPr>
          <a:xfrm>
            <a:off x="395536" y="2183012"/>
            <a:ext cx="8496944" cy="4247317"/>
          </a:xfrm>
          <a:prstGeom prst="rect">
            <a:avLst/>
          </a:prstGeom>
          <a:noFill/>
        </p:spPr>
        <p:txBody>
          <a:bodyPr wrap="square">
            <a:spAutoFit/>
          </a:bodyPr>
          <a:lstStyle/>
          <a:p>
            <a:pPr lvl="0"/>
            <a:r>
              <a:rPr lang="en-IN" b="1" dirty="0">
                <a:solidFill>
                  <a:schemeClr val="bg1"/>
                </a:solidFill>
              </a:rPr>
              <a:t>Cross-Market Classification</a:t>
            </a:r>
            <a:r>
              <a:rPr lang="en-IN" dirty="0">
                <a:solidFill>
                  <a:schemeClr val="bg1"/>
                </a:solidFill>
              </a:rPr>
              <a:t>: Expand across international markets, sectors, and historical data, including delisted stocks.</a:t>
            </a:r>
          </a:p>
          <a:p>
            <a:pPr lvl="0"/>
            <a:endParaRPr lang="en-IN" dirty="0">
              <a:solidFill>
                <a:schemeClr val="bg1"/>
              </a:solidFill>
            </a:endParaRPr>
          </a:p>
          <a:p>
            <a:pPr lvl="0"/>
            <a:r>
              <a:rPr lang="en-IN" b="1" dirty="0">
                <a:solidFill>
                  <a:schemeClr val="bg1"/>
                </a:solidFill>
              </a:rPr>
              <a:t>Stock News Integration</a:t>
            </a:r>
            <a:r>
              <a:rPr lang="en-IN" dirty="0">
                <a:solidFill>
                  <a:schemeClr val="bg1"/>
                </a:solidFill>
              </a:rPr>
              <a:t>: Combine stock-price clusters with financial news to investigate whether major events explain why a stock changes its cluster</a:t>
            </a:r>
          </a:p>
          <a:p>
            <a:pPr lvl="0"/>
            <a:endParaRPr lang="en-IN" dirty="0">
              <a:solidFill>
                <a:schemeClr val="bg1"/>
              </a:solidFill>
            </a:endParaRPr>
          </a:p>
          <a:p>
            <a:pPr lvl="0"/>
            <a:r>
              <a:rPr lang="en-IN" b="1" dirty="0">
                <a:solidFill>
                  <a:schemeClr val="bg1"/>
                </a:solidFill>
              </a:rPr>
              <a:t>Multi-Feature Classification</a:t>
            </a:r>
            <a:r>
              <a:rPr lang="en-IN" dirty="0">
                <a:solidFill>
                  <a:schemeClr val="bg1"/>
                </a:solidFill>
              </a:rPr>
              <a:t>: Incorporate returns, trading volume, volatility, and other financial indicators.</a:t>
            </a:r>
          </a:p>
          <a:p>
            <a:pPr lvl="0"/>
            <a:endParaRPr lang="en-IN" dirty="0">
              <a:solidFill>
                <a:schemeClr val="bg1"/>
              </a:solidFill>
            </a:endParaRPr>
          </a:p>
          <a:p>
            <a:pPr lvl="0"/>
            <a:r>
              <a:rPr lang="en-IN" dirty="0">
                <a:solidFill>
                  <a:schemeClr val="bg1"/>
                </a:solidFill>
              </a:rPr>
              <a:t>Clustering Algorithm Comparison: Compare clustering algorithms and alternative distance measures.</a:t>
            </a:r>
          </a:p>
          <a:p>
            <a:endParaRPr lang="en-IN" dirty="0"/>
          </a:p>
          <a:p>
            <a:endParaRPr lang="en-IN" dirty="0"/>
          </a:p>
          <a:p>
            <a:endParaRPr lang="en-IN" dirty="0"/>
          </a:p>
          <a:p>
            <a:pPr>
              <a:buNone/>
            </a:pPr>
            <a:endParaRPr lang="en-IN" dirty="0"/>
          </a:p>
        </p:txBody>
      </p:sp>
      <p:sp>
        <p:nvSpPr>
          <p:cNvPr id="13" name="TextBox 12">
            <a:extLst>
              <a:ext uri="{FF2B5EF4-FFF2-40B4-BE49-F238E27FC236}">
                <a16:creationId xmlns:a16="http://schemas.microsoft.com/office/drawing/2014/main" id="{7A929D55-56DE-15B1-23A7-690B54B6DE43}"/>
              </a:ext>
            </a:extLst>
          </p:cNvPr>
          <p:cNvSpPr txBox="1"/>
          <p:nvPr/>
        </p:nvSpPr>
        <p:spPr>
          <a:xfrm>
            <a:off x="2915816" y="4306671"/>
            <a:ext cx="4614110" cy="369332"/>
          </a:xfrm>
          <a:prstGeom prst="rect">
            <a:avLst/>
          </a:prstGeom>
          <a:noFill/>
        </p:spPr>
        <p:txBody>
          <a:bodyPr wrap="square">
            <a:spAutoFit/>
          </a:bodyPr>
          <a:lstStyle/>
          <a:p>
            <a:pPr>
              <a:buNone/>
            </a:pPr>
            <a:r>
              <a:rPr lang="en-IN" dirty="0"/>
              <a:t>. </a:t>
            </a:r>
          </a:p>
        </p:txBody>
      </p:sp>
      <p:sp>
        <p:nvSpPr>
          <p:cNvPr id="15" name="TextBox 14">
            <a:extLst>
              <a:ext uri="{FF2B5EF4-FFF2-40B4-BE49-F238E27FC236}">
                <a16:creationId xmlns:a16="http://schemas.microsoft.com/office/drawing/2014/main" id="{D34592A3-C283-BE01-B6E5-1FA90B2BE6E0}"/>
              </a:ext>
            </a:extLst>
          </p:cNvPr>
          <p:cNvSpPr txBox="1"/>
          <p:nvPr/>
        </p:nvSpPr>
        <p:spPr>
          <a:xfrm>
            <a:off x="395536" y="1556792"/>
            <a:ext cx="4613148" cy="461665"/>
          </a:xfrm>
          <a:prstGeom prst="rect">
            <a:avLst/>
          </a:prstGeom>
          <a:noFill/>
        </p:spPr>
        <p:txBody>
          <a:bodyPr wrap="square">
            <a:spAutoFit/>
          </a:bodyPr>
          <a:lstStyle/>
          <a:p>
            <a:r>
              <a:rPr lang="en-IN" sz="2400" b="1" dirty="0">
                <a:solidFill>
                  <a:schemeClr val="bg1"/>
                </a:solidFill>
              </a:rPr>
              <a:t>Future work</a:t>
            </a:r>
          </a:p>
        </p:txBody>
      </p:sp>
    </p:spTree>
    <p:extLst>
      <p:ext uri="{BB962C8B-B14F-4D97-AF65-F5344CB8AC3E}">
        <p14:creationId xmlns:p14="http://schemas.microsoft.com/office/powerpoint/2010/main" val="29403845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3A7C0-6E88-958D-3915-5423A928D205}"/>
              </a:ext>
            </a:extLst>
          </p:cNvPr>
          <p:cNvSpPr>
            <a:spLocks noGrp="1"/>
          </p:cNvSpPr>
          <p:nvPr>
            <p:ph type="title"/>
          </p:nvPr>
        </p:nvSpPr>
        <p:spPr>
          <a:xfrm>
            <a:off x="2987824" y="2996952"/>
            <a:ext cx="5842992" cy="1143000"/>
          </a:xfrm>
        </p:spPr>
        <p:txBody>
          <a:bodyPr/>
          <a:lstStyle/>
          <a:p>
            <a:r>
              <a:rPr lang="en-IN" dirty="0"/>
              <a:t>THANK YOU </a:t>
            </a:r>
          </a:p>
        </p:txBody>
      </p:sp>
    </p:spTree>
    <p:extLst>
      <p:ext uri="{BB962C8B-B14F-4D97-AF65-F5344CB8AC3E}">
        <p14:creationId xmlns:p14="http://schemas.microsoft.com/office/powerpoint/2010/main" val="1865182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791</TotalTime>
  <Words>1491</Words>
  <Application>Microsoft Office PowerPoint</Application>
  <PresentationFormat>On-screen Show (4:3)</PresentationFormat>
  <Paragraphs>228</Paragraphs>
  <Slides>24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Can we find hidden groups in noisy stock prices?</vt:lpstr>
      <vt:lpstr>PowerPoint Presentation</vt:lpstr>
      <vt:lpstr>To study this, we apply three clustering algorithms to the FTSE data.</vt:lpstr>
      <vt:lpstr>K-Means</vt:lpstr>
      <vt:lpstr>K-Medoids with Dynamic time wraping</vt:lpstr>
      <vt:lpstr>Gaussian mixture model with Expectation Maximisation </vt:lpstr>
      <vt:lpstr>Consensus clustering: are the groups stable?</vt:lpstr>
      <vt:lpstr>RESULTS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vt:lpstr>
    </vt:vector>
  </TitlesOfParts>
  <Company>University of Manchester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MZYSSPB2</dc:creator>
  <cp:lastModifiedBy>divyalakshmi rama</cp:lastModifiedBy>
  <cp:revision>20</cp:revision>
  <dcterms:created xsi:type="dcterms:W3CDTF">2012-06-12T15:56:20Z</dcterms:created>
  <dcterms:modified xsi:type="dcterms:W3CDTF">2026-10-28T14:37:53Z</dcterms:modified>
</cp:coreProperties>
</file>